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7" r:id="rId27"/>
  </p:sldIdLst>
  <p:sldSz cy="10287000" cx="18288000"/>
  <p:notesSz cx="6858000" cy="9144000"/>
  <p:embeddedFontLst>
    <p:embeddedFont>
      <p:font typeface="Poppins"/>
      <p:regular r:id="rId18"/>
      <p:bold r:id="rId19"/>
      <p:italic r:id="rId20"/>
      <p:boldItalic r:id="rId21"/>
    </p:embeddedFon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gVIghjQh70tcTpDwPPuhVU0tDX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F22518-C55D-4401-A6EB-0ED8D26C8151}">
  <a:tblStyle styleId="{97F22518-C55D-4401-A6EB-0ED8D26C815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  
  
  <Relationship Id="rId27" Type="http://schemas.openxmlformats.org/officeDocument/2006/relationships/slide" Target="slides/slide12.xml"/>
<Relationship Id="rId18" Type="http://schemas.openxmlformats.org/officeDocument/2006/relationships/font" Target="fonts/Poppins-regular.fntdata"/><Relationship Id="rId19" Type="http://schemas.openxmlformats.org/officeDocument/2006/relationships/font" Target="fonts/Poppins-bold.fntdata"/><Relationship Id="rId20" Type="http://schemas.openxmlformats.org/officeDocument/2006/relationships/font" Target="fonts/Poppins-italic.fntdata"/><Relationship Id="rId21" Type="http://schemas.openxmlformats.org/officeDocument/2006/relationships/font" Target="fonts/Poppins-boldItalic.fntdata"/><Relationship Id="rId22" Type="http://schemas.openxmlformats.org/officeDocument/2006/relationships/font" Target="fonts/RobotoMono-regular.fntdata"/><Relationship Id="rId23" Type="http://schemas.openxmlformats.org/officeDocument/2006/relationships/font" Target="fonts/RobotoMono-bold.fntdata"/><Relationship Id="rId24" Type="http://schemas.openxmlformats.org/officeDocument/2006/relationships/font" Target="fonts/RobotoMono-italic.fntdata"/><Relationship Id="rId25"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We’re working on a free app that helps you decide where to eat in Boston, starting at Northeastern.</a:t>
            </a:r>
          </a:p>
          <a:p>
            <a:pPr indent="0" lvl="0" marL="0" rtl="0" algn="l">
              <a:spcBef>
                <a:spcPts val="0"/>
              </a:spcBef>
              <a:spcAft>
                <a:spcPts val="600"/>
              </a:spcAft>
              <a:buNone/>
            </a:pPr>
            <a:r>
              <a:rPr lang="en-US"/>
              <a:t>Today most people check Google Maps, then Instagram or TikTok, then ask a friend. We’d put the reviews, posts, hours and booking for a place on one page, plus our own score that only counts people who scanned a receipt.</a:t>
            </a:r>
          </a:p>
          <a:p>
            <a:pPr indent="0" lvl="0" marL="0" rtl="0" algn="l">
              <a:spcBef>
                <a:spcPts val="0"/>
              </a:spcBef>
              <a:spcAft>
                <a:spcPts val="600"/>
              </a:spcAft>
              <a:buNone/>
            </a:pPr>
            <a:r>
              <a:rPr lang="en-US"/>
              <a:t>It doesn’t have a name yet, and we haven’t built it. This is the concept and the research behind it.</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 interviewed 35 students and young professionals in September and October.</a:t>
            </a:r>
          </a:p>
          <a:p>
            <a:pPr indent="0" lvl="0" marL="0" rtl="0" algn="l">
              <a:spcBef>
                <a:spcPts val="0"/>
              </a:spcBef>
              <a:spcAft>
                <a:spcPts val="600"/>
              </a:spcAft>
              <a:buNone/>
            </a:pPr>
            <a:r>
              <a:rPr lang="en-US"/>
              <a:t>Most of them check three apps to pick one place. Google Maps to see what’s nearby, Instagram or TikTok to see the food, and a friend to check it’s good. Many said it still misses after all that.</a:t>
            </a:r>
          </a:p>
          <a:p>
            <a:pPr indent="0" lvl="0" marL="0" rtl="0" algn="l">
              <a:spcBef>
                <a:spcPts val="0"/>
              </a:spcBef>
              <a:spcAft>
                <a:spcPts val="600"/>
              </a:spcAft>
              <a:buNone/>
            </a:pPr>
            <a:r>
              <a:rPr lang="en-US"/>
              <a:t>Most people were okay with what they use now. But they told us they’d try something better.</a:t>
            </a:r>
          </a:p>
          <a:p>
            <a:pPr indent="0" lvl="0" marL="0" rtl="0" algn="l">
              <a:spcBef>
                <a:spcPts val="0"/>
              </a:spcBef>
              <a:spcAft>
                <a:spcPts val="600"/>
              </a:spcAft>
              <a:buNone/>
            </a:pPr>
            <a:r>
              <a:rPr lang="en-US"/>
              <a:t>It’s not a huge problem, it’s just annoying, and we think it can be easier.</a:t>
            </a: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Here’s the idea: one page for each restaurant.</a:t>
            </a:r>
          </a:p>
          <a:p>
            <a:pPr indent="0" lvl="0" marL="0" rtl="0" algn="l">
              <a:spcBef>
                <a:spcPts val="0"/>
              </a:spcBef>
              <a:spcAft>
                <a:spcPts val="600"/>
              </a:spcAft>
              <a:buNone/>
            </a:pPr>
            <a:r>
              <a:rPr lang="en-US"/>
              <a:t>You can find what’s open near you, filtered by diet, price and distance. You can compare other apps’ ratings, where they let us show them, next to our score, which only counts diners with a receipt. If an app won’t share, we link out. And you can keep your lists and history, and book a table.</a:t>
            </a:r>
          </a:p>
          <a:p>
            <a:pPr indent="0" lvl="0" marL="0" rtl="0" algn="l">
              <a:spcBef>
                <a:spcPts val="0"/>
              </a:spcBef>
              <a:spcAft>
                <a:spcPts val="600"/>
              </a:spcAft>
              <a:buNone/>
            </a:pPr>
            <a:r>
              <a:rPr lang="en-US"/>
              <a:t>Dietary filters stay free. A halal or nut-free search is what sends a restaurant a diner, so it shouldn’t cost anything.</a:t>
            </a:r>
          </a:p>
          <a:p>
            <a:pPr indent="0" lvl="0" marL="0" rtl="0" algn="l">
              <a:spcBef>
                <a:spcPts val="0"/>
              </a:spcBef>
              <a:spcAft>
                <a:spcPts val="600"/>
              </a:spcAft>
              <a:buNone/>
            </a:pPr>
            <a:r>
              <a:rPr lang="en-US"/>
              <a:t>People ask about Beli a lot. Beli is for ranking places you’ve been. We’re about deciding where to go next.</a:t>
            </a:r>
          </a:p>
        </p:txBody>
      </p:sp>
      <p:sp>
        <p:nvSpPr>
          <p:cNvPr id="135" name="Google Shape;13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These are concept screens, and every score and person on them is made up.</a:t>
            </a:r>
          </a:p>
          <a:p>
            <a:pPr indent="0" lvl="0" marL="0" rtl="0" algn="l">
              <a:spcBef>
                <a:spcPts val="0"/>
              </a:spcBef>
              <a:spcAft>
                <a:spcPts val="600"/>
              </a:spcAft>
              <a:buNone/>
            </a:pPr>
            <a:r>
              <a:rPr lang="en-US"/>
              <a:t>You see what’s open nearby. The app suggests one place that fits your budget and diet, then gives three picks with a reason for each. The last screen puts our receipt score next to other apps’ ratings and flags paid posts.</a:t>
            </a:r>
          </a:p>
          <a:p>
            <a:pPr indent="0" lvl="0" marL="0" rtl="0" algn="l">
              <a:spcBef>
                <a:spcPts val="0"/>
              </a:spcBef>
              <a:spcAft>
                <a:spcPts val="600"/>
              </a:spcAft>
              <a:buNone/>
            </a:pPr>
            <a:r>
              <a:rPr lang="en-US"/>
              <a:t>We want to test these with students before we build anything.</a:t>
            </a:r>
          </a:p>
        </p:txBody>
      </p:sp>
      <p:sp>
        <p:nvSpPr>
          <p:cNvPr id="154" name="Google Shape;15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If students like it, here’s how far it can go. Boston has about 162,000 college students, and we’re aiming for 12,000 of them in Year 1.</a:t>
            </a:r>
          </a:p>
          <a:p>
            <a:pPr indent="0" lvl="0" marL="0" rtl="0" algn="l">
              <a:spcBef>
                <a:spcPts val="0"/>
              </a:spcBef>
              <a:spcAft>
                <a:spcPts val="600"/>
              </a:spcAft>
              <a:buNone/>
            </a:pPr>
            <a:r>
              <a:rPr lang="en-US"/>
              <a:t>Across the US there are about 19 million college students. By Year 5 we’re aiming for 540,000 users. That’s about 2.8% of them, inside the 2 to 5% range we covered in class.</a:t>
            </a:r>
          </a:p>
          <a:p>
            <a:pPr indent="0" lvl="0" marL="0" rtl="0" algn="l">
              <a:spcBef>
                <a:spcPts val="0"/>
              </a:spcBef>
              <a:spcAft>
                <a:spcPts val="600"/>
              </a:spcAft>
              <a:buNone/>
            </a:pPr>
            <a:r>
              <a:rPr lang="en-US"/>
              <a:t>And Boston has 3,350 licensed places to eat.</a:t>
            </a:r>
          </a:p>
        </p:txBody>
      </p:sp>
      <p:sp>
        <p:nvSpPr>
          <p:cNvPr id="173" name="Google Shape;173;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We’d grow mostly through friends, the way Beli did. About 80% of Beli’s users came that way.</a:t>
            </a:r>
          </a:p>
          <a:p>
            <a:pPr indent="0" lvl="0" marL="0" rtl="0" algn="l">
              <a:spcBef>
                <a:spcPts val="0"/>
              </a:spcBef>
              <a:spcAft>
                <a:spcPts val="600"/>
              </a:spcAft>
              <a:buNone/>
            </a:pPr>
            <a:r>
              <a:rPr lang="en-US"/>
              <a:t>The first ten users are people we interviewed and our friends. The next hundred are Northeastern students they invite, plus clubs and group chats. The first thousand come from other Boston campuses, through student ambassadors and food posts.</a:t>
            </a:r>
          </a:p>
          <a:p>
            <a:pPr indent="0" lvl="0" marL="0" rtl="0" algn="l">
              <a:spcBef>
                <a:spcPts val="0"/>
              </a:spcBef>
              <a:spcAft>
                <a:spcPts val="600"/>
              </a:spcAft>
              <a:buNone/>
            </a:pPr>
            <a:r>
              <a:rPr lang="en-US"/>
              <a:t>If that works, we get to 12,000 users by the end of Year 1.</a:t>
            </a:r>
          </a:p>
        </p:txBody>
      </p:sp>
      <p:sp>
        <p:nvSpPr>
          <p:cNvPr id="198" name="Google Shape;19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Users never have to pay. We’d charge restaurants for the diners we send, not for ads.</a:t>
            </a:r>
          </a:p>
          <a:p>
            <a:pPr indent="0" lvl="0" marL="0" rtl="0" algn="l">
              <a:spcBef>
                <a:spcPts val="0"/>
              </a:spcBef>
              <a:spcAft>
                <a:spcPts val="600"/>
              </a:spcAft>
              <a:buNone/>
            </a:pPr>
            <a:r>
              <a:rPr lang="en-US"/>
              <a:t>A restaurant pays about 90 cents for a new diner whose visit started in our app, once a receipt confirms it. OpenTable charges $1 to $1.50. Booking sites pay per table, and from Year 3 chains pay $6,000 a year per area.</a:t>
            </a:r>
          </a:p>
          <a:p>
            <a:pPr indent="0" lvl="0" marL="0" rtl="0" algn="l">
              <a:spcBef>
                <a:spcPts val="0"/>
              </a:spcBef>
              <a:spcAft>
                <a:spcPts val="600"/>
              </a:spcAft>
              <a:buNone/>
            </a:pPr>
            <a:r>
              <a:rPr lang="en-US"/>
              <a:t>We’re also thinking about an optional $5 a month membership for extras. We expect about 3 in 1,000 users to sign up.</a:t>
            </a:r>
          </a:p>
          <a:p>
            <a:pPr indent="0" lvl="0" marL="0" rtl="0" algn="l">
              <a:spcBef>
                <a:spcPts val="0"/>
              </a:spcBef>
              <a:spcAft>
                <a:spcPts val="600"/>
              </a:spcAft>
              <a:buNone/>
            </a:pPr>
            <a:r>
              <a:rPr lang="en-US"/>
              <a:t>That’s $356,000 in Year 5, and nobody can pay to change a score.</a:t>
            </a:r>
          </a:p>
          <a:p>
            <a:pPr indent="0" lvl="0" marL="0" rtl="0" algn="l">
              <a:spcBef>
                <a:spcPts val="0"/>
              </a:spcBef>
              <a:spcAft>
                <a:spcPts val="600"/>
              </a:spcAft>
              <a:buNone/>
            </a:pPr>
            <a:r>
              <a:rPr lang="en-US"/>
              <a:t>We haven’t tested this with restaurant owners yet. Next we’re calling five owners and offering a free 30-day pilot.</a:t>
            </a:r>
          </a:p>
        </p:txBody>
      </p:sp>
      <p:sp>
        <p:nvSpPr>
          <p:cNvPr id="223" name="Google Shape;22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Before we built our numbers, we looked at the apps closest to us.</a:t>
            </a:r>
          </a:p>
          <a:p>
            <a:pPr indent="0" lvl="0" marL="0" rtl="0" algn="l">
              <a:spcBef>
                <a:spcPts val="0"/>
              </a:spcBef>
              <a:spcAft>
                <a:spcPts val="600"/>
              </a:spcAft>
              <a:buNone/>
            </a:pPr>
            <a:r>
              <a:rPr lang="en-US"/>
              <a:t>OpenTable took nine years to make a profit and lost $57 million getting there. Resy ran on $45 million of investor money and then sold. Beli has 1.1 million monthly users, five people, and almost no revenue.</a:t>
            </a:r>
          </a:p>
          <a:p>
            <a:pPr indent="0" lvl="0" marL="0" rtl="0" algn="l">
              <a:spcBef>
                <a:spcPts val="0"/>
              </a:spcBef>
              <a:spcAft>
                <a:spcPts val="600"/>
              </a:spcAft>
              <a:buNone/>
            </a:pPr>
            <a:r>
              <a:rPr lang="en-US"/>
              <a:t>So we planned for slow money: no founder salaries, co-op students before full-time hires, and about $240,000 in total. We’re planning for a quarter of Beli’s size.</a:t>
            </a:r>
          </a:p>
          <a:p>
            <a:pPr indent="0" lvl="0" marL="0" rtl="0" algn="l">
              <a:spcBef>
                <a:spcPts val="0"/>
              </a:spcBef>
              <a:spcAft>
                <a:spcPts val="600"/>
              </a:spcAft>
              <a:buNone/>
            </a:pPr>
            <a:r>
              <a:rPr lang="en-US"/>
              <a:t>The trade-off is a small team, and it only works if restaurants sign up.</a:t>
            </a:r>
          </a:p>
        </p:txBody>
      </p:sp>
      <p:sp>
        <p:nvSpPr>
          <p:cNvPr id="248" name="Google Shape;24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 highlighted the three numbers to look at.</a:t>
            </a:r>
          </a:p>
          <a:p>
            <a:pPr indent="0" lvl="0" marL="0" rtl="0" algn="l">
              <a:spcBef>
                <a:spcPts val="0"/>
              </a:spcBef>
              <a:spcAft>
                <a:spcPts val="600"/>
              </a:spcAft>
              <a:buNone/>
            </a:pPr>
            <a:r>
              <a:rPr lang="en-US"/>
              <a:t>Years 1 and 2 cost about $11,000 a quarter: a contract developer at $7,500, $1,500 for marketing, $1,500 for legal and insurance, and hosting. No one else gets paid until the angel round funds Year 3.</a:t>
            </a:r>
          </a:p>
          <a:p>
            <a:pPr indent="0" lvl="0" marL="0" rtl="0" algn="l">
              <a:spcBef>
                <a:spcPts val="0"/>
              </a:spcBef>
              <a:spcAft>
                <a:spcPts val="600"/>
              </a:spcAft>
              <a:buNone/>
            </a:pPr>
            <a:r>
              <a:rPr lang="en-US"/>
              <a:t>First revenue comes in Year 2. Our low point is about $192,000 down in Year 4, so we’d raise $240,000, that low plus a 25% cushion. Year 5 is our first profitable year, at about $72,000.</a:t>
            </a:r>
          </a:p>
        </p:txBody>
      </p:sp>
      <p:sp>
        <p:nvSpPr>
          <p:cNvPr id="273" name="Google Shape;27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We’d start with grants, the way Beli did. Northeastern’s IDEA Gap Fund and Boston pitch competitions, about $74,000, cover Years 1 and 2. If we come up short, we cover the gap ourselves.</a:t>
            </a:r>
          </a:p>
          <a:p>
            <a:pPr indent="0" lvl="0" marL="0" rtl="0" algn="l">
              <a:spcBef>
                <a:spcPts val="0"/>
              </a:spcBef>
              <a:spcAft>
                <a:spcPts val="600"/>
              </a:spcAft>
              <a:buNone/>
            </a:pPr>
            <a:r>
              <a:rPr lang="en-US"/>
              <a:t>At the end of Year 2, after four quarters of restaurants paying, we’d raise one angel round of about $166,000. By then we want around 31,000 Boston users and receipt-proven visits to show.</a:t>
            </a:r>
          </a:p>
          <a:p>
            <a:pPr indent="0" lvl="0" marL="0" rtl="0" algn="l">
              <a:spcBef>
                <a:spcPts val="0"/>
              </a:spcBef>
              <a:spcAft>
                <a:spcPts val="600"/>
              </a:spcAft>
              <a:buNone/>
            </a:pPr>
            <a:r>
              <a:rPr lang="en-US"/>
              <a:t>At $356,000 in Year 5 revenue we’re too small for venture funds. An angel’s exit would be a sale to a bigger platform or a card company, like Resy’s sale to American Express.</a:t>
            </a:r>
          </a:p>
        </p:txBody>
      </p:sp>
      <p:sp>
        <p:nvSpPr>
          <p:cNvPr id="295" name="Google Shape;29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Right now, picking a place to eat takes three apps. We think it could take one.</a:t>
            </a:r>
          </a:p>
          <a:p>
            <a:pPr indent="0" lvl="0" marL="0" rtl="0" algn="l">
              <a:spcBef>
                <a:spcPts val="0"/>
              </a:spcBef>
              <a:spcAft>
                <a:spcPts val="600"/>
              </a:spcAft>
              <a:buNone/>
            </a:pPr>
            <a:r>
              <a:rPr lang="en-US"/>
              <a:t>Our score only counts people who proved they ate there. Restaurants would pay for the diners we send, and users never have to pay. We’d start on grants, and Year 5 is our first profitable year.</a:t>
            </a:r>
          </a:p>
          <a:p>
            <a:pPr indent="0" lvl="0" marL="0" rtl="0" algn="l">
              <a:spcBef>
                <a:spcPts val="0"/>
              </a:spcBef>
              <a:spcAft>
                <a:spcPts val="600"/>
              </a:spcAft>
              <a:buNone/>
            </a:pPr>
            <a:r>
              <a:rPr lang="en-US"/>
              <a:t>What we still need to prove is whether restaurants will pay and whether people will scan receipts. So next, we’re calling five owners with a free pilot and testing receipt scanning with about ten users.</a:t>
            </a:r>
          </a:p>
          <a:p>
            <a:pPr indent="0" lvl="0" marL="0" rtl="0" algn="l">
              <a:spcBef>
                <a:spcPts val="0"/>
              </a:spcBef>
              <a:spcAft>
                <a:spcPts val="600"/>
              </a:spcAft>
              <a:buNone/>
            </a:pPr>
            <a:r>
              <a:rPr lang="en-US"/>
              <a:t>That’s our idea and our research so far. What would you like to ask?</a:t>
            </a: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Our idea</a:t>
            </a:r>
            <a:endParaRPr/>
          </a:p>
        </p:txBody>
      </p:sp>
      <p:sp>
        <p:nvSpPr>
          <p:cNvPr id="86" name="Google Shape;86;p1"/>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1</a:t>
            </a:r>
            <a:endParaRPr/>
          </a:p>
        </p:txBody>
      </p:sp>
      <p:sp>
        <p:nvSpPr>
          <p:cNvPr id="87" name="Google Shape;87;p1"/>
          <p:cNvSpPr txBox="1"/>
          <p:nvPr/>
        </p:nvSpPr>
        <p:spPr>
          <a:xfrm>
            <a:off x="822960" y="1234440"/>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A free app for deciding where to eat in Boston, </a:t>
            </a:r>
            <a:r>
              <a:rPr b="0" i="0" lang="en-US" sz="4400" u="none" cap="none" strike="noStrike">
                <a:solidFill>
                  <a:srgbClr val="595959"/>
                </a:solidFill>
                <a:latin typeface="Poppins"/>
                <a:ea typeface="Poppins"/>
                <a:cs typeface="Poppins"/>
                <a:sym typeface="Poppins"/>
              </a:rPr>
              <a:t>with a score based on real visits.</a:t>
            </a:r>
            <a:endParaRPr/>
          </a:p>
        </p:txBody>
      </p:sp>
      <p:sp>
        <p:nvSpPr>
          <p:cNvPr id="88" name="Google Shape;88;p1"/>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Our value proposition. The app doesn't have a name yet.</a:t>
            </a:r>
            <a:endParaRPr/>
          </a:p>
        </p:txBody>
      </p:sp>
      <p:sp>
        <p:nvSpPr>
          <p:cNvPr id="89" name="Google Shape;89;p1"/>
          <p:cNvSpPr/>
          <p:nvPr/>
        </p:nvSpPr>
        <p:spPr>
          <a:xfrm>
            <a:off x="822960" y="373989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822960" y="3886200"/>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For</a:t>
            </a:r>
            <a:endParaRPr/>
          </a:p>
        </p:txBody>
      </p:sp>
      <p:sp>
        <p:nvSpPr>
          <p:cNvPr id="91" name="Google Shape;91;p1"/>
          <p:cNvSpPr txBox="1"/>
          <p:nvPr/>
        </p:nvSpPr>
        <p:spPr>
          <a:xfrm>
            <a:off x="3657600" y="3886200"/>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students and young professionals in Boston, starting at Northeastern</a:t>
            </a:r>
            <a:endParaRPr/>
          </a:p>
        </p:txBody>
      </p:sp>
      <p:sp>
        <p:nvSpPr>
          <p:cNvPr id="92" name="Google Shape;92;p1"/>
          <p:cNvSpPr/>
          <p:nvPr/>
        </p:nvSpPr>
        <p:spPr>
          <a:xfrm>
            <a:off x="822960" y="452628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822960" y="4672584"/>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Who</a:t>
            </a:r>
            <a:endParaRPr/>
          </a:p>
        </p:txBody>
      </p:sp>
      <p:sp>
        <p:nvSpPr>
          <p:cNvPr id="94" name="Google Shape;94;p1"/>
          <p:cNvSpPr txBox="1"/>
          <p:nvPr/>
        </p:nvSpPr>
        <p:spPr>
          <a:xfrm>
            <a:off x="3657600" y="4672584"/>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want a good place to eat without checking three apps first</a:t>
            </a:r>
            <a:endParaRPr/>
          </a:p>
        </p:txBody>
      </p:sp>
      <p:sp>
        <p:nvSpPr>
          <p:cNvPr id="95" name="Google Shape;95;p1"/>
          <p:cNvSpPr/>
          <p:nvPr/>
        </p:nvSpPr>
        <p:spPr>
          <a:xfrm>
            <a:off x="822960" y="5312664"/>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
          <p:cNvSpPr txBox="1"/>
          <p:nvPr/>
        </p:nvSpPr>
        <p:spPr>
          <a:xfrm>
            <a:off x="822960" y="5458968"/>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Our app is</a:t>
            </a:r>
            <a:endParaRPr/>
          </a:p>
        </p:txBody>
      </p:sp>
      <p:sp>
        <p:nvSpPr>
          <p:cNvPr id="97" name="Google Shape;97;p1"/>
          <p:cNvSpPr txBox="1"/>
          <p:nvPr/>
        </p:nvSpPr>
        <p:spPr>
          <a:xfrm>
            <a:off x="3657600" y="5458968"/>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a free restaurant guide</a:t>
            </a:r>
            <a:endParaRPr/>
          </a:p>
        </p:txBody>
      </p:sp>
      <p:sp>
        <p:nvSpPr>
          <p:cNvPr id="98" name="Google Shape;98;p1"/>
          <p:cNvSpPr/>
          <p:nvPr/>
        </p:nvSpPr>
        <p:spPr>
          <a:xfrm>
            <a:off x="822960" y="609904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
          <p:cNvSpPr txBox="1"/>
          <p:nvPr/>
        </p:nvSpPr>
        <p:spPr>
          <a:xfrm>
            <a:off x="822960" y="6245352"/>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That</a:t>
            </a:r>
            <a:endParaRPr/>
          </a:p>
        </p:txBody>
      </p:sp>
      <p:sp>
        <p:nvSpPr>
          <p:cNvPr id="100" name="Google Shape;100;p1"/>
          <p:cNvSpPr txBox="1"/>
          <p:nvPr/>
        </p:nvSpPr>
        <p:spPr>
          <a:xfrm>
            <a:off x="3657600" y="6245352"/>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puts reviews, posts, hours and booking for each place on one page</a:t>
            </a:r>
            <a:endParaRPr/>
          </a:p>
        </p:txBody>
      </p:sp>
      <p:sp>
        <p:nvSpPr>
          <p:cNvPr id="101" name="Google Shape;101;p1"/>
          <p:cNvSpPr/>
          <p:nvPr/>
        </p:nvSpPr>
        <p:spPr>
          <a:xfrm>
            <a:off x="822960" y="6885431"/>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
          <p:cNvSpPr txBox="1"/>
          <p:nvPr/>
        </p:nvSpPr>
        <p:spPr>
          <a:xfrm>
            <a:off x="822960" y="7031736"/>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Unlike</a:t>
            </a:r>
            <a:endParaRPr/>
          </a:p>
        </p:txBody>
      </p:sp>
      <p:sp>
        <p:nvSpPr>
          <p:cNvPr id="103" name="Google Shape;103;p1"/>
          <p:cNvSpPr txBox="1"/>
          <p:nvPr/>
        </p:nvSpPr>
        <p:spPr>
          <a:xfrm>
            <a:off x="3657600" y="7031736"/>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checking Google Maps, Instagram or TikTok, and a friend one by one</a:t>
            </a:r>
            <a:endParaRPr/>
          </a:p>
        </p:txBody>
      </p:sp>
      <p:sp>
        <p:nvSpPr>
          <p:cNvPr id="104" name="Google Shape;104;p1"/>
          <p:cNvSpPr/>
          <p:nvPr/>
        </p:nvSpPr>
        <p:spPr>
          <a:xfrm>
            <a:off x="822960" y="767181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
          <p:cNvSpPr txBox="1"/>
          <p:nvPr/>
        </p:nvSpPr>
        <p:spPr>
          <a:xfrm>
            <a:off x="822960" y="7818120"/>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Ours</a:t>
            </a:r>
            <a:endParaRPr/>
          </a:p>
        </p:txBody>
      </p:sp>
      <p:sp>
        <p:nvSpPr>
          <p:cNvPr id="106" name="Google Shape;106;p1"/>
          <p:cNvSpPr txBox="1"/>
          <p:nvPr/>
        </p:nvSpPr>
        <p:spPr>
          <a:xfrm>
            <a:off x="3657600" y="7818120"/>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only counts reviews from people who proved they ate there</a:t>
            </a:r>
            <a:endParaRPr/>
          </a:p>
        </p:txBody>
      </p:sp>
      <p:sp>
        <p:nvSpPr>
          <p:cNvPr id="107" name="Google Shape;107;p1"/>
          <p:cNvSpPr/>
          <p:nvPr/>
        </p:nvSpPr>
        <p:spPr>
          <a:xfrm>
            <a:off x="822960" y="8458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676"/>
        </a:solidFill>
        <a:effectLst/>
      </p:bgPr>
    </p:bg>
    <p:spTree>
      <p:nvGrpSpPr>
        <p:cNvPr id="112" name="Shape 112"/>
        <p:cNvGrpSpPr/>
        <p:nvPr/>
      </p:nvGrpSpPr>
      <p:grpSpPr>
        <a:xfrm>
          <a:off x="0" y="0"/>
          <a:ext cx="0" cy="0"/>
          <a:chOff x="0" y="0"/>
          <a:chExt cx="0" cy="0"/>
        </a:xfrm>
      </p:grpSpPr>
      <p:sp>
        <p:nvSpPr>
          <p:cNvPr id="113" name="Google Shape;113;p2"/>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2E2D12"/>
                </a:solidFill>
                <a:latin typeface="Poppins"/>
                <a:ea typeface="Poppins"/>
                <a:cs typeface="Poppins"/>
                <a:sym typeface="Poppins"/>
              </a:rPr>
              <a:t>The challenge</a:t>
            </a:r>
            <a:endParaRPr/>
          </a:p>
        </p:txBody>
      </p:sp>
      <p:sp>
        <p:nvSpPr>
          <p:cNvPr id="114" name="Google Shape;114;p2"/>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1F1F1F"/>
                </a:solidFill>
                <a:latin typeface="Poppins"/>
                <a:ea typeface="Poppins"/>
                <a:cs typeface="Poppins"/>
                <a:sym typeface="Poppins"/>
              </a:rPr>
              <a:t>2</a:t>
            </a:r>
            <a:endParaRPr/>
          </a:p>
        </p:txBody>
      </p:sp>
      <p:sp>
        <p:nvSpPr>
          <p:cNvPr id="115" name="Google Shape;115;p2"/>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Most people we talked to check three apps to pick one place to eat, </a:t>
            </a:r>
            <a:r>
              <a:rPr b="0" i="0" lang="en-US" sz="4400" u="none" cap="none" strike="noStrike">
                <a:solidFill>
                  <a:srgbClr val="2E2D12"/>
                </a:solidFill>
                <a:latin typeface="Poppins"/>
                <a:ea typeface="Poppins"/>
                <a:cs typeface="Poppins"/>
                <a:sym typeface="Poppins"/>
              </a:rPr>
              <a:t>and for many, it still misses.</a:t>
            </a:r>
            <a:endParaRPr/>
          </a:p>
        </p:txBody>
      </p:sp>
      <p:sp>
        <p:nvSpPr>
          <p:cNvPr id="116" name="Google Shape;116;p2"/>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2E2D12"/>
                </a:solidFill>
                <a:latin typeface="Roboto Mono"/>
                <a:ea typeface="Roboto Mono"/>
                <a:cs typeface="Roboto Mono"/>
                <a:sym typeface="Roboto Mono"/>
              </a:rPr>
              <a:t>From 35 interviews with students and young professionals, Sep to Oct 2026.</a:t>
            </a:r>
            <a:endParaRPr/>
          </a:p>
        </p:txBody>
      </p:sp>
      <p:sp>
        <p:nvSpPr>
          <p:cNvPr id="117" name="Google Shape;117;p2"/>
          <p:cNvSpPr/>
          <p:nvPr/>
        </p:nvSpPr>
        <p:spPr>
          <a:xfrm>
            <a:off x="822960" y="5074920"/>
            <a:ext cx="16642080" cy="10972"/>
          </a:xfrm>
          <a:prstGeom prst="rect">
            <a:avLst/>
          </a:prstGeom>
          <a:solidFill>
            <a:srgbClr val="2E2D1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2"/>
          <p:cNvSpPr txBox="1"/>
          <p:nvPr/>
        </p:nvSpPr>
        <p:spPr>
          <a:xfrm>
            <a:off x="82296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Poppins"/>
                <a:ea typeface="Poppins"/>
                <a:cs typeface="Poppins"/>
                <a:sym typeface="Poppins"/>
              </a:rPr>
              <a:t>1</a:t>
            </a:r>
            <a:endParaRPr/>
          </a:p>
        </p:txBody>
      </p:sp>
      <p:sp>
        <p:nvSpPr>
          <p:cNvPr id="119" name="Google Shape;119;p2"/>
          <p:cNvSpPr txBox="1"/>
          <p:nvPr/>
        </p:nvSpPr>
        <p:spPr>
          <a:xfrm>
            <a:off x="82296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Poppins"/>
                <a:ea typeface="Poppins"/>
                <a:cs typeface="Poppins"/>
                <a:sym typeface="Poppins"/>
              </a:rPr>
              <a:t>Google Maps</a:t>
            </a:r>
            <a:endParaRPr sz="2800"/>
          </a:p>
        </p:txBody>
      </p:sp>
      <p:sp>
        <p:nvSpPr>
          <p:cNvPr id="120" name="Google Shape;120;p2"/>
          <p:cNvSpPr txBox="1"/>
          <p:nvPr/>
        </p:nvSpPr>
        <p:spPr>
          <a:xfrm>
            <a:off x="82296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to see what's nearby</a:t>
            </a:r>
            <a:endParaRPr sz="2400"/>
          </a:p>
        </p:txBody>
      </p:sp>
      <p:sp>
        <p:nvSpPr>
          <p:cNvPr id="121" name="Google Shape;121;p2"/>
          <p:cNvSpPr txBox="1"/>
          <p:nvPr/>
        </p:nvSpPr>
        <p:spPr>
          <a:xfrm>
            <a:off x="649224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Poppins"/>
                <a:ea typeface="Poppins"/>
                <a:cs typeface="Poppins"/>
                <a:sym typeface="Poppins"/>
              </a:rPr>
              <a:t>2</a:t>
            </a:r>
            <a:endParaRPr/>
          </a:p>
        </p:txBody>
      </p:sp>
      <p:sp>
        <p:nvSpPr>
          <p:cNvPr id="122" name="Google Shape;122;p2"/>
          <p:cNvSpPr txBox="1"/>
          <p:nvPr/>
        </p:nvSpPr>
        <p:spPr>
          <a:xfrm>
            <a:off x="649224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Poppins"/>
                <a:ea typeface="Poppins"/>
                <a:cs typeface="Poppins"/>
                <a:sym typeface="Poppins"/>
              </a:rPr>
              <a:t>Instagram or TikTok</a:t>
            </a:r>
            <a:endParaRPr sz="2800"/>
          </a:p>
        </p:txBody>
      </p:sp>
      <p:sp>
        <p:nvSpPr>
          <p:cNvPr id="123" name="Google Shape;123;p2"/>
          <p:cNvSpPr txBox="1"/>
          <p:nvPr/>
        </p:nvSpPr>
        <p:spPr>
          <a:xfrm>
            <a:off x="649224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to see the food</a:t>
            </a:r>
            <a:endParaRPr sz="2400"/>
          </a:p>
        </p:txBody>
      </p:sp>
      <p:sp>
        <p:nvSpPr>
          <p:cNvPr id="124" name="Google Shape;124;p2"/>
          <p:cNvSpPr txBox="1"/>
          <p:nvPr/>
        </p:nvSpPr>
        <p:spPr>
          <a:xfrm>
            <a:off x="1216152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Poppins"/>
                <a:ea typeface="Poppins"/>
                <a:cs typeface="Poppins"/>
                <a:sym typeface="Poppins"/>
              </a:rPr>
              <a:t>3</a:t>
            </a:r>
            <a:endParaRPr/>
          </a:p>
        </p:txBody>
      </p:sp>
      <p:sp>
        <p:nvSpPr>
          <p:cNvPr id="125" name="Google Shape;125;p2"/>
          <p:cNvSpPr txBox="1"/>
          <p:nvPr/>
        </p:nvSpPr>
        <p:spPr>
          <a:xfrm>
            <a:off x="1216152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Poppins"/>
                <a:ea typeface="Poppins"/>
                <a:cs typeface="Poppins"/>
                <a:sym typeface="Poppins"/>
              </a:rPr>
              <a:t>A friend</a:t>
            </a:r>
            <a:endParaRPr sz="2800"/>
          </a:p>
        </p:txBody>
      </p:sp>
      <p:sp>
        <p:nvSpPr>
          <p:cNvPr id="126" name="Google Shape;126;p2"/>
          <p:cNvSpPr txBox="1"/>
          <p:nvPr/>
        </p:nvSpPr>
        <p:spPr>
          <a:xfrm>
            <a:off x="1216152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to check it's good</a:t>
            </a:r>
            <a:endParaRPr sz="2400"/>
          </a:p>
        </p:txBody>
      </p:sp>
      <p:sp>
        <p:nvSpPr>
          <p:cNvPr id="131" name="Google Shape;131;p2"/>
          <p:cNvSpPr txBox="1"/>
          <p:nvPr/>
        </p:nvSpPr>
        <p:spPr>
          <a:xfrm>
            <a:off x="822960" y="758952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1F1F1F"/>
                </a:solidFill>
                <a:latin typeface="Poppins"/>
                <a:ea typeface="Poppins"/>
                <a:cs typeface="Poppins"/>
                <a:sym typeface="Poppins"/>
              </a:rPr>
              <a:t>Most are okay with what they use now, but would try something better.</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The opportunity</a:t>
            </a:r>
            <a:endParaRPr/>
          </a:p>
        </p:txBody>
      </p:sp>
      <p:sp>
        <p:nvSpPr>
          <p:cNvPr id="138" name="Google Shape;138;p3"/>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3</a:t>
            </a:r>
            <a:endParaRPr/>
          </a:p>
        </p:txBody>
      </p:sp>
      <p:sp>
        <p:nvSpPr>
          <p:cNvPr id="139" name="Google Shape;139;p3"/>
          <p:cNvSpPr txBox="1"/>
          <p:nvPr/>
        </p:nvSpPr>
        <p:spPr>
          <a:xfrm>
            <a:off x="822960" y="1208965"/>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One page per restaurant, </a:t>
            </a:r>
            <a:r>
              <a:rPr b="0" i="0" lang="en-US" sz="4400" u="none" cap="none" strike="noStrike">
                <a:solidFill>
                  <a:srgbClr val="595959"/>
                </a:solidFill>
                <a:latin typeface="Poppins"/>
                <a:ea typeface="Poppins"/>
                <a:cs typeface="Poppins"/>
                <a:sym typeface="Poppins"/>
              </a:rPr>
              <a:t>and a score that only counts diners with a receipt.</a:t>
            </a:r>
            <a:endParaRPr/>
          </a:p>
        </p:txBody>
      </p:sp>
      <p:sp>
        <p:nvSpPr>
          <p:cNvPr id="140" name="Google Shape;140;p3"/>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The core app is free. If another app won't share its ratings, we link out to it.</a:t>
            </a:r>
            <a:endParaRPr/>
          </a:p>
        </p:txBody>
      </p:sp>
      <p:sp>
        <p:nvSpPr>
          <p:cNvPr id="141" name="Google Shape;141;p3"/>
          <p:cNvSpPr txBox="1"/>
          <p:nvPr/>
        </p:nvSpPr>
        <p:spPr>
          <a:xfrm>
            <a:off x="82296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Find</a:t>
            </a:r>
            <a:endParaRPr sz="2400"/>
          </a:p>
        </p:txBody>
      </p:sp>
      <p:sp>
        <p:nvSpPr>
          <p:cNvPr id="142" name="Google Shape;142;p3"/>
          <p:cNvSpPr/>
          <p:nvPr/>
        </p:nvSpPr>
        <p:spPr>
          <a:xfrm>
            <a:off x="82296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txBox="1"/>
          <p:nvPr/>
        </p:nvSpPr>
        <p:spPr>
          <a:xfrm>
            <a:off x="822960" y="4572000"/>
            <a:ext cx="5120700" cy="2050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What's open near you</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Filter by diet, price and distance</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New places people are talking about</a:t>
            </a:r>
            <a:endParaRPr sz="2400"/>
          </a:p>
        </p:txBody>
      </p:sp>
      <p:sp>
        <p:nvSpPr>
          <p:cNvPr id="144" name="Google Shape;144;p3"/>
          <p:cNvSpPr txBox="1"/>
          <p:nvPr/>
        </p:nvSpPr>
        <p:spPr>
          <a:xfrm>
            <a:off x="649224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Compare</a:t>
            </a:r>
            <a:endParaRPr sz="2400"/>
          </a:p>
        </p:txBody>
      </p:sp>
      <p:sp>
        <p:nvSpPr>
          <p:cNvPr id="145" name="Google Shape;145;p3"/>
          <p:cNvSpPr/>
          <p:nvPr/>
        </p:nvSpPr>
        <p:spPr>
          <a:xfrm>
            <a:off x="649224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3"/>
          <p:cNvSpPr txBox="1"/>
          <p:nvPr/>
        </p:nvSpPr>
        <p:spPr>
          <a:xfrm>
            <a:off x="6492240" y="4572000"/>
            <a:ext cx="5120700" cy="2456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Other apps’ ratings, where allowed</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Our score only counts diners who scanned a receipt</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Nobody pays to rank higher</a:t>
            </a:r>
            <a:endParaRPr sz="2400"/>
          </a:p>
        </p:txBody>
      </p:sp>
      <p:sp>
        <p:nvSpPr>
          <p:cNvPr id="147" name="Google Shape;147;p3"/>
          <p:cNvSpPr txBox="1"/>
          <p:nvPr/>
        </p:nvSpPr>
        <p:spPr>
          <a:xfrm>
            <a:off x="1216152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Keep</a:t>
            </a:r>
            <a:endParaRPr sz="2400"/>
          </a:p>
        </p:txBody>
      </p:sp>
      <p:sp>
        <p:nvSpPr>
          <p:cNvPr id="148" name="Google Shape;148;p3"/>
          <p:cNvSpPr/>
          <p:nvPr/>
        </p:nvSpPr>
        <p:spPr>
          <a:xfrm>
            <a:off x="1216152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txBox="1"/>
          <p:nvPr/>
        </p:nvSpPr>
        <p:spPr>
          <a:xfrm>
            <a:off x="12161520" y="4572000"/>
            <a:ext cx="5120700" cy="2050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Your history and lists</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Scan a receipt, get a verified badge</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Book a table</a:t>
            </a:r>
            <a:endParaRPr sz="2400"/>
          </a:p>
        </p:txBody>
      </p:sp>
      <p:sp>
        <p:nvSpPr>
          <p:cNvPr id="960" name="Google Shape;960;p3"/>
          <p:cNvSpPr txBox="1"/>
          <p:nvPr/>
        </p:nvSpPr>
        <p:spPr>
          <a:xfrm>
            <a:off x="822960" y="7360920"/>
            <a:ext cx="1664208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 xml:space="preserve">Why not Beli? </a:t>
            </a:r>
            <a:r>
              <a:rPr b="0" i="0" lang="en-US" sz="2400" u="none" cap="none" strike="noStrike">
                <a:solidFill>
                  <a:srgbClr val="434343"/>
                </a:solidFill>
                <a:latin typeface="Poppins"/>
                <a:ea typeface="Poppins"/>
                <a:cs typeface="Poppins"/>
                <a:sym typeface="Poppins"/>
              </a:rPr>
              <a:t>Beli is for ranking places you’ve been. We help you decide where to go next, with a score based on receipts.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950" name="Google Shape;950;p5"/>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A first look</a:t>
            </a:r>
            <a:endParaRPr/>
          </a:p>
        </p:txBody>
      </p:sp>
      <p:sp>
        <p:nvSpPr>
          <p:cNvPr id="951" name="Google Shape;951;p5"/>
          <p:cNvSpPr txBox="1"/>
          <p:nvPr/>
        </p:nvSpPr>
        <p:spPr>
          <a:xfrm>
            <a:off x="822960" y="1234440"/>
            <a:ext cx="15087600" cy="7315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In our concept, it picks one place </a:t>
            </a:r>
            <a:r>
              <a:rPr b="0" i="0" lang="en-US" sz="4400" u="none" cap="none" strike="noStrike">
                <a:solidFill>
                  <a:srgbClr val="595959"/>
                </a:solidFill>
                <a:latin typeface="Poppins"/>
                <a:ea typeface="Poppins"/>
                <a:cs typeface="Poppins"/>
                <a:sym typeface="Poppins"/>
              </a:rPr>
              <a:t>and shows you why.</a:t>
            </a:r>
            <a:endParaRPr/>
          </a:p>
        </p:txBody>
      </p:sp>
      <p:sp>
        <p:nvSpPr>
          <p:cNvPr id="156" name="Google Shape;156;p4"/>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4</a:t>
            </a:r>
            <a:endParaRPr/>
          </a:p>
        </p:txBody>
      </p:sp>
      <p:sp>
        <p:nvSpPr>
          <p:cNvPr id="157" name="Google Shape;157;p4"/>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Concept screens. Every score and person is made up. Other apps’ ratings shown only where we’re allowed. Photos: Unsplash; Daderot, Wikimedia Commons (CC0).</a:t>
            </a:r>
            <a:endParaRPr/>
          </a:p>
        </p:txBody>
      </p:sp>
      <p:pic>
        <p:nvPicPr>
          <p:cNvPr descr="phone-1.png" id="158" name="Google Shape;158;p4"/>
          <p:cNvPicPr preferRelativeResize="0"/>
          <p:nvPr/>
        </p:nvPicPr>
        <p:blipFill rotWithShape="1">
          <a:blip r:embed="rId3">
            <a:alphaModFix/>
          </a:blip>
          <a:srcRect b="0" l="0" r="0" t="0"/>
          <a:stretch/>
        </p:blipFill>
        <p:spPr>
          <a:xfrm>
            <a:off x="1224550" y="2331720"/>
            <a:ext cx="2814764" cy="5806440"/>
          </a:xfrm>
          <a:prstGeom prst="rect">
            <a:avLst/>
          </a:prstGeom>
          <a:noFill/>
          <a:ln>
            <a:noFill/>
          </a:ln>
        </p:spPr>
      </p:pic>
      <p:sp>
        <p:nvSpPr>
          <p:cNvPr id="159" name="Google Shape;159;p4"/>
          <p:cNvSpPr txBox="1"/>
          <p:nvPr/>
        </p:nvSpPr>
        <p:spPr>
          <a:xfrm>
            <a:off x="845750"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1  Start nearby</a:t>
            </a:r>
            <a:endParaRPr/>
          </a:p>
        </p:txBody>
      </p:sp>
      <p:sp>
        <p:nvSpPr>
          <p:cNvPr id="160" name="Google Shape;160;p4"/>
          <p:cNvSpPr txBox="1"/>
          <p:nvPr/>
        </p:nvSpPr>
        <p:spPr>
          <a:xfrm>
            <a:off x="845750"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What's open around you.</a:t>
            </a:r>
            <a:endParaRPr/>
          </a:p>
        </p:txBody>
      </p:sp>
      <p:pic>
        <p:nvPicPr>
          <p:cNvPr descr="phone-2.png" id="161" name="Google Shape;161;p4"/>
          <p:cNvPicPr preferRelativeResize="0"/>
          <p:nvPr/>
        </p:nvPicPr>
        <p:blipFill rotWithShape="1">
          <a:blip r:embed="rId4">
            <a:alphaModFix/>
          </a:blip>
          <a:srcRect b="0" l="0" r="0" t="0"/>
          <a:stretch/>
        </p:blipFill>
        <p:spPr>
          <a:xfrm>
            <a:off x="5476524" y="2331720"/>
            <a:ext cx="2814776" cy="5806440"/>
          </a:xfrm>
          <a:prstGeom prst="rect">
            <a:avLst/>
          </a:prstGeom>
          <a:noFill/>
          <a:ln>
            <a:noFill/>
          </a:ln>
        </p:spPr>
      </p:pic>
      <p:sp>
        <p:nvSpPr>
          <p:cNvPr id="162" name="Google Shape;162;p4"/>
          <p:cNvSpPr txBox="1"/>
          <p:nvPr/>
        </p:nvSpPr>
        <p:spPr>
          <a:xfrm>
            <a:off x="5097716"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2  Let it pick</a:t>
            </a:r>
            <a:endParaRPr/>
          </a:p>
        </p:txBody>
      </p:sp>
      <p:sp>
        <p:nvSpPr>
          <p:cNvPr id="163" name="Google Shape;163;p4"/>
          <p:cNvSpPr txBox="1"/>
          <p:nvPr/>
        </p:nvSpPr>
        <p:spPr>
          <a:xfrm>
            <a:off x="5097716"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One best bet for your budget and diet.</a:t>
            </a:r>
            <a:endParaRPr/>
          </a:p>
        </p:txBody>
      </p:sp>
      <p:pic>
        <p:nvPicPr>
          <p:cNvPr descr="phone-3.png" id="164" name="Google Shape;164;p4"/>
          <p:cNvPicPr preferRelativeResize="0"/>
          <p:nvPr/>
        </p:nvPicPr>
        <p:blipFill rotWithShape="1">
          <a:blip r:embed="rId5">
            <a:alphaModFix/>
          </a:blip>
          <a:srcRect b="0" l="0" r="0" t="0"/>
          <a:stretch/>
        </p:blipFill>
        <p:spPr>
          <a:xfrm>
            <a:off x="9728474" y="2331720"/>
            <a:ext cx="2814776" cy="5806440"/>
          </a:xfrm>
          <a:prstGeom prst="rect">
            <a:avLst/>
          </a:prstGeom>
          <a:noFill/>
          <a:ln>
            <a:noFill/>
          </a:ln>
        </p:spPr>
      </p:pic>
      <p:sp>
        <p:nvSpPr>
          <p:cNvPr id="165" name="Google Shape;165;p4"/>
          <p:cNvSpPr txBox="1"/>
          <p:nvPr/>
        </p:nvSpPr>
        <p:spPr>
          <a:xfrm>
            <a:off x="9349683"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3  See why</a:t>
            </a:r>
            <a:endParaRPr/>
          </a:p>
        </p:txBody>
      </p:sp>
      <p:sp>
        <p:nvSpPr>
          <p:cNvPr id="166" name="Google Shape;166;p4"/>
          <p:cNvSpPr txBox="1"/>
          <p:nvPr/>
        </p:nvSpPr>
        <p:spPr>
          <a:xfrm>
            <a:off x="9349683"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Three picks, each with a reason.</a:t>
            </a:r>
            <a:endParaRPr/>
          </a:p>
        </p:txBody>
      </p:sp>
      <p:pic>
        <p:nvPicPr>
          <p:cNvPr descr="phone-4.png" id="167" name="Google Shape;167;p4"/>
          <p:cNvPicPr preferRelativeResize="0"/>
          <p:nvPr/>
        </p:nvPicPr>
        <p:blipFill rotWithShape="1">
          <a:blip r:embed="rId6">
            <a:alphaModFix/>
          </a:blip>
          <a:srcRect b="0" l="0" r="0" t="0"/>
          <a:stretch/>
        </p:blipFill>
        <p:spPr>
          <a:xfrm>
            <a:off x="13980449" y="2331720"/>
            <a:ext cx="2814776" cy="5806440"/>
          </a:xfrm>
          <a:prstGeom prst="rect">
            <a:avLst/>
          </a:prstGeom>
          <a:noFill/>
          <a:ln>
            <a:noFill/>
          </a:ln>
        </p:spPr>
      </p:pic>
      <p:sp>
        <p:nvSpPr>
          <p:cNvPr id="168" name="Google Shape;168;p4"/>
          <p:cNvSpPr txBox="1"/>
          <p:nvPr/>
        </p:nvSpPr>
        <p:spPr>
          <a:xfrm>
            <a:off x="13601649"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4  Check every rating</a:t>
            </a:r>
            <a:endParaRPr/>
          </a:p>
        </p:txBody>
      </p:sp>
      <p:sp>
        <p:nvSpPr>
          <p:cNvPr id="169" name="Google Shape;169;p4"/>
          <p:cNvSpPr txBox="1"/>
          <p:nvPr/>
        </p:nvSpPr>
        <p:spPr>
          <a:xfrm>
            <a:off x="13601649" y="8770852"/>
            <a:ext cx="3749100" cy="738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Our verified score next to everyone else's, with creators' paid posts flagged.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big it is</a:t>
            </a:r>
            <a:endParaRPr/>
          </a:p>
        </p:txBody>
      </p:sp>
      <p:sp>
        <p:nvSpPr>
          <p:cNvPr id="176" name="Google Shape;176;p5"/>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5</a:t>
            </a:r>
            <a:endParaRPr/>
          </a:p>
        </p:txBody>
      </p:sp>
      <p:sp>
        <p:nvSpPr>
          <p:cNvPr id="177" name="Google Shape;177;p5"/>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 start with Boston’s 162,000 students </a:t>
            </a:r>
            <a:r>
              <a:rPr b="0" i="0" lang="en-US" sz="4400" u="none" cap="none" strike="noStrike">
                <a:solidFill>
                  <a:srgbClr val="595959"/>
                </a:solidFill>
                <a:latin typeface="Poppins"/>
                <a:ea typeface="Poppins"/>
                <a:cs typeface="Poppins"/>
                <a:sym typeface="Poppins"/>
              </a:rPr>
              <a:t>and aim for 540,000 US users by Year 5.</a:t>
            </a:r>
            <a:endParaRPr/>
          </a:p>
        </p:txBody>
      </p:sp>
      <p:sp>
        <p:nvSpPr>
          <p:cNvPr id="178" name="Google Shape;178;p5"/>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US Census Bureau, 2024 estimates. NCES Digest of Education Statistics 2024, fall 2023 enrollment. City of Boston Student Housing Report 2025 and license data, Oct 2026.</a:t>
            </a:r>
            <a:endParaRPr/>
          </a:p>
        </p:txBody>
      </p:sp>
      <p:sp>
        <p:nvSpPr>
          <p:cNvPr id="179" name="Google Shape;179;p5"/>
          <p:cNvSpPr txBox="1"/>
          <p:nvPr/>
        </p:nvSpPr>
        <p:spPr>
          <a:xfrm>
            <a:off x="82296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Where we start</a:t>
            </a:r>
            <a:endParaRPr/>
          </a:p>
        </p:txBody>
      </p:sp>
      <p:sp>
        <p:nvSpPr>
          <p:cNvPr id="180" name="Google Shape;180;p5"/>
          <p:cNvSpPr txBox="1"/>
          <p:nvPr/>
        </p:nvSpPr>
        <p:spPr>
          <a:xfrm>
            <a:off x="82296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Poppins"/>
                <a:ea typeface="Poppins"/>
                <a:cs typeface="Poppins"/>
                <a:sym typeface="Poppins"/>
              </a:rPr>
              <a:t>162K</a:t>
            </a:r>
            <a:endParaRPr/>
          </a:p>
        </p:txBody>
      </p:sp>
      <p:sp>
        <p:nvSpPr>
          <p:cNvPr id="181" name="Google Shape;181;p5"/>
          <p:cNvSpPr txBox="1"/>
          <p:nvPr/>
        </p:nvSpPr>
        <p:spPr>
          <a:xfrm>
            <a:off x="822960" y="5760720"/>
            <a:ext cx="49377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Boston college students. Year 1 is 12K of them.</a:t>
            </a:r>
            <a:endParaRPr sz="2400"/>
          </a:p>
        </p:txBody>
      </p:sp>
      <p:sp>
        <p:nvSpPr>
          <p:cNvPr id="182" name="Google Shape;182;p5"/>
          <p:cNvSpPr txBox="1"/>
          <p:nvPr/>
        </p:nvSpPr>
        <p:spPr>
          <a:xfrm>
            <a:off x="649224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Our users by Year 5</a:t>
            </a:r>
            <a:endParaRPr/>
          </a:p>
        </p:txBody>
      </p:sp>
      <p:sp>
        <p:nvSpPr>
          <p:cNvPr id="183" name="Google Shape;183;p5"/>
          <p:cNvSpPr txBox="1"/>
          <p:nvPr/>
        </p:nvSpPr>
        <p:spPr>
          <a:xfrm>
            <a:off x="649224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Poppins"/>
                <a:ea typeface="Poppins"/>
                <a:cs typeface="Poppins"/>
                <a:sym typeface="Poppins"/>
              </a:rPr>
              <a:t>540K</a:t>
            </a:r>
            <a:endParaRPr/>
          </a:p>
        </p:txBody>
      </p:sp>
      <p:sp>
        <p:nvSpPr>
          <p:cNvPr id="184" name="Google Shape;184;p5"/>
          <p:cNvSpPr txBox="1"/>
          <p:nvPr/>
        </p:nvSpPr>
        <p:spPr>
          <a:xfrm>
            <a:off x="6492240" y="5760720"/>
            <a:ext cx="4937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2.8% of US college students</a:t>
            </a:r>
            <a:endParaRPr sz="2400"/>
          </a:p>
        </p:txBody>
      </p:sp>
      <p:sp>
        <p:nvSpPr>
          <p:cNvPr id="185" name="Google Shape;185;p5"/>
          <p:cNvSpPr txBox="1"/>
          <p:nvPr/>
        </p:nvSpPr>
        <p:spPr>
          <a:xfrm>
            <a:off x="1216152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Restaurants in Boston</a:t>
            </a:r>
            <a:endParaRPr/>
          </a:p>
        </p:txBody>
      </p:sp>
      <p:sp>
        <p:nvSpPr>
          <p:cNvPr id="186" name="Google Shape;186;p5"/>
          <p:cNvSpPr txBox="1"/>
          <p:nvPr/>
        </p:nvSpPr>
        <p:spPr>
          <a:xfrm>
            <a:off x="1216152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Poppins"/>
                <a:ea typeface="Poppins"/>
                <a:cs typeface="Poppins"/>
                <a:sym typeface="Poppins"/>
              </a:rPr>
              <a:t>3,350</a:t>
            </a:r>
            <a:endParaRPr/>
          </a:p>
        </p:txBody>
      </p:sp>
      <p:sp>
        <p:nvSpPr>
          <p:cNvPr id="187" name="Google Shape;187;p5"/>
          <p:cNvSpPr txBox="1"/>
          <p:nvPr/>
        </p:nvSpPr>
        <p:spPr>
          <a:xfrm>
            <a:off x="12161520" y="5760720"/>
            <a:ext cx="4937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Licensed places to eat in Boston</a:t>
            </a:r>
            <a:endParaRPr sz="2400"/>
          </a:p>
        </p:txBody>
      </p:sp>
      <p:sp>
        <p:nvSpPr>
          <p:cNvPr id="188" name="Google Shape;188;p5"/>
          <p:cNvSpPr/>
          <p:nvPr/>
        </p:nvSpPr>
        <p:spPr>
          <a:xfrm>
            <a:off x="822960" y="68580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189" name="Google Shape;189;p5"/>
          <p:cNvSpPr txBox="1"/>
          <p:nvPr/>
        </p:nvSpPr>
        <p:spPr>
          <a:xfrm>
            <a:off x="822960" y="7196328"/>
            <a:ext cx="2743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The market</a:t>
            </a:r>
            <a:endParaRPr sz="2400"/>
          </a:p>
        </p:txBody>
      </p:sp>
      <p:sp>
        <p:nvSpPr>
          <p:cNvPr id="190" name="Google Shape;190;p5"/>
          <p:cNvSpPr txBox="1"/>
          <p:nvPr/>
        </p:nvSpPr>
        <p:spPr>
          <a:xfrm>
            <a:off x="3657600" y="7178040"/>
            <a:ext cx="138075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77.8M people aged 18 to 34 (TAM), 19M US college students we can reach (SAM), 540K we plan to win (SOM).</a:t>
            </a:r>
            <a:endParaRPr sz="2400"/>
          </a:p>
        </p:txBody>
      </p:sp>
      <p:sp>
        <p:nvSpPr>
          <p:cNvPr id="191" name="Google Shape;191;p5"/>
          <p:cNvSpPr txBox="1"/>
          <p:nvPr/>
        </p:nvSpPr>
        <p:spPr>
          <a:xfrm>
            <a:off x="822935" y="8229600"/>
            <a:ext cx="2743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Growth</a:t>
            </a:r>
            <a:endParaRPr sz="2400"/>
          </a:p>
        </p:txBody>
      </p:sp>
      <p:sp>
        <p:nvSpPr>
          <p:cNvPr id="192" name="Google Shape;192;p5"/>
          <p:cNvSpPr txBox="1"/>
          <p:nvPr/>
        </p:nvSpPr>
        <p:spPr>
          <a:xfrm>
            <a:off x="3657575" y="8211312"/>
            <a:ext cx="138075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Boston first. Other cities from Year 3.</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we’d get users</a:t>
            </a:r>
            <a:endParaRPr/>
          </a:p>
        </p:txBody>
      </p:sp>
      <p:sp>
        <p:nvSpPr>
          <p:cNvPr id="201" name="Google Shape;201;p6"/>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6</a:t>
            </a:r>
            <a:endParaRPr/>
          </a:p>
        </p:txBody>
      </p:sp>
      <p:sp>
        <p:nvSpPr>
          <p:cNvPr id="202" name="Google Shape;202;p6"/>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 plan to find our first 1,000 users on Boston campuses, </a:t>
            </a:r>
            <a:r>
              <a:rPr b="0" i="0" lang="en-US" sz="4400" u="none" cap="none" strike="noStrike">
                <a:solidFill>
                  <a:srgbClr val="595959"/>
                </a:solidFill>
                <a:latin typeface="Poppins"/>
                <a:ea typeface="Poppins"/>
                <a:cs typeface="Poppins"/>
                <a:sym typeface="Poppins"/>
              </a:rPr>
              <a:t>starting with ours, one friend at a time.</a:t>
            </a:r>
            <a:endParaRPr/>
          </a:p>
        </p:txBody>
      </p:sp>
      <p:sp>
        <p:nvSpPr>
          <p:cNvPr id="203" name="Google Shape;203;p6"/>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Beli referrals: Wall Street Journal, May 2025. User targets are from our Gate 2 model.</a:t>
            </a:r>
            <a:endParaRPr/>
          </a:p>
        </p:txBody>
      </p:sp>
      <p:sp>
        <p:nvSpPr>
          <p:cNvPr id="204" name="Google Shape;204;p6"/>
          <p:cNvSpPr txBox="1"/>
          <p:nvPr/>
        </p:nvSpPr>
        <p:spPr>
          <a:xfrm>
            <a:off x="3657600" y="365760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Who they are and where we find them</a:t>
            </a:r>
            <a:endParaRPr sz="2400"/>
          </a:p>
        </p:txBody>
      </p:sp>
      <p:sp>
        <p:nvSpPr>
          <p:cNvPr id="205" name="Google Shape;205;p6"/>
          <p:cNvSpPr txBox="1"/>
          <p:nvPr/>
        </p:nvSpPr>
        <p:spPr>
          <a:xfrm>
            <a:off x="10607040" y="365760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 tell them</a:t>
            </a:r>
            <a:endParaRPr sz="2400"/>
          </a:p>
        </p:txBody>
      </p:sp>
      <p:sp>
        <p:nvSpPr>
          <p:cNvPr id="206" name="Google Shape;206;p6"/>
          <p:cNvSpPr/>
          <p:nvPr/>
        </p:nvSpPr>
        <p:spPr>
          <a:xfrm>
            <a:off x="822960" y="413308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07" name="Google Shape;207;p6"/>
          <p:cNvSpPr txBox="1"/>
          <p:nvPr/>
        </p:nvSpPr>
        <p:spPr>
          <a:xfrm>
            <a:off x="822960" y="429768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First 10</a:t>
            </a:r>
            <a:endParaRPr sz="2400"/>
          </a:p>
        </p:txBody>
      </p:sp>
      <p:sp>
        <p:nvSpPr>
          <p:cNvPr id="208" name="Google Shape;208;p6"/>
          <p:cNvSpPr txBox="1"/>
          <p:nvPr/>
        </p:nvSpPr>
        <p:spPr>
          <a:xfrm>
            <a:off x="3657600" y="429768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People we interviewed and our friends test the prototype.</a:t>
            </a:r>
            <a:endParaRPr sz="2400"/>
          </a:p>
        </p:txBody>
      </p:sp>
      <p:sp>
        <p:nvSpPr>
          <p:cNvPr id="209" name="Google Shape;209;p6"/>
          <p:cNvSpPr txBox="1"/>
          <p:nvPr/>
        </p:nvSpPr>
        <p:spPr>
          <a:xfrm>
            <a:off x="10607040" y="429768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Help us build it.</a:t>
            </a:r>
            <a:endParaRPr sz="2400"/>
          </a:p>
        </p:txBody>
      </p:sp>
      <p:sp>
        <p:nvSpPr>
          <p:cNvPr id="210" name="Google Shape;210;p6"/>
          <p:cNvSpPr/>
          <p:nvPr/>
        </p:nvSpPr>
        <p:spPr>
          <a:xfrm>
            <a:off x="822960" y="545896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1" name="Google Shape;211;p6"/>
          <p:cNvSpPr txBox="1"/>
          <p:nvPr/>
        </p:nvSpPr>
        <p:spPr>
          <a:xfrm>
            <a:off x="822960" y="562356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First 100</a:t>
            </a:r>
            <a:endParaRPr sz="2400"/>
          </a:p>
        </p:txBody>
      </p:sp>
      <p:sp>
        <p:nvSpPr>
          <p:cNvPr id="212" name="Google Shape;212;p6"/>
          <p:cNvSpPr txBox="1"/>
          <p:nvPr/>
        </p:nvSpPr>
        <p:spPr>
          <a:xfrm>
            <a:off x="3657600" y="562356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Northeastern students they invite, plus clubs and group chats.</a:t>
            </a:r>
            <a:endParaRPr sz="2400"/>
          </a:p>
        </p:txBody>
      </p:sp>
      <p:sp>
        <p:nvSpPr>
          <p:cNvPr id="213" name="Google Shape;213;p6"/>
          <p:cNvSpPr txBox="1"/>
          <p:nvPr/>
        </p:nvSpPr>
        <p:spPr>
          <a:xfrm>
            <a:off x="10607040" y="562356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Every rating for a place, in one app.</a:t>
            </a:r>
            <a:endParaRPr sz="2400"/>
          </a:p>
        </p:txBody>
      </p:sp>
      <p:sp>
        <p:nvSpPr>
          <p:cNvPr id="214" name="Google Shape;214;p6"/>
          <p:cNvSpPr/>
          <p:nvPr/>
        </p:nvSpPr>
        <p:spPr>
          <a:xfrm>
            <a:off x="822960" y="678484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5" name="Google Shape;215;p6"/>
          <p:cNvSpPr txBox="1"/>
          <p:nvPr/>
        </p:nvSpPr>
        <p:spPr>
          <a:xfrm>
            <a:off x="822960" y="694944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First 1,000</a:t>
            </a:r>
            <a:endParaRPr sz="2400"/>
          </a:p>
        </p:txBody>
      </p:sp>
      <p:sp>
        <p:nvSpPr>
          <p:cNvPr id="216" name="Google Shape;216;p6"/>
          <p:cNvSpPr txBox="1"/>
          <p:nvPr/>
        </p:nvSpPr>
        <p:spPr>
          <a:xfrm>
            <a:off x="3657600" y="694944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Other Boston campuses, through student ambassadors and food posts.</a:t>
            </a:r>
            <a:endParaRPr sz="2400"/>
          </a:p>
        </p:txBody>
      </p:sp>
      <p:sp>
        <p:nvSpPr>
          <p:cNvPr id="217" name="Google Shape;217;p6"/>
          <p:cNvSpPr txBox="1"/>
          <p:nvPr/>
        </p:nvSpPr>
        <p:spPr>
          <a:xfrm>
            <a:off x="10607040" y="694944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One app instead of three.</a:t>
            </a:r>
            <a:endParaRPr sz="2400"/>
          </a:p>
        </p:txBody>
      </p:sp>
      <p:sp>
        <p:nvSpPr>
          <p:cNvPr id="218" name="Google Shape;218;p6"/>
          <p:cNvSpPr/>
          <p:nvPr/>
        </p:nvSpPr>
        <p:spPr>
          <a:xfrm>
            <a:off x="822960" y="811072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9" name="Google Shape;219;p6"/>
          <p:cNvSpPr txBox="1"/>
          <p:nvPr/>
        </p:nvSpPr>
        <p:spPr>
          <a:xfrm>
            <a:off x="822960" y="8458200"/>
            <a:ext cx="166422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If friends invite friends, our model reaches 12K users by the end of Year 1; about 80% of Beli’s users arrived that way.</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we’d make money</a:t>
            </a:r>
            <a:endParaRPr/>
          </a:p>
        </p:txBody>
      </p:sp>
      <p:sp>
        <p:nvSpPr>
          <p:cNvPr id="226" name="Google Shape;226;p7"/>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7</a:t>
            </a:r>
            <a:endParaRPr/>
          </a:p>
        </p:txBody>
      </p:sp>
      <p:sp>
        <p:nvSpPr>
          <p:cNvPr id="227" name="Google Shape;227;p7"/>
          <p:cNvSpPr txBox="1"/>
          <p:nvPr/>
        </p:nvSpPr>
        <p:spPr>
          <a:xfrm>
            <a:off x="822960" y="1208990"/>
            <a:ext cx="15087600" cy="677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We’d charge restaurants per diner sent, not for ads.</a:t>
            </a:r>
            <a:endParaRPr/>
          </a:p>
        </p:txBody>
      </p:sp>
      <p:sp>
        <p:nvSpPr>
          <p:cNvPr id="228" name="Google Shape;228;p7"/>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OpenTable pricing via Eat App, 2026. TechCrunch, Aug 2024 (Placer.ai).</a:t>
            </a:r>
            <a:endParaRPr/>
          </a:p>
        </p:txBody>
      </p:sp>
      <p:sp>
        <p:nvSpPr>
          <p:cNvPr id="229" name="Google Shape;229;p7"/>
          <p:cNvSpPr txBox="1"/>
          <p:nvPr/>
        </p:nvSpPr>
        <p:spPr>
          <a:xfrm>
            <a:off x="4206240" y="3657600"/>
            <a:ext cx="5029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Their problem</a:t>
            </a:r>
            <a:endParaRPr sz="2400"/>
          </a:p>
        </p:txBody>
      </p:sp>
      <p:sp>
        <p:nvSpPr>
          <p:cNvPr id="230" name="Google Shape;230;p7"/>
          <p:cNvSpPr txBox="1"/>
          <p:nvPr/>
        </p:nvSpPr>
        <p:spPr>
          <a:xfrm>
            <a:off x="9509760" y="3657600"/>
            <a:ext cx="56692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 charge</a:t>
            </a:r>
            <a:endParaRPr sz="2400"/>
          </a:p>
        </p:txBody>
      </p:sp>
      <p:sp>
        <p:nvSpPr>
          <p:cNvPr id="231" name="Google Shape;231;p7"/>
          <p:cNvSpPr txBox="1"/>
          <p:nvPr/>
        </p:nvSpPr>
        <p:spPr>
          <a:xfrm>
            <a:off x="15453360" y="365760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Year 5</a:t>
            </a:r>
            <a:endParaRPr sz="2400"/>
          </a:p>
        </p:txBody>
      </p:sp>
      <p:sp>
        <p:nvSpPr>
          <p:cNvPr id="232" name="Google Shape;232;p7"/>
          <p:cNvSpPr/>
          <p:nvPr/>
        </p:nvSpPr>
        <p:spPr>
          <a:xfrm>
            <a:off x="822960" y="41605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33" name="Google Shape;233;p7"/>
          <p:cNvSpPr txBox="1"/>
          <p:nvPr/>
        </p:nvSpPr>
        <p:spPr>
          <a:xfrm>
            <a:off x="822960" y="4206240"/>
            <a:ext cx="32004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Restaurants, booking sites, chains</a:t>
            </a:r>
            <a:endParaRPr sz="2400"/>
          </a:p>
        </p:txBody>
      </p:sp>
      <p:sp>
        <p:nvSpPr>
          <p:cNvPr id="234" name="Google Shape;234;p7"/>
          <p:cNvSpPr txBox="1"/>
          <p:nvPr/>
        </p:nvSpPr>
        <p:spPr>
          <a:xfrm>
            <a:off x="4206240" y="4206240"/>
            <a:ext cx="5029200" cy="132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Pay for ads up front and can’t tell what worked.</a:t>
            </a:r>
            <a:endParaRPr sz="2200"/>
          </a:p>
        </p:txBody>
      </p:sp>
      <p:sp>
        <p:nvSpPr>
          <p:cNvPr id="235" name="Google Shape;235;p7"/>
          <p:cNvSpPr txBox="1"/>
          <p:nvPr/>
        </p:nvSpPr>
        <p:spPr>
          <a:xfrm>
            <a:off x="9509760" y="4206240"/>
            <a:ext cx="5669280" cy="132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000000"/>
                </a:solidFill>
                <a:latin typeface="Poppins"/>
                <a:ea typeface="Poppins"/>
                <a:cs typeface="Poppins"/>
                <a:sym typeface="Poppins"/>
              </a:rPr>
              <a:t>About $0.90 per new diner whose visit started in our app, confirmed by receipt. Booking sites pay per table. Chains pay $6,000 a year per area from Year 3, counted from the month each signs.</a:t>
            </a:r>
            <a:endParaRPr sz="2200"/>
          </a:p>
        </p:txBody>
      </p:sp>
      <p:sp>
        <p:nvSpPr>
          <p:cNvPr id="236" name="Google Shape;236;p7"/>
          <p:cNvSpPr txBox="1"/>
          <p:nvPr/>
        </p:nvSpPr>
        <p:spPr>
          <a:xfrm>
            <a:off x="15453360" y="420624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$288K</a:t>
            </a:r>
            <a:endParaRPr sz="2400"/>
          </a:p>
        </p:txBody>
      </p:sp>
      <p:sp>
        <p:nvSpPr>
          <p:cNvPr id="237" name="Google Shape;237;p7"/>
          <p:cNvSpPr/>
          <p:nvPr/>
        </p:nvSpPr>
        <p:spPr>
          <a:xfrm>
            <a:off x="822960" y="6172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238" name="Google Shape;238;p7"/>
          <p:cNvSpPr txBox="1"/>
          <p:nvPr/>
        </p:nvSpPr>
        <p:spPr>
          <a:xfrm>
            <a:off x="822960" y="6355080"/>
            <a:ext cx="3200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Users</a:t>
            </a:r>
            <a:endParaRPr sz="2400"/>
          </a:p>
        </p:txBody>
      </p:sp>
      <p:sp>
        <p:nvSpPr>
          <p:cNvPr id="239" name="Google Shape;239;p7"/>
          <p:cNvSpPr txBox="1"/>
          <p:nvPr/>
        </p:nvSpPr>
        <p:spPr>
          <a:xfrm>
            <a:off x="4206240" y="6355080"/>
            <a:ext cx="5029200" cy="985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Want extras on top of a free app.</a:t>
            </a:r>
            <a:endParaRPr sz="2200"/>
          </a:p>
        </p:txBody>
      </p:sp>
      <p:sp>
        <p:nvSpPr>
          <p:cNvPr id="240" name="Google Shape;240;p7"/>
          <p:cNvSpPr txBox="1"/>
          <p:nvPr/>
        </p:nvSpPr>
        <p:spPr>
          <a:xfrm>
            <a:off x="9509760" y="6355080"/>
            <a:ext cx="5669280" cy="307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000000"/>
                </a:solidFill>
                <a:latin typeface="Poppins"/>
                <a:ea typeface="Poppins"/>
                <a:cs typeface="Poppins"/>
                <a:sym typeface="Poppins"/>
              </a:rPr>
              <a:t>An optional $5 a month membership.</a:t>
            </a:r>
            <a:endParaRPr sz="2200"/>
          </a:p>
        </p:txBody>
      </p:sp>
      <p:sp>
        <p:nvSpPr>
          <p:cNvPr id="241" name="Google Shape;241;p7"/>
          <p:cNvSpPr txBox="1"/>
          <p:nvPr/>
        </p:nvSpPr>
        <p:spPr>
          <a:xfrm>
            <a:off x="15453360" y="635508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$67K</a:t>
            </a:r>
            <a:endParaRPr sz="2400"/>
          </a:p>
        </p:txBody>
      </p:sp>
      <p:sp>
        <p:nvSpPr>
          <p:cNvPr id="242" name="Google Shape;242;p7"/>
          <p:cNvSpPr/>
          <p:nvPr/>
        </p:nvSpPr>
        <p:spPr>
          <a:xfrm>
            <a:off x="822960" y="790956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43" name="Google Shape;243;p7"/>
          <p:cNvSpPr txBox="1"/>
          <p:nvPr/>
        </p:nvSpPr>
        <p:spPr>
          <a:xfrm>
            <a:off x="822960" y="813816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In our model, two sides pay: $356K in Year 5. Paying never changes a score or a ranking.</a:t>
            </a:r>
            <a:endParaRPr sz="2400"/>
          </a:p>
        </p:txBody>
      </p:sp>
      <p:sp>
        <p:nvSpPr>
          <p:cNvPr id="244" name="Google Shape;244;p7"/>
          <p:cNvSpPr txBox="1"/>
          <p:nvPr/>
        </p:nvSpPr>
        <p:spPr>
          <a:xfrm>
            <a:off x="822960" y="873252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000000"/>
                </a:solidFill>
                <a:latin typeface="Poppins"/>
                <a:ea typeface="Poppins"/>
                <a:cs typeface="Poppins"/>
                <a:sym typeface="Poppins"/>
              </a:rPr>
              <a:t xml:space="preserve">Not yet tested with owners. </a:t>
            </a:r>
            <a:r>
              <a:rPr b="0" i="0" lang="en-US" sz="2400" u="none" cap="none" strike="noStrike">
                <a:solidFill>
                  <a:srgbClr val="434343"/>
                </a:solidFill>
                <a:latin typeface="Poppins"/>
                <a:ea typeface="Poppins"/>
                <a:cs typeface="Poppins"/>
                <a:sym typeface="Poppins"/>
              </a:rPr>
              <a:t>Next: five owner calls, each with a free 30-day pilot and a diner report.</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676"/>
        </a:solidFill>
        <a:effectLst/>
      </p:bgPr>
    </p:bg>
    <p:spTree>
      <p:nvGrpSpPr>
        <p:cNvPr id="249" name="Shape 249"/>
        <p:cNvGrpSpPr/>
        <p:nvPr/>
      </p:nvGrpSpPr>
      <p:grpSpPr>
        <a:xfrm>
          <a:off x="0" y="0"/>
          <a:ext cx="0" cy="0"/>
          <a:chOff x="0" y="0"/>
          <a:chExt cx="0" cy="0"/>
        </a:xfrm>
      </p:grpSpPr>
      <p:sp>
        <p:nvSpPr>
          <p:cNvPr id="250" name="Google Shape;250;p8"/>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2E2D12"/>
                </a:solidFill>
                <a:latin typeface="Poppins"/>
                <a:ea typeface="Poppins"/>
                <a:cs typeface="Poppins"/>
                <a:sym typeface="Poppins"/>
              </a:rPr>
              <a:t>What we learned from rivals</a:t>
            </a:r>
            <a:endParaRPr/>
          </a:p>
        </p:txBody>
      </p:sp>
      <p:sp>
        <p:nvSpPr>
          <p:cNvPr id="251" name="Google Shape;251;p8"/>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2E2D12"/>
                </a:solidFill>
                <a:latin typeface="Poppins"/>
                <a:ea typeface="Poppins"/>
                <a:cs typeface="Poppins"/>
                <a:sym typeface="Poppins"/>
              </a:rPr>
              <a:t>8</a:t>
            </a:r>
            <a:endParaRPr/>
          </a:p>
        </p:txBody>
      </p:sp>
      <p:sp>
        <p:nvSpPr>
          <p:cNvPr id="252" name="Google Shape;252;p8"/>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The apps closest to us took years to make money, </a:t>
            </a:r>
            <a:r>
              <a:rPr b="0" i="0" lang="en-US" sz="4400" u="none" cap="none" strike="noStrike">
                <a:solidFill>
                  <a:srgbClr val="2E2D12"/>
                </a:solidFill>
                <a:latin typeface="Poppins"/>
                <a:ea typeface="Poppins"/>
                <a:cs typeface="Poppins"/>
                <a:sym typeface="Poppins"/>
              </a:rPr>
              <a:t>so we kept our costs low.</a:t>
            </a:r>
            <a:endParaRPr/>
          </a:p>
        </p:txBody>
      </p:sp>
      <p:sp>
        <p:nvSpPr>
          <p:cNvPr id="253" name="Google Shape;253;p8"/>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2E2D12"/>
                </a:solidFill>
                <a:latin typeface="Roboto Mono"/>
                <a:ea typeface="Roboto Mono"/>
                <a:cs typeface="Roboto Mono"/>
                <a:sym typeface="Roboto Mono"/>
              </a:rPr>
              <a:t>OpenTable Form S-1, 2009. TechCrunch, May 2019 (Resy). Sensor Tower in the Boston Globe, Nov 2025, and Wall Street Journal, May 2025 (Beli). Resy never reported a profit.</a:t>
            </a:r>
            <a:endParaRPr/>
          </a:p>
        </p:txBody>
      </p:sp>
      <p:sp>
        <p:nvSpPr>
          <p:cNvPr id="254" name="Google Shape;254;p8"/>
          <p:cNvSpPr txBox="1"/>
          <p:nvPr/>
        </p:nvSpPr>
        <p:spPr>
          <a:xfrm>
            <a:off x="3657600" y="365760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E2D12"/>
                </a:solidFill>
                <a:latin typeface="Poppins"/>
                <a:ea typeface="Poppins"/>
                <a:cs typeface="Poppins"/>
                <a:sym typeface="Poppins"/>
              </a:rPr>
              <a:t>What happened to them</a:t>
            </a:r>
            <a:endParaRPr sz="2400"/>
          </a:p>
        </p:txBody>
      </p:sp>
      <p:sp>
        <p:nvSpPr>
          <p:cNvPr id="255" name="Google Shape;255;p8"/>
          <p:cNvSpPr txBox="1"/>
          <p:nvPr/>
        </p:nvSpPr>
        <p:spPr>
          <a:xfrm>
            <a:off x="10607040" y="365760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E2D12"/>
                </a:solidFill>
                <a:latin typeface="Poppins"/>
                <a:ea typeface="Poppins"/>
                <a:cs typeface="Poppins"/>
                <a:sym typeface="Poppins"/>
              </a:rPr>
              <a:t>What we did about it</a:t>
            </a:r>
            <a:endParaRPr sz="2400"/>
          </a:p>
        </p:txBody>
      </p:sp>
      <p:sp>
        <p:nvSpPr>
          <p:cNvPr id="256" name="Google Shape;256;p8"/>
          <p:cNvSpPr/>
          <p:nvPr/>
        </p:nvSpPr>
        <p:spPr>
          <a:xfrm>
            <a:off x="822960" y="413308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57" name="Google Shape;257;p8"/>
          <p:cNvSpPr txBox="1"/>
          <p:nvPr/>
        </p:nvSpPr>
        <p:spPr>
          <a:xfrm>
            <a:off x="822960" y="429768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OpenTable</a:t>
            </a:r>
            <a:endParaRPr sz="2400"/>
          </a:p>
        </p:txBody>
      </p:sp>
      <p:sp>
        <p:nvSpPr>
          <p:cNvPr id="258" name="Google Shape;258;p8"/>
          <p:cNvSpPr txBox="1"/>
          <p:nvPr/>
        </p:nvSpPr>
        <p:spPr>
          <a:xfrm>
            <a:off x="3657600" y="429768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Nine years to a profit, $57M lost getting there.</a:t>
            </a:r>
            <a:endParaRPr sz="2400"/>
          </a:p>
        </p:txBody>
      </p:sp>
      <p:sp>
        <p:nvSpPr>
          <p:cNvPr id="259" name="Google Shape;259;p8"/>
          <p:cNvSpPr txBox="1"/>
          <p:nvPr/>
        </p:nvSpPr>
        <p:spPr>
          <a:xfrm>
            <a:off x="10607040" y="429768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No founder salaries. Co-op students before full-time hires.</a:t>
            </a:r>
            <a:endParaRPr sz="2400"/>
          </a:p>
        </p:txBody>
      </p:sp>
      <p:sp>
        <p:nvSpPr>
          <p:cNvPr id="260" name="Google Shape;260;p8"/>
          <p:cNvSpPr/>
          <p:nvPr/>
        </p:nvSpPr>
        <p:spPr>
          <a:xfrm>
            <a:off x="822960" y="545896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1" name="Google Shape;261;p8"/>
          <p:cNvSpPr txBox="1"/>
          <p:nvPr/>
        </p:nvSpPr>
        <p:spPr>
          <a:xfrm>
            <a:off x="822960" y="562356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Resy</a:t>
            </a:r>
            <a:endParaRPr sz="2400"/>
          </a:p>
        </p:txBody>
      </p:sp>
      <p:sp>
        <p:nvSpPr>
          <p:cNvPr id="262" name="Google Shape;262;p8"/>
          <p:cNvSpPr txBox="1"/>
          <p:nvPr/>
        </p:nvSpPr>
        <p:spPr>
          <a:xfrm>
            <a:off x="3657600" y="562356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Ran on $45M of investor money, then sold.</a:t>
            </a:r>
            <a:endParaRPr sz="2400"/>
          </a:p>
        </p:txBody>
      </p:sp>
      <p:sp>
        <p:nvSpPr>
          <p:cNvPr id="263" name="Google Shape;263;p8"/>
          <p:cNvSpPr txBox="1"/>
          <p:nvPr/>
        </p:nvSpPr>
        <p:spPr>
          <a:xfrm>
            <a:off x="10607040" y="5623560"/>
            <a:ext cx="68580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Costs low enough to need $240K, starting with grants.</a:t>
            </a:r>
            <a:endParaRPr sz="2400"/>
          </a:p>
        </p:txBody>
      </p:sp>
      <p:sp>
        <p:nvSpPr>
          <p:cNvPr id="264" name="Google Shape;264;p8"/>
          <p:cNvSpPr/>
          <p:nvPr/>
        </p:nvSpPr>
        <p:spPr>
          <a:xfrm>
            <a:off x="822960" y="678484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5" name="Google Shape;265;p8"/>
          <p:cNvSpPr txBox="1"/>
          <p:nvPr/>
        </p:nvSpPr>
        <p:spPr>
          <a:xfrm>
            <a:off x="822960" y="694944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Beli</a:t>
            </a:r>
            <a:endParaRPr sz="2400"/>
          </a:p>
        </p:txBody>
      </p:sp>
      <p:sp>
        <p:nvSpPr>
          <p:cNvPr id="266" name="Google Shape;266;p8"/>
          <p:cNvSpPr txBox="1"/>
          <p:nvPr/>
        </p:nvSpPr>
        <p:spPr>
          <a:xfrm>
            <a:off x="3657600" y="694944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1.1M monthly users, mostly through friends, five people, almost no revenue.</a:t>
            </a:r>
            <a:endParaRPr sz="2400"/>
          </a:p>
        </p:txBody>
      </p:sp>
      <p:sp>
        <p:nvSpPr>
          <p:cNvPr id="267" name="Google Shape;267;p8"/>
          <p:cNvSpPr txBox="1"/>
          <p:nvPr/>
        </p:nvSpPr>
        <p:spPr>
          <a:xfrm>
            <a:off x="10607040" y="6949440"/>
            <a:ext cx="68580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A quarter of Beli’s size, almost no ad spending, restaurants paying from Year 2.</a:t>
            </a:r>
            <a:endParaRPr sz="2400"/>
          </a:p>
        </p:txBody>
      </p:sp>
      <p:sp>
        <p:nvSpPr>
          <p:cNvPr id="268" name="Google Shape;268;p8"/>
          <p:cNvSpPr/>
          <p:nvPr/>
        </p:nvSpPr>
        <p:spPr>
          <a:xfrm>
            <a:off x="822960" y="811072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9" name="Google Shape;269;p8"/>
          <p:cNvSpPr txBox="1"/>
          <p:nvPr/>
        </p:nvSpPr>
        <p:spPr>
          <a:xfrm>
            <a:off x="822960" y="845820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The trade-off: a smaller team, and it only works if restaurants sign 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9"/>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The numbers</a:t>
            </a:r>
            <a:endParaRPr/>
          </a:p>
        </p:txBody>
      </p:sp>
      <p:sp>
        <p:nvSpPr>
          <p:cNvPr id="276" name="Google Shape;276;p9"/>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9</a:t>
            </a:r>
            <a:endParaRPr/>
          </a:p>
        </p:txBody>
      </p:sp>
      <p:sp>
        <p:nvSpPr>
          <p:cNvPr id="277" name="Google Shape;277;p9"/>
          <p:cNvSpPr txBox="1"/>
          <p:nvPr/>
        </p:nvSpPr>
        <p:spPr>
          <a:xfrm>
            <a:off x="822960" y="1234440"/>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 plan to spend about $11K a quarter for two years. </a:t>
            </a:r>
            <a:r>
              <a:rPr b="0" i="0" lang="en-US" sz="4400" u="none" cap="none" strike="noStrike">
                <a:solidFill>
                  <a:srgbClr val="595959"/>
                </a:solidFill>
                <a:latin typeface="Poppins"/>
                <a:ea typeface="Poppins"/>
                <a:cs typeface="Poppins"/>
                <a:sym typeface="Poppins"/>
              </a:rPr>
              <a:t>Our model shows a first profit in Year 5.</a:t>
            </a:r>
            <a:endParaRPr/>
          </a:p>
        </p:txBody>
      </p:sp>
      <p:sp>
        <p:nvSpPr>
          <p:cNvPr id="278" name="Google Shape;278;p9"/>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$K. Years 1 and 2 by quarter, years 3 to 5 by year. From our Gate 2 model; assumptions and sources are in the workbook.</a:t>
            </a:r>
            <a:endParaRPr/>
          </a:p>
        </p:txBody>
      </p:sp>
      <p:graphicFrame>
        <p:nvGraphicFramePr>
          <p:cNvPr id="279" name="Google Shape;279;p9"/>
          <p:cNvGraphicFramePr/>
          <p:nvPr/>
        </p:nvGraphicFramePr>
        <p:xfrm>
          <a:off x="822960" y="3611880"/>
          <a:ext cx="3000000" cy="3000000"/>
        </p:xfrm>
        <a:graphic>
          <a:graphicData uri="http://schemas.openxmlformats.org/drawingml/2006/table">
            <a:tbl>
              <a:tblPr bandRow="1" firstRow="1">
                <a:noFill/>
                <a:tableStyleId>{97F22518-C55D-4401-A6EB-0ED8D26C8151}</a:tableStyleId>
              </a:tblPr>
              <a:tblGrid>
                <a:gridCol w="2420000"/>
                <a:gridCol w="1346859"/>
                <a:gridCol w="1346859"/>
                <a:gridCol w="1346859"/>
                <a:gridCol w="1346859"/>
                <a:gridCol w="1346859"/>
                <a:gridCol w="1346859"/>
                <a:gridCol w="1346859"/>
                <a:gridCol w="1346859"/>
                <a:gridCol w="1143000"/>
                <a:gridCol w="1143000"/>
                <a:gridCol w="1143000"/>
              </a:tblGrid>
              <a:tr h="512075">
                <a:tc>
                  <a:txBody>
                    <a:bodyPr/>
                    <a:lstStyle/>
                    <a:p>
                      <a:pPr indent="0" lvl="0" marL="0" marR="0" rtl="0" algn="l">
                        <a:spcBef>
                          <a:spcPts val="0"/>
                        </a:spcBef>
                        <a:spcAft>
                          <a:spcPts val="0"/>
                        </a:spcAft>
                        <a:buNone/>
                      </a:pPr>
                      <a:r>
                        <a:rPr b="1" lang="en-US" sz="1800" u="none" cap="none" strike="noStrike">
                          <a:solidFill>
                            <a:srgbClr val="6F6B34"/>
                          </a:solidFill>
                          <a:latin typeface="Poppins"/>
                          <a:ea typeface="Poppins"/>
                          <a:cs typeface="Poppins"/>
                          <a:sym typeface="Poppins"/>
                        </a:rPr>
                        <a:t>$K</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Q5</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Yr 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Yr 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Yr 5</a:t>
                      </a:r>
                      <a:endParaRPr/>
                    </a:p>
                  </a:txBody>
                  <a:tcPr marT="27425" marB="27425" marR="73150" marL="73150" anchor="ctr">
                    <a:solidFill>
                      <a:srgbClr val="FFFFFF"/>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Poppins"/>
                          <a:ea typeface="Poppins"/>
                          <a:cs typeface="Poppins"/>
                          <a:sym typeface="Poppins"/>
                        </a:rPr>
                        <a:t>Active users (K)</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5.4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12.0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15.2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19.3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24.5</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31.1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80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208</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540</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1" lang="en-US" sz="1800" u="none" cap="none" strike="noStrike">
                          <a:solidFill>
                            <a:srgbClr val="000000"/>
                          </a:solidFill>
                          <a:latin typeface="Poppins"/>
                          <a:ea typeface="Poppins"/>
                          <a:cs typeface="Poppins"/>
                          <a:sym typeface="Poppins"/>
                        </a:rPr>
                        <a:t>Revenue</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2000" u="none" cap="none" strike="noStrike">
                          <a:solidFill>
                            <a:srgbClr val="000000"/>
                          </a:solidFill>
                          <a:latin typeface="Poppins"/>
                          <a:ea typeface="Poppins"/>
                          <a:cs typeface="Poppins"/>
                          <a:sym typeface="Poppins"/>
                        </a:rPr>
                        <a:t>2.0</a:t>
                      </a:r>
                      <a:endParaRPr/>
                    </a:p>
                  </a:txBody>
                  <a:tcPr marT="27425" marB="27425" marR="73150" marL="73150" anchor="ctr">
                    <a:solidFill>
                      <a:srgbClr val="AAA676"/>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2.6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3.3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4.2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50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140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356</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Poppins"/>
                          <a:ea typeface="Poppins"/>
                          <a:cs typeface="Poppins"/>
                          <a:sym typeface="Poppins"/>
                        </a:rPr>
                        <a:t>Spending</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10.9</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117</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191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283</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1" lang="en-US" sz="1800" u="none" cap="none" strike="noStrike">
                          <a:solidFill>
                            <a:srgbClr val="000000"/>
                          </a:solidFill>
                          <a:latin typeface="Poppins"/>
                          <a:ea typeface="Poppins"/>
                          <a:cs typeface="Poppins"/>
                          <a:sym typeface="Poppins"/>
                        </a:rPr>
                        <a:t>Profit or loss</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(8.8)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(8.3)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(7.7)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(7.0)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(67)</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(51)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2000" u="none" cap="none" strike="noStrike">
                          <a:solidFill>
                            <a:srgbClr val="000000"/>
                          </a:solidFill>
                          <a:latin typeface="Poppins"/>
                          <a:ea typeface="Poppins"/>
                          <a:cs typeface="Poppins"/>
                          <a:sym typeface="Poppins"/>
                        </a:rPr>
                        <a:t>72</a:t>
                      </a:r>
                      <a:endParaRPr/>
                    </a:p>
                  </a:txBody>
                  <a:tcPr marT="27425" marB="27425" marR="73150" marL="73150" anchor="ctr">
                    <a:solidFill>
                      <a:srgbClr val="AAA676"/>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Poppins"/>
                          <a:ea typeface="Poppins"/>
                          <a:cs typeface="Poppins"/>
                          <a:sym typeface="Poppins"/>
                        </a:rPr>
                        <a:t>Cumulative</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(32)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(43)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(51)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(60)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(67)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(74)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(141)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2000" u="none" cap="none" strike="noStrike">
                          <a:solidFill>
                            <a:srgbClr val="000000"/>
                          </a:solidFill>
                          <a:latin typeface="Poppins"/>
                          <a:ea typeface="Poppins"/>
                          <a:cs typeface="Poppins"/>
                          <a:sym typeface="Poppins"/>
                        </a:rPr>
                        <a:t>(192)</a:t>
                      </a:r>
                      <a:endParaRPr/>
                    </a:p>
                  </a:txBody>
                  <a:tcPr marT="27425" marB="27425" marR="73150" marL="73150" anchor="ctr">
                    <a:solidFill>
                      <a:srgbClr val="AAA676"/>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(120)</a:t>
                      </a:r>
                      <a:endParaRPr/>
                    </a:p>
                  </a:txBody>
                  <a:tcPr marT="27425" marB="27425" marR="73150" marL="73150" anchor="ctr">
                    <a:solidFill>
                      <a:srgbClr val="F4F3EC"/>
                    </a:solidFill>
                  </a:tcPr>
                </a:tc>
              </a:tr>
            </a:tbl>
          </a:graphicData>
        </a:graphic>
      </p:graphicFrame>
      <p:sp>
        <p:nvSpPr>
          <p:cNvPr id="280" name="Google Shape;280;p9"/>
          <p:cNvSpPr/>
          <p:nvPr/>
        </p:nvSpPr>
        <p:spPr>
          <a:xfrm>
            <a:off x="822960" y="4123944"/>
            <a:ext cx="16623792" cy="13716"/>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9"/>
          <p:cNvSpPr txBox="1"/>
          <p:nvPr/>
        </p:nvSpPr>
        <p:spPr>
          <a:xfrm>
            <a:off x="877835" y="6995160"/>
            <a:ext cx="28347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800" u="none" cap="none" strike="noStrike">
                <a:solidFill>
                  <a:srgbClr val="6F6B34"/>
                </a:solidFill>
                <a:latin typeface="Poppins"/>
                <a:ea typeface="Poppins"/>
                <a:cs typeface="Poppins"/>
                <a:sym typeface="Poppins"/>
              </a:rPr>
              <a:t>What happens</a:t>
            </a:r>
            <a:endParaRPr sz="1800"/>
          </a:p>
        </p:txBody>
      </p:sp>
      <p:sp>
        <p:nvSpPr>
          <p:cNvPr id="282" name="Google Shape;282;p9"/>
          <p:cNvSpPr txBox="1"/>
          <p:nvPr/>
        </p:nvSpPr>
        <p:spPr>
          <a:xfrm>
            <a:off x="3242960"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Build the app</a:t>
            </a:r>
            <a:endParaRPr sz="1600"/>
          </a:p>
        </p:txBody>
      </p:sp>
      <p:sp>
        <p:nvSpPr>
          <p:cNvPr id="283" name="Google Shape;283;p9"/>
          <p:cNvSpPr txBox="1"/>
          <p:nvPr/>
        </p:nvSpPr>
        <p:spPr>
          <a:xfrm>
            <a:off x="4589819"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Launch in Boston</a:t>
            </a:r>
            <a:endParaRPr sz="1600"/>
          </a:p>
        </p:txBody>
      </p:sp>
      <p:sp>
        <p:nvSpPr>
          <p:cNvPr id="284" name="Google Shape;284;p9"/>
          <p:cNvSpPr txBox="1"/>
          <p:nvPr/>
        </p:nvSpPr>
        <p:spPr>
          <a:xfrm>
            <a:off x="5936678"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Grow by referral</a:t>
            </a:r>
            <a:endParaRPr sz="1600"/>
          </a:p>
        </p:txBody>
      </p:sp>
      <p:sp>
        <p:nvSpPr>
          <p:cNvPr id="285" name="Google Shape;285;p9"/>
          <p:cNvSpPr txBox="1"/>
          <p:nvPr/>
        </p:nvSpPr>
        <p:spPr>
          <a:xfrm>
            <a:off x="7283537"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12K users</a:t>
            </a:r>
            <a:endParaRPr sz="1600"/>
          </a:p>
        </p:txBody>
      </p:sp>
      <p:sp>
        <p:nvSpPr>
          <p:cNvPr id="286" name="Google Shape;286;p9"/>
          <p:cNvSpPr txBox="1"/>
          <p:nvPr/>
        </p:nvSpPr>
        <p:spPr>
          <a:xfrm>
            <a:off x="8630396"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First revenue</a:t>
            </a:r>
            <a:endParaRPr sz="1600"/>
          </a:p>
        </p:txBody>
      </p:sp>
      <p:sp>
        <p:nvSpPr>
          <p:cNvPr id="287" name="Google Shape;287;p9"/>
          <p:cNvSpPr txBox="1"/>
          <p:nvPr/>
        </p:nvSpPr>
        <p:spPr>
          <a:xfrm>
            <a:off x="9977255"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More restaurants</a:t>
            </a:r>
            <a:endParaRPr sz="1600"/>
          </a:p>
        </p:txBody>
      </p:sp>
      <p:sp>
        <p:nvSpPr>
          <p:cNvPr id="288" name="Google Shape;288;p9"/>
          <p:cNvSpPr txBox="1"/>
          <p:nvPr/>
        </p:nvSpPr>
        <p:spPr>
          <a:xfrm>
            <a:off x="11324114"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Pitch chains</a:t>
            </a:r>
            <a:endParaRPr sz="1600"/>
          </a:p>
        </p:txBody>
      </p:sp>
      <p:sp>
        <p:nvSpPr>
          <p:cNvPr id="289" name="Google Shape;289;p9"/>
          <p:cNvSpPr txBox="1"/>
          <p:nvPr/>
        </p:nvSpPr>
        <p:spPr>
          <a:xfrm>
            <a:off x="12670973"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Hire co-op</a:t>
            </a:r>
            <a:endParaRPr sz="1600"/>
          </a:p>
        </p:txBody>
      </p:sp>
      <p:sp>
        <p:nvSpPr>
          <p:cNvPr id="290" name="Google Shape;290;p9"/>
          <p:cNvSpPr txBox="1"/>
          <p:nvPr/>
        </p:nvSpPr>
        <p:spPr>
          <a:xfrm>
            <a:off x="14017832" y="6995160"/>
            <a:ext cx="3355850"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Co-op students: 1, 2 and 3 in Years 3 to 5.</a:t>
            </a:r>
            <a:endParaRPr sz="1600"/>
          </a:p>
        </p:txBody>
      </p:sp>
      <p:sp>
        <p:nvSpPr>
          <p:cNvPr id="291" name="Google Shape;291;p9"/>
          <p:cNvSpPr txBox="1"/>
          <p:nvPr/>
        </p:nvSpPr>
        <p:spPr>
          <a:xfrm>
            <a:off x="822960" y="8503920"/>
            <a:ext cx="1664208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434343"/>
                </a:solidFill>
                <a:latin typeface="Poppins"/>
                <a:ea typeface="Poppins"/>
                <a:cs typeface="Poppins"/>
                <a:sym typeface="Poppins"/>
              </a:rPr>
              <a:t>Highlighted: first revenue, the $192K low, and first profit. That low plus a 25% cushion sets the $240K total. Each quarter of Years 1 and 2: $7,500 developer, $1,500 marketing, $1,500 legal and insurance, plus hosting. Nobody else is paid until the angel round funds Year 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0"/>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we’d fund it</a:t>
            </a:r>
            <a:endParaRPr/>
          </a:p>
        </p:txBody>
      </p:sp>
      <p:sp>
        <p:nvSpPr>
          <p:cNvPr id="298" name="Google Shape;298;p10"/>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10</a:t>
            </a:r>
            <a:endParaRPr/>
          </a:p>
        </p:txBody>
      </p:sp>
      <p:sp>
        <p:nvSpPr>
          <p:cNvPr id="299" name="Google Shape;299;p10"/>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We’d start on grants, as Beli did. </a:t>
            </a:r>
            <a:r>
              <a:rPr b="0" i="0" lang="en-US" sz="4400" u="none" cap="none" strike="noStrike">
                <a:solidFill>
                  <a:srgbClr val="595959"/>
                </a:solidFill>
                <a:latin typeface="Poppins"/>
                <a:ea typeface="Poppins"/>
                <a:cs typeface="Poppins"/>
                <a:sym typeface="Poppins"/>
              </a:rPr>
              <a:t>One angel round of about $166K gets us to a first profitable year.</a:t>
            </a:r>
            <a:endParaRPr/>
          </a:p>
        </p:txBody>
      </p:sp>
      <p:sp>
        <p:nvSpPr>
          <p:cNvPr id="300" name="Google Shape;300;p10"/>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Beli: Wikipedia (Harvard grants); CB Insights ($5.3M, Nov 2023); Boston Globe, Nov 2025 (users). IDEA Gap Fund: Northeastern Global News. Amounts are from our Gate 2 model.</a:t>
            </a:r>
            <a:endParaRPr/>
          </a:p>
        </p:txBody>
      </p:sp>
      <p:sp>
        <p:nvSpPr>
          <p:cNvPr id="301" name="Google Shape;301;p10"/>
          <p:cNvSpPr txBox="1"/>
          <p:nvPr/>
        </p:nvSpPr>
        <p:spPr>
          <a:xfrm>
            <a:off x="5760720" y="3657600"/>
            <a:ext cx="393192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When</a:t>
            </a:r>
            <a:endParaRPr/>
          </a:p>
        </p:txBody>
      </p:sp>
      <p:sp>
        <p:nvSpPr>
          <p:cNvPr id="302" name="Google Shape;302;p10"/>
          <p:cNvSpPr txBox="1"/>
          <p:nvPr/>
        </p:nvSpPr>
        <p:spPr>
          <a:xfrm>
            <a:off x="10058400" y="3657600"/>
            <a:ext cx="7406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we'd show to get it</a:t>
            </a:r>
            <a:endParaRPr/>
          </a:p>
        </p:txBody>
      </p:sp>
      <p:sp>
        <p:nvSpPr>
          <p:cNvPr id="303" name="Google Shape;303;p10"/>
          <p:cNvSpPr/>
          <p:nvPr/>
        </p:nvSpPr>
        <p:spPr>
          <a:xfrm>
            <a:off x="822960" y="413308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10"/>
          <p:cNvSpPr txBox="1"/>
          <p:nvPr/>
        </p:nvSpPr>
        <p:spPr>
          <a:xfrm>
            <a:off x="822960" y="4343400"/>
            <a:ext cx="4754880" cy="10058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Grants and competitions, about $74K</a:t>
            </a:r>
            <a:endParaRPr/>
          </a:p>
        </p:txBody>
      </p:sp>
      <p:sp>
        <p:nvSpPr>
          <p:cNvPr id="305" name="Google Shape;305;p10"/>
          <p:cNvSpPr txBox="1"/>
          <p:nvPr/>
        </p:nvSpPr>
        <p:spPr>
          <a:xfrm>
            <a:off x="5760720" y="434340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Years 1 and 2</a:t>
            </a:r>
            <a:endParaRPr/>
          </a:p>
        </p:txBody>
      </p:sp>
      <p:sp>
        <p:nvSpPr>
          <p:cNvPr id="306" name="Google Shape;306;p10"/>
          <p:cNvSpPr txBox="1"/>
          <p:nvPr/>
        </p:nvSpPr>
        <p:spPr>
          <a:xfrm>
            <a:off x="10058400" y="4343400"/>
            <a:ext cx="7406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IDEA Gap Fund and Boston pitch competitions. If we fall short, or the round slips, we cover the gap ourselves.</a:t>
            </a:r>
            <a:endParaRPr/>
          </a:p>
        </p:txBody>
      </p:sp>
      <p:sp>
        <p:nvSpPr>
          <p:cNvPr id="307" name="Google Shape;307;p10"/>
          <p:cNvSpPr/>
          <p:nvPr/>
        </p:nvSpPr>
        <p:spPr>
          <a:xfrm>
            <a:off x="822960" y="57607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0"/>
          <p:cNvSpPr txBox="1"/>
          <p:nvPr/>
        </p:nvSpPr>
        <p:spPr>
          <a:xfrm>
            <a:off x="822960" y="5989320"/>
            <a:ext cx="4754880" cy="10058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One angel round, about $166K</a:t>
            </a:r>
            <a:endParaRPr/>
          </a:p>
        </p:txBody>
      </p:sp>
      <p:sp>
        <p:nvSpPr>
          <p:cNvPr id="309" name="Google Shape;309;p10"/>
          <p:cNvSpPr txBox="1"/>
          <p:nvPr/>
        </p:nvSpPr>
        <p:spPr>
          <a:xfrm>
            <a:off x="5760720" y="598932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End of Year 2</a:t>
            </a:r>
            <a:endParaRPr/>
          </a:p>
        </p:txBody>
      </p:sp>
      <p:sp>
        <p:nvSpPr>
          <p:cNvPr id="310" name="Google Shape;310;p10"/>
          <p:cNvSpPr txBox="1"/>
          <p:nvPr/>
        </p:nvSpPr>
        <p:spPr>
          <a:xfrm>
            <a:off x="10058400" y="5989320"/>
            <a:ext cx="7406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31K Boston users, restaurants paying for four quarters, and receipt-proven visits.</a:t>
            </a:r>
            <a:endParaRPr/>
          </a:p>
        </p:txBody>
      </p:sp>
      <p:sp>
        <p:nvSpPr>
          <p:cNvPr id="311" name="Google Shape;311;p10"/>
          <p:cNvSpPr/>
          <p:nvPr/>
        </p:nvSpPr>
        <p:spPr>
          <a:xfrm>
            <a:off x="822960" y="73609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0"/>
          <p:cNvSpPr txBox="1"/>
          <p:nvPr/>
        </p:nvSpPr>
        <p:spPr>
          <a:xfrm>
            <a:off x="822960" y="768096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$74K in grants plus $166K from angels: $240K in all. At $356K of Year 5 revenue we're too small for venture funds, so the angels' way out is a sale to a bigger platform or a card company, as Resy sold to American Express.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In summary</a:t>
            </a:r>
            <a:endParaRPr/>
          </a:p>
        </p:txBody>
      </p:sp>
      <p:sp>
        <p:nvSpPr>
          <p:cNvPr id="114" name="Google Shape;114;p2"/>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11</a:t>
            </a:r>
            <a:endParaRPr/>
          </a:p>
        </p:txBody>
      </p:sp>
      <p:sp>
        <p:nvSpPr>
          <p:cNvPr id="115" name="Google Shape;115;p2"/>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Right now, picking a place to eat takes three apps. </a:t>
            </a:r>
            <a:r>
              <a:rPr b="0" i="0" lang="en-US" sz="4400" u="none" cap="none" strike="noStrike">
                <a:solidFill>
                  <a:srgbClr val="595959"/>
                </a:solidFill>
                <a:latin typeface="Poppins"/>
                <a:ea typeface="Poppins"/>
                <a:cs typeface="Poppins"/>
                <a:sym typeface="Poppins"/>
              </a:rPr>
              <a:t>We think it could take one.</a:t>
            </a:r>
            <a:endParaRPr/>
          </a:p>
        </p:txBody>
      </p:sp>
      <p:sp>
        <p:nvSpPr>
          <p:cNvPr id="900" name="Google Shape;900;p2"/>
          <p:cNvSpPr txBox="1"/>
          <p:nvPr/>
        </p:nvSpPr>
        <p:spPr>
          <a:xfrm>
            <a:off x="82296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Trust</a:t>
            </a:r>
            <a:endParaRPr/>
          </a:p>
        </p:txBody>
      </p:sp>
      <p:sp>
        <p:nvSpPr>
          <p:cNvPr id="901" name="Google Shape;901;p2"/>
          <p:cNvSpPr txBox="1"/>
          <p:nvPr/>
        </p:nvSpPr>
        <p:spPr>
          <a:xfrm>
            <a:off x="82296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Only diners who proved they ate there count toward our score.</a:t>
            </a:r>
            <a:endParaRPr/>
          </a:p>
        </p:txBody>
      </p:sp>
      <p:sp>
        <p:nvSpPr>
          <p:cNvPr id="902" name="Google Shape;902;p2"/>
          <p:cNvSpPr txBox="1"/>
          <p:nvPr/>
        </p:nvSpPr>
        <p:spPr>
          <a:xfrm>
            <a:off x="649224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Money</a:t>
            </a:r>
            <a:endParaRPr/>
          </a:p>
        </p:txBody>
      </p:sp>
      <p:sp>
        <p:nvSpPr>
          <p:cNvPr id="903" name="Google Shape;903;p2"/>
          <p:cNvSpPr txBox="1"/>
          <p:nvPr/>
        </p:nvSpPr>
        <p:spPr>
          <a:xfrm>
            <a:off x="649224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Restaurants would pay for the diners we send. Users never have to pay.</a:t>
            </a:r>
            <a:endParaRPr/>
          </a:p>
        </p:txBody>
      </p:sp>
      <p:sp>
        <p:nvSpPr>
          <p:cNvPr id="904" name="Google Shape;904;p2"/>
          <p:cNvSpPr txBox="1"/>
          <p:nvPr/>
        </p:nvSpPr>
        <p:spPr>
          <a:xfrm>
            <a:off x="1216152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Path</a:t>
            </a:r>
            <a:endParaRPr/>
          </a:p>
        </p:txBody>
      </p:sp>
      <p:sp>
        <p:nvSpPr>
          <p:cNvPr id="905" name="Google Shape;905;p2"/>
          <p:cNvSpPr txBox="1"/>
          <p:nvPr/>
        </p:nvSpPr>
        <p:spPr>
          <a:xfrm>
            <a:off x="1216152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Grants first, then one angel round. Our model shows profit in Year 5.</a:t>
            </a:r>
            <a:endParaRPr/>
          </a:p>
        </p:txBody>
      </p:sp>
      <p:sp>
        <p:nvSpPr>
          <p:cNvPr id="906" name="Google Shape;906;p2"/>
          <p:cNvSpPr txBox="1"/>
          <p:nvPr/>
        </p:nvSpPr>
        <p:spPr>
          <a:xfrm>
            <a:off x="822960" y="722376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 still need to prove</a:t>
            </a:r>
            <a:endParaRPr/>
          </a:p>
        </p:txBody>
      </p:sp>
      <p:sp>
        <p:nvSpPr>
          <p:cNvPr id="907" name="Google Shape;907;p2"/>
          <p:cNvSpPr txBox="1"/>
          <p:nvPr/>
        </p:nvSpPr>
        <p:spPr>
          <a:xfrm>
            <a:off x="822960" y="7818120"/>
            <a:ext cx="16002000"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Whether restaurants will pay, and whether people will scan receipts. Next: five owner calls with a free 30-day pilot, and a receipt-scan test with about 10 users.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