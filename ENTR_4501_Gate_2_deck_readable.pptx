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Lst>
  <p:sldSz cy="10287000" cx="18288000"/>
  <p:notesSz cx="6858000" cy="9144000"/>
  <p:embeddedFontLst>
    <p:embeddedFont>
      <p:font typeface="Poppins"/>
      <p:regular r:id="rId18"/>
      <p:bold r:id="rId19"/>
      <p:italic r:id="rId20"/>
      <p:boldItalic r:id="rId21"/>
    </p:embeddedFont>
    <p:embeddedFont>
      <p:font typeface="Roboto Mono"/>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6" roundtripDataSignature="AMtx7mgVIghjQh70tcTpDwPPuhVU0tDX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7F22518-C55D-4401-A6EB-0ED8D26C8151}">
  <a:tblStyle styleId="{97F22518-C55D-4401-A6EB-0ED8D26C8151}"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Poppins-italic.fntdata"/><Relationship Id="rId22" Type="http://schemas.openxmlformats.org/officeDocument/2006/relationships/font" Target="fonts/RobotoMono-regular.fntdata"/><Relationship Id="rId21" Type="http://schemas.openxmlformats.org/officeDocument/2006/relationships/font" Target="fonts/Poppins-boldItalic.fntdata"/><Relationship Id="rId24" Type="http://schemas.openxmlformats.org/officeDocument/2006/relationships/font" Target="fonts/RobotoMono-italic.fntdata"/><Relationship Id="rId23" Type="http://schemas.openxmlformats.org/officeDocument/2006/relationships/font" Target="fonts/RobotoMono-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customschemas.google.com/relationships/presentationmetadata" Target="metadata"/><Relationship Id="rId25" Type="http://schemas.openxmlformats.org/officeDocument/2006/relationships/font" Target="fonts/RobotoMono-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font" Target="fonts/Poppins-bold.fntdata"/><Relationship Id="rId18" Type="http://schemas.openxmlformats.org/officeDocument/2006/relationships/font" Target="fonts/Poppins-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whole idea. For students and young professionals in Boston who want great places to eat but can't compare scattered reviews or trust the ratings, our app is a free, all-in-one guide. It puts the reviews, posts, hours and booking for each place on one page. Unlike checking Google Maps, Instagram, TikTok and Beli one by one, you research, save and share in one app, and our score only counts people who proved they ate there. Next: why people need it.</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interviewed 35 students and young professionals, and almost everyone described the same routine. Google Maps to see what's nearby. Instagram or TikTok to see the food. A friend to check it's good. Then they go, and it's still a miss. Nobody had one place to save where they want to go. So the problem isn't a lack of information. It's that it takes too much work to trust any of it.</a:t>
            </a:r>
            <a:endParaRPr/>
          </a:p>
        </p:txBody>
      </p:sp>
      <p:sp>
        <p:nvSpPr>
          <p:cNvPr id="111" name="Google Shape;11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things you do in the app. Find: a map of what's open near you, filtered by cuisine, diet, price and distance, plus new places people are talking about. Compare: every rating and post on one page, next to our own score, which only counts verified visits. Nobody can pay to rank higher. Keep: your history and lists, and booking a table. All of it is free. You asked whether people would pay for a dietary filter. We think they shouldn't. Restaurants pay for the diners it sends them.</a:t>
            </a:r>
            <a:endParaRPr/>
          </a:p>
        </p:txBody>
      </p:sp>
      <p:sp>
        <p:nvSpPr>
          <p:cNvPr id="135" name="Google Shape;135;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what that looks like: four screens from our concept. One, start nearby: what's open around you. Two, let it pick: one best bet that's open, close, in budget and fits your diet, and which friends went. Three, see why: three picks for the occasion, each with a reason. Four, check every rating: our verified score next to Google, Yelp, Beli, Reddit and TikTok. It's a concept, and every score on screen is made up. Next we test it with students on campus. Hand-off: how big this can get.</a:t>
            </a:r>
            <a:endParaRPr/>
          </a:p>
        </p:txBody>
      </p:sp>
      <p:sp>
        <p:nvSpPr>
          <p:cNvPr id="154" name="Google Shape;154;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Grey: Everyone 18 to 34 in the US is about 78 million people. We can reach US college students, 19 million, one campus at a time. We plan to win 540,000 active users by Year 5, 2.8% of those students, inside the 2 to 5% range from class. We start with Boston's 162,000 students, and Year 1 is 12,000 of them. The side that pays is Boston's 3,350 licensed places to eat. And nothing today puts maps, food posts and rankings together.</a:t>
            </a:r>
            <a:endParaRPr/>
          </a:p>
        </p:txBody>
      </p:sp>
      <p:sp>
        <p:nvSpPr>
          <p:cNvPr id="173" name="Google Shape;173;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7" name="Google Shape;19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Grey: The first 10 users are people we interviewed and our friends, testing the prototype this semester. The first 100 are Northeastern students they invite, plus clubs and group chats. The first 1,000 come from other Boston campuses, through student ambassadors and food posts. It's the same loop every time: a friend tells you, you download, you save a place, you invite someone. Beli grew about 80% that way. Users come first and never pay. Once they're here, restaurants pay for the diners we send. Hand-off: why a restaurant would pay.</a:t>
            </a:r>
            <a:endParaRPr/>
          </a:p>
        </p:txBody>
      </p:sp>
      <p:sp>
        <p:nvSpPr>
          <p:cNvPr id="198" name="Google Shape;198;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2" name="Google Shape;222;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Today a restaurant pays for ads and boosted posts before it knows whether anyone walks in. We flip that. It pays about 90 cents only for a diner we sent, once a receipt shows they came. That's below the $1 to $1.50 OpenTable charges. From Year 3, chains pay $6,000 a year per area to see what our users there eat. On the user side, a few people pay $5 a month for extras. Nothing a restaurant pays changes its score or where it shows up. We haven't talked to owners yet, so five owner calls are next.</a:t>
            </a:r>
            <a:endParaRPr/>
          </a:p>
        </p:txBody>
      </p:sp>
      <p:sp>
        <p:nvSpPr>
          <p:cNvPr id="223" name="Google Shape;223;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7" name="Google Shape;24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Before building the numbers we looked at the apps closest to us. OpenTable took nine years to turn a profit. Resy ran on $45 million and was sold. Beli reached 1.1 million monthly users, mostly through friends, with five people and almost no revenue. So we made three choices: no salaries and co-ops before hires, costs low enough to need about $240K, and Beli as our yardstick, a quarter of its size at the same age, but with restaurants paying from Year 2. Hand-off: here's what that looks like in numbers.</a:t>
            </a:r>
            <a:endParaRPr/>
          </a:p>
        </p:txBody>
      </p:sp>
      <p:sp>
        <p:nvSpPr>
          <p:cNvPr id="248" name="Google Shape;24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Look at the three highlighted numbers. Years 1 and 2 are flat on purpose, about $10,500 a quarter: one contract developer, a little campus marketing, legal and insurance. Nobody else gets paid until restaurants do. Money first comes in during Year 2, the first highlight. From Year 3, co-ops join as users grow. The lowest point is about $192K down in Year 4, which is why we raise $240K. And Year 5 is the first profitable year, about $72K.</a:t>
            </a:r>
            <a:endParaRPr/>
          </a:p>
        </p:txBody>
      </p:sp>
      <p:sp>
        <p:nvSpPr>
          <p:cNvPr id="273" name="Google Shape;273;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4" name="Google Shape;29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start on grants, the way Beli did: Northeastern's IDEA Gap Fund and pitch competitions across Boston, about $74K to cover Years 1 and 2, and we cover any gap ourselves. At the end of Year 2, with restaurants already paying, we raise one angel round of about $166K. What lets us raise: about 31,000 Boston users and a year of restaurants paying for diners we sent. We'd ask angels we meet through IDEA, competition judges and our own networks. At $356K of Year 5 revenue we're too small for venture funds. Thank you. We're happy to take questions.</a:t>
            </a:r>
            <a:endParaRPr/>
          </a:p>
        </p:txBody>
      </p:sp>
      <p:sp>
        <p:nvSpPr>
          <p:cNvPr id="295" name="Google Shape;295;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for questions only: where each price comes from.</a:t>
            </a:r>
            <a:endParaRPr/>
          </a:p>
        </p:txBody>
      </p:sp>
      <p:sp>
        <p:nvSpPr>
          <p:cNvPr id="316" name="Google Shape;316;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4"/>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4"/>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5"/>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7"/>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17"/>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8"/>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18"/>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18"/>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18"/>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0"/>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0"/>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0"/>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1"/>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1"/>
          <p:cNvSpPr/>
          <p:nvPr>
            <p:ph idx="2" type="pic"/>
          </p:nvPr>
        </p:nvSpPr>
        <p:spPr>
          <a:xfrm>
            <a:off x="1792288" y="612775"/>
            <a:ext cx="5486400" cy="4114800"/>
          </a:xfrm>
          <a:prstGeom prst="rect">
            <a:avLst/>
          </a:prstGeom>
          <a:noFill/>
          <a:ln>
            <a:noFill/>
          </a:ln>
        </p:spPr>
      </p:sp>
      <p:sp>
        <p:nvSpPr>
          <p:cNvPr id="64" name="Google Shape;64;p21"/>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2"/>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3"/>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3"/>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What we offer</a:t>
            </a:r>
            <a:endParaRPr/>
          </a:p>
        </p:txBody>
      </p:sp>
      <p:sp>
        <p:nvSpPr>
          <p:cNvPr id="86" name="Google Shape;86;p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a:t>
            </a:r>
            <a:endParaRPr/>
          </a:p>
        </p:txBody>
      </p:sp>
      <p:sp>
        <p:nvSpPr>
          <p:cNvPr id="87" name="Google Shape;87;p1"/>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A free app that recommends where to eat and go out, </a:t>
            </a:r>
            <a:r>
              <a:rPr b="0" i="0" lang="en-US" sz="4400" u="none" cap="none" strike="noStrike">
                <a:solidFill>
                  <a:srgbClr val="595959"/>
                </a:solidFill>
                <a:latin typeface="Poppins"/>
                <a:ea typeface="Poppins"/>
                <a:cs typeface="Poppins"/>
                <a:sym typeface="Poppins"/>
              </a:rPr>
              <a:t>all in one simple-to-use platform.</a:t>
            </a:r>
            <a:endParaRPr/>
          </a:p>
        </p:txBody>
      </p:sp>
      <p:sp>
        <p:nvSpPr>
          <p:cNvPr id="88" name="Google Shape;88;p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Our value proposition. The app doesn't have a name yet.</a:t>
            </a:r>
            <a:endParaRPr/>
          </a:p>
        </p:txBody>
      </p:sp>
      <p:sp>
        <p:nvSpPr>
          <p:cNvPr id="89" name="Google Shape;89;p1"/>
          <p:cNvSpPr/>
          <p:nvPr/>
        </p:nvSpPr>
        <p:spPr>
          <a:xfrm>
            <a:off x="822960" y="373989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 name="Google Shape;90;p1"/>
          <p:cNvSpPr txBox="1"/>
          <p:nvPr/>
        </p:nvSpPr>
        <p:spPr>
          <a:xfrm>
            <a:off x="822960" y="388620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For</a:t>
            </a:r>
            <a:endParaRPr/>
          </a:p>
        </p:txBody>
      </p:sp>
      <p:sp>
        <p:nvSpPr>
          <p:cNvPr id="91" name="Google Shape;91;p1"/>
          <p:cNvSpPr txBox="1"/>
          <p:nvPr/>
        </p:nvSpPr>
        <p:spPr>
          <a:xfrm>
            <a:off x="3657600" y="388620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students and young professionals in Boston, starting at Northeastern</a:t>
            </a:r>
            <a:endParaRPr/>
          </a:p>
        </p:txBody>
      </p:sp>
      <p:sp>
        <p:nvSpPr>
          <p:cNvPr id="92" name="Google Shape;92;p1"/>
          <p:cNvSpPr/>
          <p:nvPr/>
        </p:nvSpPr>
        <p:spPr>
          <a:xfrm>
            <a:off x="822960" y="452628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 name="Google Shape;93;p1"/>
          <p:cNvSpPr txBox="1"/>
          <p:nvPr/>
        </p:nvSpPr>
        <p:spPr>
          <a:xfrm>
            <a:off x="822960" y="4672584"/>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Who</a:t>
            </a:r>
            <a:endParaRPr/>
          </a:p>
        </p:txBody>
      </p:sp>
      <p:sp>
        <p:nvSpPr>
          <p:cNvPr id="94" name="Google Shape;94;p1"/>
          <p:cNvSpPr txBox="1"/>
          <p:nvPr/>
        </p:nvSpPr>
        <p:spPr>
          <a:xfrm>
            <a:off x="3657600" y="4672584"/>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want great places to eat but can't trust the ratings</a:t>
            </a:r>
            <a:endParaRPr/>
          </a:p>
        </p:txBody>
      </p:sp>
      <p:sp>
        <p:nvSpPr>
          <p:cNvPr id="95" name="Google Shape;95;p1"/>
          <p:cNvSpPr/>
          <p:nvPr/>
        </p:nvSpPr>
        <p:spPr>
          <a:xfrm>
            <a:off x="822960" y="5312664"/>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 name="Google Shape;96;p1"/>
          <p:cNvSpPr txBox="1"/>
          <p:nvPr/>
        </p:nvSpPr>
        <p:spPr>
          <a:xfrm>
            <a:off x="822960" y="5458968"/>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app is</a:t>
            </a:r>
            <a:endParaRPr/>
          </a:p>
        </p:txBody>
      </p:sp>
      <p:sp>
        <p:nvSpPr>
          <p:cNvPr id="97" name="Google Shape;97;p1"/>
          <p:cNvSpPr txBox="1"/>
          <p:nvPr/>
        </p:nvSpPr>
        <p:spPr>
          <a:xfrm>
            <a:off x="3657600" y="5458968"/>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a free restaurant guide</a:t>
            </a:r>
            <a:endParaRPr/>
          </a:p>
        </p:txBody>
      </p:sp>
      <p:sp>
        <p:nvSpPr>
          <p:cNvPr id="98" name="Google Shape;98;p1"/>
          <p:cNvSpPr/>
          <p:nvPr/>
        </p:nvSpPr>
        <p:spPr>
          <a:xfrm>
            <a:off x="822960" y="60990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 name="Google Shape;99;p1"/>
          <p:cNvSpPr txBox="1"/>
          <p:nvPr/>
        </p:nvSpPr>
        <p:spPr>
          <a:xfrm>
            <a:off x="822960" y="6245352"/>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That</a:t>
            </a:r>
            <a:endParaRPr/>
          </a:p>
        </p:txBody>
      </p:sp>
      <p:sp>
        <p:nvSpPr>
          <p:cNvPr id="100" name="Google Shape;100;p1"/>
          <p:cNvSpPr txBox="1"/>
          <p:nvPr/>
        </p:nvSpPr>
        <p:spPr>
          <a:xfrm>
            <a:off x="3657600" y="6245352"/>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puts reviews, posts, hours and booking for each place on one page</a:t>
            </a:r>
            <a:endParaRPr/>
          </a:p>
        </p:txBody>
      </p:sp>
      <p:sp>
        <p:nvSpPr>
          <p:cNvPr id="101" name="Google Shape;101;p1"/>
          <p:cNvSpPr/>
          <p:nvPr/>
        </p:nvSpPr>
        <p:spPr>
          <a:xfrm>
            <a:off x="822960" y="6885431"/>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 name="Google Shape;102;p1"/>
          <p:cNvSpPr txBox="1"/>
          <p:nvPr/>
        </p:nvSpPr>
        <p:spPr>
          <a:xfrm>
            <a:off x="822960" y="7031736"/>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Unlike</a:t>
            </a:r>
            <a:endParaRPr/>
          </a:p>
        </p:txBody>
      </p:sp>
      <p:sp>
        <p:nvSpPr>
          <p:cNvPr id="103" name="Google Shape;103;p1"/>
          <p:cNvSpPr txBox="1"/>
          <p:nvPr/>
        </p:nvSpPr>
        <p:spPr>
          <a:xfrm>
            <a:off x="3657600" y="7031736"/>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checking Google Maps, Yelp, Instagram, TikTok and Beli one by one</a:t>
            </a:r>
            <a:endParaRPr/>
          </a:p>
        </p:txBody>
      </p:sp>
      <p:sp>
        <p:nvSpPr>
          <p:cNvPr id="104" name="Google Shape;104;p1"/>
          <p:cNvSpPr/>
          <p:nvPr/>
        </p:nvSpPr>
        <p:spPr>
          <a:xfrm>
            <a:off x="822960" y="767181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 name="Google Shape;105;p1"/>
          <p:cNvSpPr txBox="1"/>
          <p:nvPr/>
        </p:nvSpPr>
        <p:spPr>
          <a:xfrm>
            <a:off x="822960" y="781812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Ours</a:t>
            </a:r>
            <a:endParaRPr/>
          </a:p>
        </p:txBody>
      </p:sp>
      <p:sp>
        <p:nvSpPr>
          <p:cNvPr id="106" name="Google Shape;106;p1"/>
          <p:cNvSpPr txBox="1"/>
          <p:nvPr/>
        </p:nvSpPr>
        <p:spPr>
          <a:xfrm>
            <a:off x="3657600" y="781812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only counts reviews from people who proved they ate there</a:t>
            </a:r>
            <a:endParaRPr/>
          </a:p>
        </p:txBody>
      </p:sp>
      <p:sp>
        <p:nvSpPr>
          <p:cNvPr id="107" name="Google Shape;107;p1"/>
          <p:cNvSpPr/>
          <p:nvPr/>
        </p:nvSpPr>
        <p:spPr>
          <a:xfrm>
            <a:off x="822960" y="8458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What we heard</a:t>
            </a:r>
            <a:endParaRPr/>
          </a:p>
        </p:txBody>
      </p:sp>
      <p:sp>
        <p:nvSpPr>
          <p:cNvPr id="114" name="Google Shape;114;p2"/>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2</a:t>
            </a:r>
            <a:endParaRPr/>
          </a:p>
        </p:txBody>
      </p:sp>
      <p:sp>
        <p:nvSpPr>
          <p:cNvPr id="115" name="Google Shape;115;p2"/>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Finding one good place to eat takes multiple apps, </a:t>
            </a:r>
            <a:r>
              <a:rPr b="0" i="0" lang="en-US" sz="4400" u="none" cap="none" strike="noStrike">
                <a:solidFill>
                  <a:srgbClr val="595959"/>
                </a:solidFill>
                <a:latin typeface="Poppins"/>
                <a:ea typeface="Poppins"/>
                <a:cs typeface="Poppins"/>
                <a:sym typeface="Poppins"/>
              </a:rPr>
              <a:t>and people still get it wrong.</a:t>
            </a:r>
            <a:endParaRPr/>
          </a:p>
        </p:txBody>
      </p:sp>
      <p:sp>
        <p:nvSpPr>
          <p:cNvPr id="116" name="Google Shape;116;p2"/>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From 35 interviews with students and young professionals, Sep to Oct 2026.</a:t>
            </a:r>
            <a:endParaRPr/>
          </a:p>
        </p:txBody>
      </p:sp>
      <p:sp>
        <p:nvSpPr>
          <p:cNvPr id="117" name="Google Shape;117;p2"/>
          <p:cNvSpPr/>
          <p:nvPr/>
        </p:nvSpPr>
        <p:spPr>
          <a:xfrm>
            <a:off x="822960" y="5074920"/>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 name="Google Shape;118;p2"/>
          <p:cNvSpPr txBox="1"/>
          <p:nvPr/>
        </p:nvSpPr>
        <p:spPr>
          <a:xfrm>
            <a:off x="822960" y="3749039"/>
            <a:ext cx="3840480" cy="11887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6600" u="none" cap="none" strike="noStrike">
                <a:solidFill>
                  <a:srgbClr val="6F6B34"/>
                </a:solidFill>
                <a:latin typeface="Poppins"/>
                <a:ea typeface="Poppins"/>
                <a:cs typeface="Poppins"/>
                <a:sym typeface="Poppins"/>
              </a:rPr>
              <a:t>1</a:t>
            </a:r>
            <a:endParaRPr/>
          </a:p>
        </p:txBody>
      </p:sp>
      <p:sp>
        <p:nvSpPr>
          <p:cNvPr id="119" name="Google Shape;119;p2"/>
          <p:cNvSpPr txBox="1"/>
          <p:nvPr/>
        </p:nvSpPr>
        <p:spPr>
          <a:xfrm>
            <a:off x="82296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Google Maps</a:t>
            </a:r>
            <a:endParaRPr sz="2400"/>
          </a:p>
        </p:txBody>
      </p:sp>
      <p:sp>
        <p:nvSpPr>
          <p:cNvPr id="120" name="Google Shape;120;p2"/>
          <p:cNvSpPr txBox="1"/>
          <p:nvPr/>
        </p:nvSpPr>
        <p:spPr>
          <a:xfrm>
            <a:off x="822960" y="598932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to see what's nearby</a:t>
            </a:r>
            <a:endParaRPr sz="2400"/>
          </a:p>
        </p:txBody>
      </p:sp>
      <p:sp>
        <p:nvSpPr>
          <p:cNvPr id="121" name="Google Shape;121;p2"/>
          <p:cNvSpPr txBox="1"/>
          <p:nvPr/>
        </p:nvSpPr>
        <p:spPr>
          <a:xfrm>
            <a:off x="5074920" y="3749039"/>
            <a:ext cx="3840480" cy="11887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6600" u="none" cap="none" strike="noStrike">
                <a:solidFill>
                  <a:srgbClr val="6F6B34"/>
                </a:solidFill>
                <a:latin typeface="Poppins"/>
                <a:ea typeface="Poppins"/>
                <a:cs typeface="Poppins"/>
                <a:sym typeface="Poppins"/>
              </a:rPr>
              <a:t>2</a:t>
            </a:r>
            <a:endParaRPr/>
          </a:p>
        </p:txBody>
      </p:sp>
      <p:sp>
        <p:nvSpPr>
          <p:cNvPr id="122" name="Google Shape;122;p2"/>
          <p:cNvSpPr txBox="1"/>
          <p:nvPr/>
        </p:nvSpPr>
        <p:spPr>
          <a:xfrm>
            <a:off x="507492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Instagram or TikTok</a:t>
            </a:r>
            <a:endParaRPr sz="2400"/>
          </a:p>
        </p:txBody>
      </p:sp>
      <p:sp>
        <p:nvSpPr>
          <p:cNvPr id="123" name="Google Shape;123;p2"/>
          <p:cNvSpPr txBox="1"/>
          <p:nvPr/>
        </p:nvSpPr>
        <p:spPr>
          <a:xfrm>
            <a:off x="5074920" y="598932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to see the food</a:t>
            </a:r>
            <a:endParaRPr sz="2400"/>
          </a:p>
        </p:txBody>
      </p:sp>
      <p:sp>
        <p:nvSpPr>
          <p:cNvPr id="124" name="Google Shape;124;p2"/>
          <p:cNvSpPr txBox="1"/>
          <p:nvPr/>
        </p:nvSpPr>
        <p:spPr>
          <a:xfrm>
            <a:off x="9326880" y="3749039"/>
            <a:ext cx="3840480" cy="11887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6600" u="none" cap="none" strike="noStrike">
                <a:solidFill>
                  <a:srgbClr val="6F6B34"/>
                </a:solidFill>
                <a:latin typeface="Poppins"/>
                <a:ea typeface="Poppins"/>
                <a:cs typeface="Poppins"/>
                <a:sym typeface="Poppins"/>
              </a:rPr>
              <a:t>3</a:t>
            </a:r>
            <a:endParaRPr/>
          </a:p>
        </p:txBody>
      </p:sp>
      <p:sp>
        <p:nvSpPr>
          <p:cNvPr id="125" name="Google Shape;125;p2"/>
          <p:cNvSpPr txBox="1"/>
          <p:nvPr/>
        </p:nvSpPr>
        <p:spPr>
          <a:xfrm>
            <a:off x="932688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A friend</a:t>
            </a:r>
            <a:endParaRPr sz="2400"/>
          </a:p>
        </p:txBody>
      </p:sp>
      <p:sp>
        <p:nvSpPr>
          <p:cNvPr id="126" name="Google Shape;126;p2"/>
          <p:cNvSpPr txBox="1"/>
          <p:nvPr/>
        </p:nvSpPr>
        <p:spPr>
          <a:xfrm>
            <a:off x="9326880" y="598932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to check it's good</a:t>
            </a:r>
            <a:endParaRPr sz="2400"/>
          </a:p>
        </p:txBody>
      </p:sp>
      <p:sp>
        <p:nvSpPr>
          <p:cNvPr id="127" name="Google Shape;127;p2"/>
          <p:cNvSpPr txBox="1"/>
          <p:nvPr/>
        </p:nvSpPr>
        <p:spPr>
          <a:xfrm>
            <a:off x="13578840" y="3749039"/>
            <a:ext cx="3840480" cy="11887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6600" u="none" cap="none" strike="noStrike">
                <a:solidFill>
                  <a:srgbClr val="000000"/>
                </a:solidFill>
                <a:latin typeface="Poppins"/>
                <a:ea typeface="Poppins"/>
                <a:cs typeface="Poppins"/>
                <a:sym typeface="Poppins"/>
              </a:rPr>
              <a:t>4</a:t>
            </a:r>
            <a:endParaRPr/>
          </a:p>
        </p:txBody>
      </p:sp>
      <p:sp>
        <p:nvSpPr>
          <p:cNvPr id="128" name="Google Shape;128;p2"/>
          <p:cNvSpPr txBox="1"/>
          <p:nvPr/>
        </p:nvSpPr>
        <p:spPr>
          <a:xfrm>
            <a:off x="1357884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Then they go</a:t>
            </a:r>
            <a:endParaRPr sz="2400"/>
          </a:p>
        </p:txBody>
      </p:sp>
      <p:sp>
        <p:nvSpPr>
          <p:cNvPr id="129" name="Google Shape;129;p2"/>
          <p:cNvSpPr txBox="1"/>
          <p:nvPr/>
        </p:nvSpPr>
        <p:spPr>
          <a:xfrm>
            <a:off x="13578840" y="598932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and it's still a miss</a:t>
            </a:r>
            <a:endParaRPr sz="2400"/>
          </a:p>
        </p:txBody>
      </p:sp>
      <p:sp>
        <p:nvSpPr>
          <p:cNvPr id="130" name="Google Shape;130;p2"/>
          <p:cNvSpPr txBox="1"/>
          <p:nvPr/>
        </p:nvSpPr>
        <p:spPr>
          <a:xfrm>
            <a:off x="822960" y="7589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Nobody had one place to save where they want to go.</a:t>
            </a:r>
            <a:endParaRPr sz="2400"/>
          </a:p>
        </p:txBody>
      </p:sp>
      <p:sp>
        <p:nvSpPr>
          <p:cNvPr id="131" name="Google Shape;131;p2"/>
          <p:cNvSpPr txBox="1"/>
          <p:nvPr/>
        </p:nvSpPr>
        <p:spPr>
          <a:xfrm>
            <a:off x="822960" y="82753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They want one app they can trust.</a:t>
            </a:r>
            <a:endParaRPr sz="24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3"/>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What's in the app</a:t>
            </a:r>
            <a:endParaRPr/>
          </a:p>
        </p:txBody>
      </p:sp>
      <p:sp>
        <p:nvSpPr>
          <p:cNvPr id="138" name="Google Shape;138;p3"/>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3</a:t>
            </a:r>
            <a:endParaRPr/>
          </a:p>
        </p:txBody>
      </p:sp>
      <p:sp>
        <p:nvSpPr>
          <p:cNvPr id="139" name="Google Shape;139;p3"/>
          <p:cNvSpPr txBox="1"/>
          <p:nvPr/>
        </p:nvSpPr>
        <p:spPr>
          <a:xfrm>
            <a:off x="822960" y="1208965"/>
            <a:ext cx="15087600" cy="6774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Everything about where to eat, in one app.</a:t>
            </a:r>
            <a:endParaRPr/>
          </a:p>
        </p:txBody>
      </p:sp>
      <p:sp>
        <p:nvSpPr>
          <p:cNvPr id="140" name="Google Shape;140;p3"/>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The core app is free. If another app won't share its ratings, we link out to it.</a:t>
            </a:r>
            <a:endParaRPr/>
          </a:p>
        </p:txBody>
      </p:sp>
      <p:sp>
        <p:nvSpPr>
          <p:cNvPr id="141" name="Google Shape;141;p3"/>
          <p:cNvSpPr txBox="1"/>
          <p:nvPr/>
        </p:nvSpPr>
        <p:spPr>
          <a:xfrm>
            <a:off x="82296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Find</a:t>
            </a:r>
            <a:endParaRPr sz="2400"/>
          </a:p>
        </p:txBody>
      </p:sp>
      <p:sp>
        <p:nvSpPr>
          <p:cNvPr id="142" name="Google Shape;142;p3"/>
          <p:cNvSpPr/>
          <p:nvPr/>
        </p:nvSpPr>
        <p:spPr>
          <a:xfrm>
            <a:off x="82296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 name="Google Shape;143;p3"/>
          <p:cNvSpPr txBox="1"/>
          <p:nvPr/>
        </p:nvSpPr>
        <p:spPr>
          <a:xfrm>
            <a:off x="82296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What's open near you</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Filter by diet, price and distance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New places people are talking about</a:t>
            </a:r>
            <a:endParaRPr sz="2400"/>
          </a:p>
        </p:txBody>
      </p:sp>
      <p:sp>
        <p:nvSpPr>
          <p:cNvPr id="144" name="Google Shape;144;p3"/>
          <p:cNvSpPr txBox="1"/>
          <p:nvPr/>
        </p:nvSpPr>
        <p:spPr>
          <a:xfrm>
            <a:off x="649224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Compare</a:t>
            </a:r>
            <a:endParaRPr sz="2400"/>
          </a:p>
        </p:txBody>
      </p:sp>
      <p:sp>
        <p:nvSpPr>
          <p:cNvPr id="145" name="Google Shape;145;p3"/>
          <p:cNvSpPr/>
          <p:nvPr/>
        </p:nvSpPr>
        <p:spPr>
          <a:xfrm>
            <a:off x="649224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 name="Google Shape;146;p3"/>
          <p:cNvSpPr txBox="1"/>
          <p:nvPr/>
        </p:nvSpPr>
        <p:spPr>
          <a:xfrm>
            <a:off x="6492240" y="4572000"/>
            <a:ext cx="5120700" cy="24567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Every rating and post on one page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Our score only counts diners who scanned a receipt</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Nobody pays to rank higher</a:t>
            </a:r>
            <a:endParaRPr sz="2400"/>
          </a:p>
        </p:txBody>
      </p:sp>
      <p:sp>
        <p:nvSpPr>
          <p:cNvPr id="147" name="Google Shape;147;p3"/>
          <p:cNvSpPr txBox="1"/>
          <p:nvPr/>
        </p:nvSpPr>
        <p:spPr>
          <a:xfrm>
            <a:off x="1216152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Keep</a:t>
            </a:r>
            <a:endParaRPr sz="2400"/>
          </a:p>
        </p:txBody>
      </p:sp>
      <p:sp>
        <p:nvSpPr>
          <p:cNvPr id="148" name="Google Shape;148;p3"/>
          <p:cNvSpPr/>
          <p:nvPr/>
        </p:nvSpPr>
        <p:spPr>
          <a:xfrm>
            <a:off x="1216152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 name="Google Shape;149;p3"/>
          <p:cNvSpPr txBox="1"/>
          <p:nvPr/>
        </p:nvSpPr>
        <p:spPr>
          <a:xfrm>
            <a:off x="1216152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Your history and lists</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Scan a receipt, get a verified badge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Book a table</a:t>
            </a:r>
            <a:endParaRPr sz="2400"/>
          </a:p>
        </p:txBody>
      </p:sp>
      <p:sp>
        <p:nvSpPr>
          <p:cNvPr id="150" name="Google Shape;150;p3"/>
          <p:cNvSpPr txBox="1"/>
          <p:nvPr/>
        </p:nvSpPr>
        <p:spPr>
          <a:xfrm>
            <a:off x="822960" y="845820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Dietary filters stay free: a halal or nut-free search is what sends a restaurant the diner it pays for. Nobody pays for placement.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4"/>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4</a:t>
            </a:r>
            <a:endParaRPr/>
          </a:p>
        </p:txBody>
      </p:sp>
      <p:sp>
        <p:nvSpPr>
          <p:cNvPr id="157" name="Google Shape;157;p4"/>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Concept screens. Every score and person is made up. Photos: Unsplash; Daderot, Wikimedia Commons (CC0).</a:t>
            </a:r>
            <a:endParaRPr/>
          </a:p>
        </p:txBody>
      </p:sp>
      <p:pic>
        <p:nvPicPr>
          <p:cNvPr descr="phone-1.png" id="158" name="Google Shape;158;p4"/>
          <p:cNvPicPr preferRelativeResize="0"/>
          <p:nvPr/>
        </p:nvPicPr>
        <p:blipFill rotWithShape="1">
          <a:blip r:embed="rId3">
            <a:alphaModFix/>
          </a:blip>
          <a:srcRect b="0" l="0" r="0" t="0"/>
          <a:stretch/>
        </p:blipFill>
        <p:spPr>
          <a:xfrm>
            <a:off x="822950" y="685800"/>
            <a:ext cx="3617965" cy="7463324"/>
          </a:xfrm>
          <a:prstGeom prst="rect">
            <a:avLst/>
          </a:prstGeom>
          <a:noFill/>
          <a:ln>
            <a:noFill/>
          </a:ln>
        </p:spPr>
      </p:pic>
      <p:sp>
        <p:nvSpPr>
          <p:cNvPr id="159" name="Google Shape;159;p4"/>
          <p:cNvSpPr txBox="1"/>
          <p:nvPr/>
        </p:nvSpPr>
        <p:spPr>
          <a:xfrm>
            <a:off x="845750"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1  Start nearby</a:t>
            </a:r>
            <a:endParaRPr/>
          </a:p>
        </p:txBody>
      </p:sp>
      <p:sp>
        <p:nvSpPr>
          <p:cNvPr id="160" name="Google Shape;160;p4"/>
          <p:cNvSpPr txBox="1"/>
          <p:nvPr/>
        </p:nvSpPr>
        <p:spPr>
          <a:xfrm>
            <a:off x="845750"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What's open around you.</a:t>
            </a:r>
            <a:endParaRPr/>
          </a:p>
        </p:txBody>
      </p:sp>
      <p:pic>
        <p:nvPicPr>
          <p:cNvPr descr="phone-2.png" id="161" name="Google Shape;161;p4"/>
          <p:cNvPicPr preferRelativeResize="0"/>
          <p:nvPr/>
        </p:nvPicPr>
        <p:blipFill rotWithShape="1">
          <a:blip r:embed="rId4">
            <a:alphaModFix/>
          </a:blip>
          <a:srcRect b="0" l="0" r="0" t="0"/>
          <a:stretch/>
        </p:blipFill>
        <p:spPr>
          <a:xfrm>
            <a:off x="5074925" y="685785"/>
            <a:ext cx="3617975" cy="7463313"/>
          </a:xfrm>
          <a:prstGeom prst="rect">
            <a:avLst/>
          </a:prstGeom>
          <a:noFill/>
          <a:ln>
            <a:noFill/>
          </a:ln>
        </p:spPr>
      </p:pic>
      <p:sp>
        <p:nvSpPr>
          <p:cNvPr id="162" name="Google Shape;162;p4"/>
          <p:cNvSpPr txBox="1"/>
          <p:nvPr/>
        </p:nvSpPr>
        <p:spPr>
          <a:xfrm>
            <a:off x="5097716"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2  Let it pick</a:t>
            </a:r>
            <a:endParaRPr/>
          </a:p>
        </p:txBody>
      </p:sp>
      <p:sp>
        <p:nvSpPr>
          <p:cNvPr id="163" name="Google Shape;163;p4"/>
          <p:cNvSpPr txBox="1"/>
          <p:nvPr/>
        </p:nvSpPr>
        <p:spPr>
          <a:xfrm>
            <a:off x="5097716"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One best bet for your budget and diet.</a:t>
            </a:r>
            <a:endParaRPr/>
          </a:p>
        </p:txBody>
      </p:sp>
      <p:pic>
        <p:nvPicPr>
          <p:cNvPr descr="phone-3.png" id="164" name="Google Shape;164;p4"/>
          <p:cNvPicPr preferRelativeResize="0"/>
          <p:nvPr/>
        </p:nvPicPr>
        <p:blipFill rotWithShape="1">
          <a:blip r:embed="rId5">
            <a:alphaModFix/>
          </a:blip>
          <a:srcRect b="0" l="0" r="0" t="0"/>
          <a:stretch/>
        </p:blipFill>
        <p:spPr>
          <a:xfrm>
            <a:off x="9326875" y="685785"/>
            <a:ext cx="3617975" cy="7463313"/>
          </a:xfrm>
          <a:prstGeom prst="rect">
            <a:avLst/>
          </a:prstGeom>
          <a:noFill/>
          <a:ln>
            <a:noFill/>
          </a:ln>
        </p:spPr>
      </p:pic>
      <p:sp>
        <p:nvSpPr>
          <p:cNvPr id="165" name="Google Shape;165;p4"/>
          <p:cNvSpPr txBox="1"/>
          <p:nvPr/>
        </p:nvSpPr>
        <p:spPr>
          <a:xfrm>
            <a:off x="9349683"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3  See why</a:t>
            </a:r>
            <a:endParaRPr/>
          </a:p>
        </p:txBody>
      </p:sp>
      <p:sp>
        <p:nvSpPr>
          <p:cNvPr id="166" name="Google Shape;166;p4"/>
          <p:cNvSpPr txBox="1"/>
          <p:nvPr/>
        </p:nvSpPr>
        <p:spPr>
          <a:xfrm>
            <a:off x="9349683"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Three picks, each with a reason.</a:t>
            </a:r>
            <a:endParaRPr/>
          </a:p>
        </p:txBody>
      </p:sp>
      <p:pic>
        <p:nvPicPr>
          <p:cNvPr descr="phone-4.png" id="167" name="Google Shape;167;p4"/>
          <p:cNvPicPr preferRelativeResize="0"/>
          <p:nvPr/>
        </p:nvPicPr>
        <p:blipFill rotWithShape="1">
          <a:blip r:embed="rId6">
            <a:alphaModFix/>
          </a:blip>
          <a:srcRect b="0" l="0" r="0" t="0"/>
          <a:stretch/>
        </p:blipFill>
        <p:spPr>
          <a:xfrm>
            <a:off x="13578850" y="685785"/>
            <a:ext cx="3617975" cy="7463313"/>
          </a:xfrm>
          <a:prstGeom prst="rect">
            <a:avLst/>
          </a:prstGeom>
          <a:noFill/>
          <a:ln>
            <a:noFill/>
          </a:ln>
        </p:spPr>
      </p:pic>
      <p:sp>
        <p:nvSpPr>
          <p:cNvPr id="168" name="Google Shape;168;p4"/>
          <p:cNvSpPr txBox="1"/>
          <p:nvPr/>
        </p:nvSpPr>
        <p:spPr>
          <a:xfrm>
            <a:off x="13601649"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4  Check every rating</a:t>
            </a:r>
            <a:endParaRPr/>
          </a:p>
        </p:txBody>
      </p:sp>
      <p:sp>
        <p:nvSpPr>
          <p:cNvPr id="169" name="Google Shape;169;p4"/>
          <p:cNvSpPr txBox="1"/>
          <p:nvPr/>
        </p:nvSpPr>
        <p:spPr>
          <a:xfrm>
            <a:off x="13601649" y="8770852"/>
            <a:ext cx="3749100" cy="7389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Our verified score next to everyone else's, with creators' paid posts flagged.</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5"/>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big it is</a:t>
            </a:r>
            <a:endParaRPr/>
          </a:p>
        </p:txBody>
      </p:sp>
      <p:sp>
        <p:nvSpPr>
          <p:cNvPr id="176" name="Google Shape;176;p5"/>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5</a:t>
            </a:r>
            <a:endParaRPr/>
          </a:p>
        </p:txBody>
      </p:sp>
      <p:sp>
        <p:nvSpPr>
          <p:cNvPr id="177" name="Google Shape;177;p5"/>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We start with Boston's 162,000 students. </a:t>
            </a:r>
            <a:r>
              <a:rPr b="0" i="0" lang="en-US" sz="4400" u="none" cap="none" strike="noStrike">
                <a:solidFill>
                  <a:srgbClr val="595959"/>
                </a:solidFill>
                <a:latin typeface="Poppins"/>
                <a:ea typeface="Poppins"/>
                <a:cs typeface="Poppins"/>
                <a:sym typeface="Poppins"/>
              </a:rPr>
              <a:t>About 19 million US students could use it.</a:t>
            </a:r>
            <a:endParaRPr/>
          </a:p>
        </p:txBody>
      </p:sp>
      <p:sp>
        <p:nvSpPr>
          <p:cNvPr id="178" name="Google Shape;178;p5"/>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US Census Bureau, 2024 estimates. NCES Digest of Education Statistics 2024, fall 2023 enrollment. City of Boston Student Housing Report 2025 and license data, Oct 2026.</a:t>
            </a:r>
            <a:endParaRPr/>
          </a:p>
        </p:txBody>
      </p:sp>
      <p:sp>
        <p:nvSpPr>
          <p:cNvPr id="179" name="Google Shape;179;p5"/>
          <p:cNvSpPr txBox="1"/>
          <p:nvPr/>
        </p:nvSpPr>
        <p:spPr>
          <a:xfrm>
            <a:off x="82296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Where we start</a:t>
            </a:r>
            <a:endParaRPr/>
          </a:p>
        </p:txBody>
      </p:sp>
      <p:sp>
        <p:nvSpPr>
          <p:cNvPr id="180" name="Google Shape;180;p5"/>
          <p:cNvSpPr txBox="1"/>
          <p:nvPr/>
        </p:nvSpPr>
        <p:spPr>
          <a:xfrm>
            <a:off x="82296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162K</a:t>
            </a:r>
            <a:endParaRPr/>
          </a:p>
        </p:txBody>
      </p:sp>
      <p:sp>
        <p:nvSpPr>
          <p:cNvPr id="181" name="Google Shape;181;p5"/>
          <p:cNvSpPr txBox="1"/>
          <p:nvPr/>
        </p:nvSpPr>
        <p:spPr>
          <a:xfrm>
            <a:off x="822960" y="5760720"/>
            <a:ext cx="49377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college students. Year 1 is 12K of them.</a:t>
            </a:r>
            <a:endParaRPr sz="2400"/>
          </a:p>
        </p:txBody>
      </p:sp>
      <p:sp>
        <p:nvSpPr>
          <p:cNvPr id="182" name="Google Shape;182;p5"/>
          <p:cNvSpPr txBox="1"/>
          <p:nvPr/>
        </p:nvSpPr>
        <p:spPr>
          <a:xfrm>
            <a:off x="649224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users by Year 5</a:t>
            </a:r>
            <a:endParaRPr/>
          </a:p>
        </p:txBody>
      </p:sp>
      <p:sp>
        <p:nvSpPr>
          <p:cNvPr id="183" name="Google Shape;183;p5"/>
          <p:cNvSpPr txBox="1"/>
          <p:nvPr/>
        </p:nvSpPr>
        <p:spPr>
          <a:xfrm>
            <a:off x="649224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540K</a:t>
            </a:r>
            <a:endParaRPr/>
          </a:p>
        </p:txBody>
      </p:sp>
      <p:sp>
        <p:nvSpPr>
          <p:cNvPr id="184" name="Google Shape;184;p5"/>
          <p:cNvSpPr txBox="1"/>
          <p:nvPr/>
        </p:nvSpPr>
        <p:spPr>
          <a:xfrm>
            <a:off x="649224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2.8% of US college students</a:t>
            </a:r>
            <a:endParaRPr sz="2400"/>
          </a:p>
        </p:txBody>
      </p:sp>
      <p:sp>
        <p:nvSpPr>
          <p:cNvPr id="185" name="Google Shape;185;p5"/>
          <p:cNvSpPr txBox="1"/>
          <p:nvPr/>
        </p:nvSpPr>
        <p:spPr>
          <a:xfrm>
            <a:off x="1216152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Restaurants we can sign</a:t>
            </a:r>
            <a:endParaRPr/>
          </a:p>
        </p:txBody>
      </p:sp>
      <p:sp>
        <p:nvSpPr>
          <p:cNvPr id="186" name="Google Shape;186;p5"/>
          <p:cNvSpPr txBox="1"/>
          <p:nvPr/>
        </p:nvSpPr>
        <p:spPr>
          <a:xfrm>
            <a:off x="1216152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3,350</a:t>
            </a:r>
            <a:endParaRPr/>
          </a:p>
        </p:txBody>
      </p:sp>
      <p:sp>
        <p:nvSpPr>
          <p:cNvPr id="187" name="Google Shape;187;p5"/>
          <p:cNvSpPr txBox="1"/>
          <p:nvPr/>
        </p:nvSpPr>
        <p:spPr>
          <a:xfrm>
            <a:off x="1216152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Licensed places to eat in Boston</a:t>
            </a:r>
            <a:endParaRPr sz="2400"/>
          </a:p>
        </p:txBody>
      </p:sp>
      <p:sp>
        <p:nvSpPr>
          <p:cNvPr id="188" name="Google Shape;188;p5"/>
          <p:cNvSpPr/>
          <p:nvPr/>
        </p:nvSpPr>
        <p:spPr>
          <a:xfrm>
            <a:off x="822960" y="68580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189" name="Google Shape;189;p5"/>
          <p:cNvSpPr txBox="1"/>
          <p:nvPr/>
        </p:nvSpPr>
        <p:spPr>
          <a:xfrm>
            <a:off x="822960" y="7040880"/>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 market</a:t>
            </a:r>
            <a:endParaRPr sz="2400"/>
          </a:p>
        </p:txBody>
      </p:sp>
      <p:sp>
        <p:nvSpPr>
          <p:cNvPr id="190" name="Google Shape;190;p5"/>
          <p:cNvSpPr txBox="1"/>
          <p:nvPr/>
        </p:nvSpPr>
        <p:spPr>
          <a:xfrm>
            <a:off x="3657600" y="7022592"/>
            <a:ext cx="138075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77.8M people aged 18 to 34 (TAM), 19M US college students we can reach (SAM), 540K we plan to win (SOM).</a:t>
            </a:r>
            <a:endParaRPr sz="2400"/>
          </a:p>
        </p:txBody>
      </p:sp>
      <p:sp>
        <p:nvSpPr>
          <p:cNvPr id="191" name="Google Shape;191;p5"/>
          <p:cNvSpPr txBox="1"/>
          <p:nvPr/>
        </p:nvSpPr>
        <p:spPr>
          <a:xfrm>
            <a:off x="822935" y="8046720"/>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Growth</a:t>
            </a:r>
            <a:endParaRPr sz="2400"/>
          </a:p>
        </p:txBody>
      </p:sp>
      <p:sp>
        <p:nvSpPr>
          <p:cNvPr id="192" name="Google Shape;192;p5"/>
          <p:cNvSpPr txBox="1"/>
          <p:nvPr/>
        </p:nvSpPr>
        <p:spPr>
          <a:xfrm>
            <a:off x="3657575" y="8028432"/>
            <a:ext cx="138075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first. Other cities from Year 3.</a:t>
            </a:r>
            <a:endParaRPr sz="2400"/>
          </a:p>
        </p:txBody>
      </p:sp>
      <p:sp>
        <p:nvSpPr>
          <p:cNvPr id="193" name="Google Shape;193;p5"/>
          <p:cNvSpPr txBox="1"/>
          <p:nvPr/>
        </p:nvSpPr>
        <p:spPr>
          <a:xfrm>
            <a:off x="822935" y="8686800"/>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Why not Beli</a:t>
            </a:r>
            <a:endParaRPr sz="2400"/>
          </a:p>
        </p:txBody>
      </p:sp>
      <p:sp>
        <p:nvSpPr>
          <p:cNvPr id="194" name="Google Shape;194;p5"/>
          <p:cNvSpPr txBox="1"/>
          <p:nvPr/>
        </p:nvSpPr>
        <p:spPr>
          <a:xfrm>
            <a:off x="3657575" y="8668512"/>
            <a:ext cx="138075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Beli ranks where you've been. We tell you where to go now, with scores people proved.</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6"/>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 get users</a:t>
            </a:r>
            <a:endParaRPr/>
          </a:p>
        </p:txBody>
      </p:sp>
      <p:sp>
        <p:nvSpPr>
          <p:cNvPr id="201" name="Google Shape;201;p6"/>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6</a:t>
            </a:r>
            <a:endParaRPr/>
          </a:p>
        </p:txBody>
      </p:sp>
      <p:sp>
        <p:nvSpPr>
          <p:cNvPr id="202" name="Google Shape;202;p6"/>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Our first 1,000 users come from Boston campuses, starting with ours, </a:t>
            </a:r>
            <a:r>
              <a:rPr b="0" i="0" lang="en-US" sz="4400" u="none" cap="none" strike="noStrike">
                <a:solidFill>
                  <a:srgbClr val="595959"/>
                </a:solidFill>
                <a:latin typeface="Poppins"/>
                <a:ea typeface="Poppins"/>
                <a:cs typeface="Poppins"/>
                <a:sym typeface="Poppins"/>
              </a:rPr>
              <a:t>one friend inviting the next.</a:t>
            </a:r>
            <a:endParaRPr/>
          </a:p>
        </p:txBody>
      </p:sp>
      <p:sp>
        <p:nvSpPr>
          <p:cNvPr id="203" name="Google Shape;203;p6"/>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referrals: Wall Street Journal, May 2025. User targets are from our Gate 2 model.</a:t>
            </a:r>
            <a:endParaRPr/>
          </a:p>
        </p:txBody>
      </p:sp>
      <p:sp>
        <p:nvSpPr>
          <p:cNvPr id="204" name="Google Shape;204;p6"/>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Who they are and where we find them</a:t>
            </a:r>
            <a:endParaRPr sz="2400"/>
          </a:p>
        </p:txBody>
      </p:sp>
      <p:sp>
        <p:nvSpPr>
          <p:cNvPr id="205" name="Google Shape;205;p6"/>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tell them</a:t>
            </a:r>
            <a:endParaRPr sz="2400"/>
          </a:p>
        </p:txBody>
      </p:sp>
      <p:sp>
        <p:nvSpPr>
          <p:cNvPr id="206" name="Google Shape;206;p6"/>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07" name="Google Shape;207;p6"/>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a:t>
            </a:r>
            <a:endParaRPr sz="2400"/>
          </a:p>
        </p:txBody>
      </p:sp>
      <p:sp>
        <p:nvSpPr>
          <p:cNvPr id="208" name="Google Shape;208;p6"/>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People we interviewed and our friends test the prototype.</a:t>
            </a:r>
            <a:endParaRPr sz="2400"/>
          </a:p>
        </p:txBody>
      </p:sp>
      <p:sp>
        <p:nvSpPr>
          <p:cNvPr id="209" name="Google Shape;209;p6"/>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Help us build it.</a:t>
            </a:r>
            <a:endParaRPr sz="2400"/>
          </a:p>
        </p:txBody>
      </p:sp>
      <p:sp>
        <p:nvSpPr>
          <p:cNvPr id="210" name="Google Shape;210;p6"/>
          <p:cNvSpPr/>
          <p:nvPr/>
        </p:nvSpPr>
        <p:spPr>
          <a:xfrm>
            <a:off x="822960" y="545896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1" name="Google Shape;211;p6"/>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a:t>
            </a:r>
            <a:endParaRPr sz="2400"/>
          </a:p>
        </p:txBody>
      </p:sp>
      <p:sp>
        <p:nvSpPr>
          <p:cNvPr id="212" name="Google Shape;212;p6"/>
          <p:cNvSpPr txBox="1"/>
          <p:nvPr/>
        </p:nvSpPr>
        <p:spPr>
          <a:xfrm>
            <a:off x="3657600" y="562356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Northeastern students they invite, plus clubs and group chats.</a:t>
            </a:r>
            <a:endParaRPr sz="2400"/>
          </a:p>
        </p:txBody>
      </p:sp>
      <p:sp>
        <p:nvSpPr>
          <p:cNvPr id="213" name="Google Shape;213;p6"/>
          <p:cNvSpPr txBox="1"/>
          <p:nvPr/>
        </p:nvSpPr>
        <p:spPr>
          <a:xfrm>
            <a:off x="10607040" y="562356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Every rating for a place, in one app.</a:t>
            </a:r>
            <a:endParaRPr sz="2400"/>
          </a:p>
        </p:txBody>
      </p:sp>
      <p:sp>
        <p:nvSpPr>
          <p:cNvPr id="214" name="Google Shape;214;p6"/>
          <p:cNvSpPr/>
          <p:nvPr/>
        </p:nvSpPr>
        <p:spPr>
          <a:xfrm>
            <a:off x="822960" y="67848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5" name="Google Shape;215;p6"/>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1,000</a:t>
            </a:r>
            <a:endParaRPr sz="2400"/>
          </a:p>
        </p:txBody>
      </p:sp>
      <p:sp>
        <p:nvSpPr>
          <p:cNvPr id="216" name="Google Shape;216;p6"/>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Other Boston campuses, through student ambassadors and food posts.</a:t>
            </a:r>
            <a:endParaRPr sz="2400"/>
          </a:p>
        </p:txBody>
      </p:sp>
      <p:sp>
        <p:nvSpPr>
          <p:cNvPr id="217" name="Google Shape;217;p6"/>
          <p:cNvSpPr txBox="1"/>
          <p:nvPr/>
        </p:nvSpPr>
        <p:spPr>
          <a:xfrm>
            <a:off x="10607040" y="694944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app instead of five tabs.</a:t>
            </a:r>
            <a:endParaRPr sz="2400"/>
          </a:p>
        </p:txBody>
      </p:sp>
      <p:sp>
        <p:nvSpPr>
          <p:cNvPr id="218" name="Google Shape;218;p6"/>
          <p:cNvSpPr/>
          <p:nvPr/>
        </p:nvSpPr>
        <p:spPr>
          <a:xfrm>
            <a:off x="822960" y="811072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9" name="Google Shape;219;p6"/>
          <p:cNvSpPr txBox="1"/>
          <p:nvPr/>
        </p:nvSpPr>
        <p:spPr>
          <a:xfrm>
            <a:off x="822960" y="8458200"/>
            <a:ext cx="166422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Friends inviting friends gets us to 12K by the end of Year 1; about 80% of Beli's users arrived that way. Users never have to pay.</a:t>
            </a:r>
            <a:endParaRPr sz="24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7"/>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Why restaurants pay</a:t>
            </a:r>
            <a:endParaRPr/>
          </a:p>
        </p:txBody>
      </p:sp>
      <p:sp>
        <p:nvSpPr>
          <p:cNvPr id="226" name="Google Shape;226;p7"/>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7</a:t>
            </a:r>
            <a:endParaRPr/>
          </a:p>
        </p:txBody>
      </p:sp>
      <p:sp>
        <p:nvSpPr>
          <p:cNvPr id="227" name="Google Shape;227;p7"/>
          <p:cNvSpPr txBox="1"/>
          <p:nvPr/>
        </p:nvSpPr>
        <p:spPr>
          <a:xfrm>
            <a:off x="822960" y="1208990"/>
            <a:ext cx="15087600" cy="6774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Restaurants pay for the diners we send, not for ads.</a:t>
            </a:r>
            <a:endParaRPr/>
          </a:p>
        </p:txBody>
      </p:sp>
      <p:sp>
        <p:nvSpPr>
          <p:cNvPr id="228" name="Google Shape;228;p7"/>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 Together these come to $356K of revenue in Year 5.</a:t>
            </a:r>
            <a:endParaRPr/>
          </a:p>
        </p:txBody>
      </p:sp>
      <p:sp>
        <p:nvSpPr>
          <p:cNvPr id="229" name="Google Shape;229;p7"/>
          <p:cNvSpPr txBox="1"/>
          <p:nvPr/>
        </p:nvSpPr>
        <p:spPr>
          <a:xfrm>
            <a:off x="4206240" y="3657600"/>
            <a:ext cx="5029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Their problem</a:t>
            </a:r>
            <a:endParaRPr sz="2400"/>
          </a:p>
        </p:txBody>
      </p:sp>
      <p:sp>
        <p:nvSpPr>
          <p:cNvPr id="230" name="Google Shape;230;p7"/>
          <p:cNvSpPr txBox="1"/>
          <p:nvPr/>
        </p:nvSpPr>
        <p:spPr>
          <a:xfrm>
            <a:off x="9509760" y="3657600"/>
            <a:ext cx="56692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charge</a:t>
            </a:r>
            <a:endParaRPr sz="2400"/>
          </a:p>
        </p:txBody>
      </p:sp>
      <p:sp>
        <p:nvSpPr>
          <p:cNvPr id="231" name="Google Shape;231;p7"/>
          <p:cNvSpPr txBox="1"/>
          <p:nvPr/>
        </p:nvSpPr>
        <p:spPr>
          <a:xfrm>
            <a:off x="15453360" y="365760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sz="2400"/>
          </a:p>
        </p:txBody>
      </p:sp>
      <p:sp>
        <p:nvSpPr>
          <p:cNvPr id="232" name="Google Shape;232;p7"/>
          <p:cNvSpPr/>
          <p:nvPr/>
        </p:nvSpPr>
        <p:spPr>
          <a:xfrm>
            <a:off x="822960" y="40416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33" name="Google Shape;233;p7"/>
          <p:cNvSpPr txBox="1"/>
          <p:nvPr/>
        </p:nvSpPr>
        <p:spPr>
          <a:xfrm>
            <a:off x="822960" y="4206240"/>
            <a:ext cx="32004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Restaurants, booking sites, chains</a:t>
            </a:r>
            <a:endParaRPr sz="2400"/>
          </a:p>
        </p:txBody>
      </p:sp>
      <p:sp>
        <p:nvSpPr>
          <p:cNvPr id="234" name="Google Shape;234;p7"/>
          <p:cNvSpPr txBox="1"/>
          <p:nvPr/>
        </p:nvSpPr>
        <p:spPr>
          <a:xfrm>
            <a:off x="4206240" y="4206240"/>
            <a:ext cx="502920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Pay for ads up front and can't tell what worked. Chains guess what a neighborhood eats before signing a lease.</a:t>
            </a:r>
            <a:endParaRPr sz="2200"/>
          </a:p>
        </p:txBody>
      </p:sp>
      <p:sp>
        <p:nvSpPr>
          <p:cNvPr id="235" name="Google Shape;235;p7"/>
          <p:cNvSpPr txBox="1"/>
          <p:nvPr/>
        </p:nvSpPr>
        <p:spPr>
          <a:xfrm>
            <a:off x="9509760" y="4206240"/>
            <a:ext cx="566928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About $0.90 per new diner we send, once a receipt proves it. Booking sites pay per table. Chains: $6,000 a year per neighborhood</a:t>
            </a:r>
            <a:r>
              <a:rPr lang="en-US" sz="2200">
                <a:latin typeface="Poppins"/>
                <a:ea typeface="Poppins"/>
                <a:cs typeface="Poppins"/>
                <a:sym typeface="Poppins"/>
              </a:rPr>
              <a:t>.</a:t>
            </a:r>
            <a:endParaRPr sz="2200"/>
          </a:p>
        </p:txBody>
      </p:sp>
      <p:sp>
        <p:nvSpPr>
          <p:cNvPr id="236" name="Google Shape;236;p7"/>
          <p:cNvSpPr txBox="1"/>
          <p:nvPr/>
        </p:nvSpPr>
        <p:spPr>
          <a:xfrm>
            <a:off x="15453360" y="420624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$288K</a:t>
            </a:r>
            <a:endParaRPr sz="2400"/>
          </a:p>
        </p:txBody>
      </p:sp>
      <p:sp>
        <p:nvSpPr>
          <p:cNvPr id="237" name="Google Shape;237;p7"/>
          <p:cNvSpPr/>
          <p:nvPr/>
        </p:nvSpPr>
        <p:spPr>
          <a:xfrm>
            <a:off x="822960" y="6172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238" name="Google Shape;238;p7"/>
          <p:cNvSpPr txBox="1"/>
          <p:nvPr/>
        </p:nvSpPr>
        <p:spPr>
          <a:xfrm>
            <a:off x="822960" y="6355080"/>
            <a:ext cx="32004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Users</a:t>
            </a:r>
            <a:endParaRPr sz="2400"/>
          </a:p>
        </p:txBody>
      </p:sp>
      <p:sp>
        <p:nvSpPr>
          <p:cNvPr id="239" name="Google Shape;239;p7"/>
          <p:cNvSpPr txBox="1"/>
          <p:nvPr/>
        </p:nvSpPr>
        <p:spPr>
          <a:xfrm>
            <a:off x="4206240" y="6355080"/>
            <a:ext cx="5029200" cy="985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The app is free. About 3 in 1,000 pay for extras. What the $5 buys is our first Year 1 test.</a:t>
            </a:r>
            <a:endParaRPr sz="2200"/>
          </a:p>
        </p:txBody>
      </p:sp>
      <p:sp>
        <p:nvSpPr>
          <p:cNvPr id="240" name="Google Shape;240;p7"/>
          <p:cNvSpPr txBox="1"/>
          <p:nvPr/>
        </p:nvSpPr>
        <p:spPr>
          <a:xfrm>
            <a:off x="9509760" y="6355080"/>
            <a:ext cx="5669280" cy="307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An optional $5 a month membership.</a:t>
            </a:r>
            <a:endParaRPr sz="2200"/>
          </a:p>
        </p:txBody>
      </p:sp>
      <p:sp>
        <p:nvSpPr>
          <p:cNvPr id="241" name="Google Shape;241;p7"/>
          <p:cNvSpPr txBox="1"/>
          <p:nvPr/>
        </p:nvSpPr>
        <p:spPr>
          <a:xfrm>
            <a:off x="15453360" y="635508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sz="2400"/>
          </a:p>
        </p:txBody>
      </p:sp>
      <p:sp>
        <p:nvSpPr>
          <p:cNvPr id="242" name="Google Shape;242;p7"/>
          <p:cNvSpPr/>
          <p:nvPr/>
        </p:nvSpPr>
        <p:spPr>
          <a:xfrm>
            <a:off x="822960" y="790956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43" name="Google Shape;243;p7"/>
          <p:cNvSpPr txBox="1"/>
          <p:nvPr/>
        </p:nvSpPr>
        <p:spPr>
          <a:xfrm>
            <a:off x="822960" y="813816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Two sides pay, $356K in Year 5. Paying never changes a score or a ranking.</a:t>
            </a:r>
            <a:endParaRPr sz="2400"/>
          </a:p>
        </p:txBody>
      </p:sp>
      <p:sp>
        <p:nvSpPr>
          <p:cNvPr id="244" name="Google Shape;244;p7"/>
          <p:cNvSpPr txBox="1"/>
          <p:nvPr/>
        </p:nvSpPr>
        <p:spPr>
          <a:xfrm>
            <a:off x="822960" y="8732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Next: five owner calls, each offered a free 30-day pilot and a report of the diners we sent.</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8"/>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What we learned</a:t>
            </a:r>
            <a:endParaRPr/>
          </a:p>
        </p:txBody>
      </p:sp>
      <p:sp>
        <p:nvSpPr>
          <p:cNvPr id="251" name="Google Shape;251;p8"/>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8</a:t>
            </a:r>
            <a:endParaRPr/>
          </a:p>
        </p:txBody>
      </p:sp>
      <p:sp>
        <p:nvSpPr>
          <p:cNvPr id="252" name="Google Shape;252;p8"/>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None of the apps before us made money early, </a:t>
            </a:r>
            <a:r>
              <a:rPr b="0" i="0" lang="en-US" sz="4400" u="none" cap="none" strike="noStrike">
                <a:solidFill>
                  <a:srgbClr val="595959"/>
                </a:solidFill>
                <a:latin typeface="Poppins"/>
                <a:ea typeface="Poppins"/>
                <a:cs typeface="Poppins"/>
                <a:sym typeface="Poppins"/>
              </a:rPr>
              <a:t>so we kept ours lean.</a:t>
            </a:r>
            <a:endParaRPr/>
          </a:p>
        </p:txBody>
      </p:sp>
      <p:sp>
        <p:nvSpPr>
          <p:cNvPr id="253" name="Google Shape;253;p8"/>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Form S-1, 2009. TechCrunch, May 2019 (Resy). Sensor Tower in the Boston Globe, Nov 2025, and Wall Street Journal, May 2025 (Beli). Resy never reported a profit.</a:t>
            </a:r>
            <a:endParaRPr/>
          </a:p>
        </p:txBody>
      </p:sp>
      <p:sp>
        <p:nvSpPr>
          <p:cNvPr id="254" name="Google Shape;254;p8"/>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happened to them</a:t>
            </a:r>
            <a:endParaRPr sz="2400"/>
          </a:p>
        </p:txBody>
      </p:sp>
      <p:sp>
        <p:nvSpPr>
          <p:cNvPr id="255" name="Google Shape;255;p8"/>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did about it</a:t>
            </a:r>
            <a:endParaRPr sz="2400"/>
          </a:p>
        </p:txBody>
      </p:sp>
      <p:sp>
        <p:nvSpPr>
          <p:cNvPr id="256" name="Google Shape;256;p8"/>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57" name="Google Shape;257;p8"/>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OpenTable</a:t>
            </a:r>
            <a:endParaRPr sz="2400"/>
          </a:p>
        </p:txBody>
      </p:sp>
      <p:sp>
        <p:nvSpPr>
          <p:cNvPr id="258" name="Google Shape;258;p8"/>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Nine years to a profit, $57M lost getting there.</a:t>
            </a:r>
            <a:endParaRPr sz="2400"/>
          </a:p>
        </p:txBody>
      </p:sp>
      <p:sp>
        <p:nvSpPr>
          <p:cNvPr id="259" name="Google Shape;259;p8"/>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No salaries. Co-op students before hires.</a:t>
            </a:r>
            <a:endParaRPr sz="2400"/>
          </a:p>
        </p:txBody>
      </p:sp>
      <p:sp>
        <p:nvSpPr>
          <p:cNvPr id="260" name="Google Shape;260;p8"/>
          <p:cNvSpPr/>
          <p:nvPr/>
        </p:nvSpPr>
        <p:spPr>
          <a:xfrm>
            <a:off x="822960" y="545896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1" name="Google Shape;261;p8"/>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Resy</a:t>
            </a:r>
            <a:endParaRPr sz="2400"/>
          </a:p>
        </p:txBody>
      </p:sp>
      <p:sp>
        <p:nvSpPr>
          <p:cNvPr id="262" name="Google Shape;262;p8"/>
          <p:cNvSpPr txBox="1"/>
          <p:nvPr/>
        </p:nvSpPr>
        <p:spPr>
          <a:xfrm>
            <a:off x="3657600" y="562356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Ran on $45M of investor money, then sold.</a:t>
            </a:r>
            <a:endParaRPr sz="2400"/>
          </a:p>
        </p:txBody>
      </p:sp>
      <p:sp>
        <p:nvSpPr>
          <p:cNvPr id="263" name="Google Shape;263;p8"/>
          <p:cNvSpPr txBox="1"/>
          <p:nvPr/>
        </p:nvSpPr>
        <p:spPr>
          <a:xfrm>
            <a:off x="10607040" y="562356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Costs low enough to need $240K, starting with grants.</a:t>
            </a:r>
            <a:endParaRPr sz="2400"/>
          </a:p>
        </p:txBody>
      </p:sp>
      <p:sp>
        <p:nvSpPr>
          <p:cNvPr id="264" name="Google Shape;264;p8"/>
          <p:cNvSpPr/>
          <p:nvPr/>
        </p:nvSpPr>
        <p:spPr>
          <a:xfrm>
            <a:off x="822960" y="67848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5" name="Google Shape;265;p8"/>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Beli</a:t>
            </a:r>
            <a:endParaRPr sz="2400"/>
          </a:p>
        </p:txBody>
      </p:sp>
      <p:sp>
        <p:nvSpPr>
          <p:cNvPr id="266" name="Google Shape;266;p8"/>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1.1M monthly users, mostly through friends, five people, almost no revenue.</a:t>
            </a:r>
            <a:endParaRPr sz="2400"/>
          </a:p>
        </p:txBody>
      </p:sp>
      <p:sp>
        <p:nvSpPr>
          <p:cNvPr id="267" name="Google Shape;267;p8"/>
          <p:cNvSpPr txBox="1"/>
          <p:nvPr/>
        </p:nvSpPr>
        <p:spPr>
          <a:xfrm>
            <a:off x="10607040" y="694944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A quarter of its size, almost no ads, restaurants paying from Year 2.</a:t>
            </a:r>
            <a:endParaRPr sz="2400"/>
          </a:p>
        </p:txBody>
      </p:sp>
      <p:sp>
        <p:nvSpPr>
          <p:cNvPr id="268" name="Google Shape;268;p8"/>
          <p:cNvSpPr/>
          <p:nvPr/>
        </p:nvSpPr>
        <p:spPr>
          <a:xfrm>
            <a:off x="822960" y="811072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9" name="Google Shape;269;p8"/>
          <p:cNvSpPr txBox="1"/>
          <p:nvPr/>
        </p:nvSpPr>
        <p:spPr>
          <a:xfrm>
            <a:off x="822960" y="845820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The trade-off: a smaller team, and it only works if restaurants sign up.</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9"/>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The numbers</a:t>
            </a:r>
            <a:endParaRPr/>
          </a:p>
        </p:txBody>
      </p:sp>
      <p:sp>
        <p:nvSpPr>
          <p:cNvPr id="276" name="Google Shape;276;p9"/>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9</a:t>
            </a:r>
            <a:endParaRPr/>
          </a:p>
        </p:txBody>
      </p:sp>
      <p:sp>
        <p:nvSpPr>
          <p:cNvPr id="277" name="Google Shape;277;p9"/>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We spend about $11K a quarter for two years. </a:t>
            </a:r>
            <a:r>
              <a:rPr b="0" i="0" lang="en-US" sz="4400" u="none" cap="none" strike="noStrike">
                <a:solidFill>
                  <a:srgbClr val="595959"/>
                </a:solidFill>
                <a:latin typeface="Poppins"/>
                <a:ea typeface="Poppins"/>
                <a:cs typeface="Poppins"/>
                <a:sym typeface="Poppins"/>
              </a:rPr>
              <a:t>Year 5 is our first profit.</a:t>
            </a:r>
            <a:endParaRPr/>
          </a:p>
        </p:txBody>
      </p:sp>
      <p:sp>
        <p:nvSpPr>
          <p:cNvPr id="278" name="Google Shape;278;p9"/>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$K. Years 1 and 2 by quarter, years 3 to 5 by year. From our Gate 2 model; assumptions and sources are in the workbook.</a:t>
            </a:r>
            <a:endParaRPr/>
          </a:p>
        </p:txBody>
      </p:sp>
      <p:graphicFrame>
        <p:nvGraphicFramePr>
          <p:cNvPr id="279" name="Google Shape;279;p9"/>
          <p:cNvGraphicFramePr/>
          <p:nvPr/>
        </p:nvGraphicFramePr>
        <p:xfrm>
          <a:off x="822960" y="3611880"/>
          <a:ext cx="3000000" cy="3000000"/>
        </p:xfrm>
        <a:graphic>
          <a:graphicData uri="http://schemas.openxmlformats.org/drawingml/2006/table">
            <a:tbl>
              <a:tblPr bandRow="1" firstRow="1">
                <a:noFill/>
                <a:tableStyleId>{97F22518-C55D-4401-A6EB-0ED8D26C8151}</a:tableStyleId>
              </a:tblPr>
              <a:tblGrid>
                <a:gridCol w="2420000"/>
                <a:gridCol w="1346859"/>
                <a:gridCol w="1346859"/>
                <a:gridCol w="1346859"/>
                <a:gridCol w="1346859"/>
                <a:gridCol w="1346859"/>
                <a:gridCol w="1346859"/>
                <a:gridCol w="1346859"/>
                <a:gridCol w="1346859"/>
                <a:gridCol w="1143000"/>
                <a:gridCol w="1143000"/>
                <a:gridCol w="1143000"/>
              </a:tblGrid>
              <a:tr h="512075">
                <a:tc>
                  <a:txBody>
                    <a:bodyPr/>
                    <a:lstStyle/>
                    <a:p>
                      <a:pPr indent="0" lvl="0" marL="0" marR="0" rtl="0" algn="l">
                        <a:spcBef>
                          <a:spcPts val="0"/>
                        </a:spcBef>
                        <a:spcAft>
                          <a:spcPts val="0"/>
                        </a:spcAft>
                        <a:buNone/>
                      </a:pPr>
                      <a:r>
                        <a:rPr b="1" lang="en-US" sz="1800" u="none" cap="none" strike="noStrike">
                          <a:solidFill>
                            <a:srgbClr val="6F6B34"/>
                          </a:solidFill>
                          <a:latin typeface="Poppins"/>
                          <a:ea typeface="Poppins"/>
                          <a:cs typeface="Poppins"/>
                          <a:sym typeface="Poppins"/>
                        </a:rPr>
                        <a:t>$K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5</a:t>
                      </a:r>
                      <a:endParaRPr/>
                    </a:p>
                  </a:txBody>
                  <a:tcPr marT="27425" marB="27425" marR="73150" marL="73150" anchor="ctr">
                    <a:solidFill>
                      <a:srgbClr val="FFFFFF"/>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Active users (K)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15.2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24.5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80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208</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540</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Revenue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2.0</a:t>
                      </a:r>
                      <a:endParaRPr/>
                    </a:p>
                  </a:txBody>
                  <a:tcPr marT="27425" marB="27425" marR="73150" marL="73150" anchor="ctr">
                    <a:solidFill>
                      <a:srgbClr val="EFE6C4"/>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2.6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4.2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140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356</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Spending</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10.9</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10.9</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283</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Profit or loss</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72</a:t>
                      </a:r>
                      <a:endParaRPr/>
                    </a:p>
                  </a:txBody>
                  <a:tcPr marT="27425" marB="27425" marR="73150" marL="73150" anchor="ctr">
                    <a:solidFill>
                      <a:srgbClr val="EFE6C4"/>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Cumulative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(43)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(74)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(141)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(192)</a:t>
                      </a:r>
                      <a:endParaRPr/>
                    </a:p>
                  </a:txBody>
                  <a:tcPr marT="27425" marB="27425" marR="73150" marL="73150" anchor="ctr">
                    <a:solidFill>
                      <a:srgbClr val="EFE6C4"/>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4F3EC"/>
                    </a:solidFill>
                  </a:tcPr>
                </a:tc>
              </a:tr>
            </a:tbl>
          </a:graphicData>
        </a:graphic>
      </p:graphicFrame>
      <p:sp>
        <p:nvSpPr>
          <p:cNvPr id="280" name="Google Shape;280;p9"/>
          <p:cNvSpPr/>
          <p:nvPr/>
        </p:nvSpPr>
        <p:spPr>
          <a:xfrm>
            <a:off x="822960" y="4123944"/>
            <a:ext cx="16623792" cy="13716"/>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1" name="Google Shape;281;p9"/>
          <p:cNvSpPr txBox="1"/>
          <p:nvPr/>
        </p:nvSpPr>
        <p:spPr>
          <a:xfrm>
            <a:off x="877835" y="6995160"/>
            <a:ext cx="28347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6F6B34"/>
                </a:solidFill>
                <a:latin typeface="Poppins"/>
                <a:ea typeface="Poppins"/>
                <a:cs typeface="Poppins"/>
                <a:sym typeface="Poppins"/>
              </a:rPr>
              <a:t>What happens</a:t>
            </a:r>
            <a:endParaRPr sz="1800"/>
          </a:p>
        </p:txBody>
      </p:sp>
      <p:sp>
        <p:nvSpPr>
          <p:cNvPr id="282" name="Google Shape;282;p9"/>
          <p:cNvSpPr txBox="1"/>
          <p:nvPr/>
        </p:nvSpPr>
        <p:spPr>
          <a:xfrm>
            <a:off x="3242960"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Build the app</a:t>
            </a:r>
            <a:endParaRPr sz="1600"/>
          </a:p>
        </p:txBody>
      </p:sp>
      <p:sp>
        <p:nvSpPr>
          <p:cNvPr id="283" name="Google Shape;283;p9"/>
          <p:cNvSpPr txBox="1"/>
          <p:nvPr/>
        </p:nvSpPr>
        <p:spPr>
          <a:xfrm>
            <a:off x="4589819"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Launch in Boston</a:t>
            </a:r>
            <a:endParaRPr sz="1600"/>
          </a:p>
        </p:txBody>
      </p:sp>
      <p:sp>
        <p:nvSpPr>
          <p:cNvPr id="284" name="Google Shape;284;p9"/>
          <p:cNvSpPr txBox="1"/>
          <p:nvPr/>
        </p:nvSpPr>
        <p:spPr>
          <a:xfrm>
            <a:off x="5936678"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Grow by referral</a:t>
            </a:r>
            <a:endParaRPr sz="1600"/>
          </a:p>
        </p:txBody>
      </p:sp>
      <p:sp>
        <p:nvSpPr>
          <p:cNvPr id="285" name="Google Shape;285;p9"/>
          <p:cNvSpPr txBox="1"/>
          <p:nvPr/>
        </p:nvSpPr>
        <p:spPr>
          <a:xfrm>
            <a:off x="7283537"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12K users</a:t>
            </a:r>
            <a:endParaRPr sz="1600"/>
          </a:p>
        </p:txBody>
      </p:sp>
      <p:sp>
        <p:nvSpPr>
          <p:cNvPr id="286" name="Google Shape;286;p9"/>
          <p:cNvSpPr txBox="1"/>
          <p:nvPr/>
        </p:nvSpPr>
        <p:spPr>
          <a:xfrm>
            <a:off x="8630396"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First revenue</a:t>
            </a:r>
            <a:endParaRPr sz="1600"/>
          </a:p>
        </p:txBody>
      </p:sp>
      <p:sp>
        <p:nvSpPr>
          <p:cNvPr id="287" name="Google Shape;287;p9"/>
          <p:cNvSpPr txBox="1"/>
          <p:nvPr/>
        </p:nvSpPr>
        <p:spPr>
          <a:xfrm>
            <a:off x="9977255"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More restaurants</a:t>
            </a:r>
            <a:endParaRPr sz="1600"/>
          </a:p>
        </p:txBody>
      </p:sp>
      <p:sp>
        <p:nvSpPr>
          <p:cNvPr id="288" name="Google Shape;288;p9"/>
          <p:cNvSpPr txBox="1"/>
          <p:nvPr/>
        </p:nvSpPr>
        <p:spPr>
          <a:xfrm>
            <a:off x="11324114"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Pitch chains</a:t>
            </a:r>
            <a:endParaRPr sz="1600"/>
          </a:p>
        </p:txBody>
      </p:sp>
      <p:sp>
        <p:nvSpPr>
          <p:cNvPr id="289" name="Google Shape;289;p9"/>
          <p:cNvSpPr txBox="1"/>
          <p:nvPr/>
        </p:nvSpPr>
        <p:spPr>
          <a:xfrm>
            <a:off x="12670973"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Hire co-op for yr 3</a:t>
            </a:r>
            <a:endParaRPr sz="1600"/>
          </a:p>
        </p:txBody>
      </p:sp>
      <p:sp>
        <p:nvSpPr>
          <p:cNvPr id="290" name="Google Shape;290;p9"/>
          <p:cNvSpPr txBox="1"/>
          <p:nvPr/>
        </p:nvSpPr>
        <p:spPr>
          <a:xfrm>
            <a:off x="14017832" y="6995160"/>
            <a:ext cx="3355850"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Co-op students: 1, 2 and 3 in Years 3 to 5.</a:t>
            </a:r>
            <a:endParaRPr sz="1600"/>
          </a:p>
        </p:txBody>
      </p:sp>
      <p:sp>
        <p:nvSpPr>
          <p:cNvPr id="291" name="Google Shape;291;p9"/>
          <p:cNvSpPr txBox="1"/>
          <p:nvPr/>
        </p:nvSpPr>
        <p:spPr>
          <a:xfrm>
            <a:off x="822960" y="8503920"/>
            <a:ext cx="166420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434343"/>
                </a:solidFill>
                <a:latin typeface="Poppins"/>
                <a:ea typeface="Poppins"/>
                <a:cs typeface="Poppins"/>
                <a:sym typeface="Poppins"/>
              </a:rPr>
              <a:t>Highlighted: first revenue, the $192K low, and first profit. That low plus a 25% cushion sets the $240K total. Each quarter of Years 1 and 2: $7,500 developer, $1,500 marketing, $1,500 legal and insurance, plus hosting. Nobody else is paid until the angel round funds Year 3.</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sp>
        <p:nvSpPr>
          <p:cNvPr id="297" name="Google Shape;297;p10"/>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raise it</a:t>
            </a:r>
            <a:endParaRPr/>
          </a:p>
        </p:txBody>
      </p:sp>
      <p:sp>
        <p:nvSpPr>
          <p:cNvPr id="298" name="Google Shape;298;p10"/>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10</a:t>
            </a:r>
            <a:endParaRPr/>
          </a:p>
        </p:txBody>
      </p:sp>
      <p:sp>
        <p:nvSpPr>
          <p:cNvPr id="299" name="Google Shape;299;p10"/>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We'd start on grants, as Beli did. </a:t>
            </a:r>
            <a:r>
              <a:rPr b="0" i="0" lang="en-US" sz="4400" u="none" cap="none" strike="noStrike">
                <a:solidFill>
                  <a:srgbClr val="595959"/>
                </a:solidFill>
                <a:latin typeface="Poppins"/>
                <a:ea typeface="Poppins"/>
                <a:cs typeface="Poppins"/>
                <a:sym typeface="Poppins"/>
              </a:rPr>
              <a:t>One angel round of about $166K takes us to profit.</a:t>
            </a:r>
            <a:endParaRPr/>
          </a:p>
        </p:txBody>
      </p:sp>
      <p:sp>
        <p:nvSpPr>
          <p:cNvPr id="300" name="Google Shape;300;p10"/>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Wikipedia (Harvard grants); CB Insights ($5.3M, Nov 2023); Boston Globe, Nov 2025 (users). IDEA Gap Fund: Northeastern Global News. Amounts are from our Gate 2 model.</a:t>
            </a:r>
            <a:endParaRPr/>
          </a:p>
        </p:txBody>
      </p:sp>
      <p:sp>
        <p:nvSpPr>
          <p:cNvPr id="301" name="Google Shape;301;p10"/>
          <p:cNvSpPr txBox="1"/>
          <p:nvPr/>
        </p:nvSpPr>
        <p:spPr>
          <a:xfrm>
            <a:off x="5760720" y="3657600"/>
            <a:ext cx="3931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When</a:t>
            </a:r>
            <a:endParaRPr/>
          </a:p>
        </p:txBody>
      </p:sp>
      <p:sp>
        <p:nvSpPr>
          <p:cNvPr id="302" name="Google Shape;302;p10"/>
          <p:cNvSpPr txBox="1"/>
          <p:nvPr/>
        </p:nvSpPr>
        <p:spPr>
          <a:xfrm>
            <a:off x="10058400" y="3657600"/>
            <a:ext cx="7406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we'd show to get it</a:t>
            </a:r>
            <a:endParaRPr/>
          </a:p>
        </p:txBody>
      </p:sp>
      <p:sp>
        <p:nvSpPr>
          <p:cNvPr id="303" name="Google Shape;303;p10"/>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4" name="Google Shape;304;p10"/>
          <p:cNvSpPr txBox="1"/>
          <p:nvPr/>
        </p:nvSpPr>
        <p:spPr>
          <a:xfrm>
            <a:off x="822960" y="434340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Grants and competitions, about $74K</a:t>
            </a:r>
            <a:endParaRPr/>
          </a:p>
        </p:txBody>
      </p:sp>
      <p:sp>
        <p:nvSpPr>
          <p:cNvPr id="305" name="Google Shape;305;p10"/>
          <p:cNvSpPr txBox="1"/>
          <p:nvPr/>
        </p:nvSpPr>
        <p:spPr>
          <a:xfrm>
            <a:off x="5760720" y="434340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Years 1 and 2</a:t>
            </a:r>
            <a:endParaRPr/>
          </a:p>
        </p:txBody>
      </p:sp>
      <p:sp>
        <p:nvSpPr>
          <p:cNvPr id="306" name="Google Shape;306;p10"/>
          <p:cNvSpPr txBox="1"/>
          <p:nvPr/>
        </p:nvSpPr>
        <p:spPr>
          <a:xfrm>
            <a:off x="10058400" y="434340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IDEA Gap Fund and Boston pitch competitions. If we fall short, or the round slips, we cover the gap ourselves.</a:t>
            </a:r>
            <a:endParaRPr/>
          </a:p>
        </p:txBody>
      </p:sp>
      <p:sp>
        <p:nvSpPr>
          <p:cNvPr id="307" name="Google Shape;307;p10"/>
          <p:cNvSpPr/>
          <p:nvPr/>
        </p:nvSpPr>
        <p:spPr>
          <a:xfrm>
            <a:off x="822960" y="57607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8" name="Google Shape;308;p10"/>
          <p:cNvSpPr txBox="1"/>
          <p:nvPr/>
        </p:nvSpPr>
        <p:spPr>
          <a:xfrm>
            <a:off x="822960" y="598932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angel round, about $166K</a:t>
            </a:r>
            <a:endParaRPr/>
          </a:p>
        </p:txBody>
      </p:sp>
      <p:sp>
        <p:nvSpPr>
          <p:cNvPr id="309" name="Google Shape;309;p10"/>
          <p:cNvSpPr txBox="1"/>
          <p:nvPr/>
        </p:nvSpPr>
        <p:spPr>
          <a:xfrm>
            <a:off x="5760720" y="598932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End of Year 2</a:t>
            </a:r>
            <a:endParaRPr/>
          </a:p>
        </p:txBody>
      </p:sp>
      <p:sp>
        <p:nvSpPr>
          <p:cNvPr id="310" name="Google Shape;310;p10"/>
          <p:cNvSpPr txBox="1"/>
          <p:nvPr/>
        </p:nvSpPr>
        <p:spPr>
          <a:xfrm>
            <a:off x="10058400" y="598932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31K Boston users, restaurants paying for four quarters, and receipt-proven visits.</a:t>
            </a:r>
            <a:endParaRPr/>
          </a:p>
        </p:txBody>
      </p:sp>
      <p:sp>
        <p:nvSpPr>
          <p:cNvPr id="311" name="Google Shape;311;p10"/>
          <p:cNvSpPr/>
          <p:nvPr/>
        </p:nvSpPr>
        <p:spPr>
          <a:xfrm>
            <a:off x="822960" y="73609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10"/>
          <p:cNvSpPr txBox="1"/>
          <p:nvPr/>
        </p:nvSpPr>
        <p:spPr>
          <a:xfrm>
            <a:off x="822960" y="768096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$74K in grants plus $166K from angels: $240K in all. At $356K of Year 5 revenue we're too small for venture funds, so the angels' way out is a sale to a bigger platform or a card company, as Resy sold to American Express.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1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Appendix</a:t>
            </a:r>
            <a:endParaRPr/>
          </a:p>
        </p:txBody>
      </p:sp>
      <p:sp>
        <p:nvSpPr>
          <p:cNvPr id="319" name="Google Shape;319;p1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11"/>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Every line starts from a real company's number. </a:t>
            </a:r>
            <a:r>
              <a:rPr b="0" i="0" lang="en-US" sz="4400" u="none" cap="none" strike="noStrike">
                <a:solidFill>
                  <a:srgbClr val="595959"/>
                </a:solidFill>
                <a:latin typeface="Poppins"/>
                <a:ea typeface="Poppins"/>
                <a:cs typeface="Poppins"/>
                <a:sym typeface="Poppins"/>
              </a:rPr>
              <a:t>How many we sell is our guess.</a:t>
            </a:r>
            <a:endParaRPr/>
          </a:p>
        </p:txBody>
      </p:sp>
      <p:sp>
        <p:nvSpPr>
          <p:cNvPr id="321" name="Google Shape;321;p1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 Kakaku.com results, Nov 2025 (Tabelog).</a:t>
            </a:r>
            <a:endParaRPr/>
          </a:p>
        </p:txBody>
      </p:sp>
      <p:sp>
        <p:nvSpPr>
          <p:cNvPr id="322" name="Google Shape;322;p11"/>
          <p:cNvSpPr txBox="1"/>
          <p:nvPr/>
        </p:nvSpPr>
        <p:spPr>
          <a:xfrm>
            <a:off x="7315200" y="3657600"/>
            <a:ext cx="182880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a:p>
        </p:txBody>
      </p:sp>
      <p:sp>
        <p:nvSpPr>
          <p:cNvPr id="323" name="Google Shape;323;p11"/>
          <p:cNvSpPr txBox="1"/>
          <p:nvPr/>
        </p:nvSpPr>
        <p:spPr>
          <a:xfrm>
            <a:off x="9326880" y="3657600"/>
            <a:ext cx="813816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based it on</a:t>
            </a:r>
            <a:endParaRPr/>
          </a:p>
        </p:txBody>
      </p:sp>
      <p:sp>
        <p:nvSpPr>
          <p:cNvPr id="324" name="Google Shape;324;p11"/>
          <p:cNvSpPr/>
          <p:nvPr/>
        </p:nvSpPr>
        <p:spPr>
          <a:xfrm>
            <a:off x="822960" y="415137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11"/>
          <p:cNvSpPr txBox="1"/>
          <p:nvPr/>
        </p:nvSpPr>
        <p:spPr>
          <a:xfrm>
            <a:off x="822960" y="4343400"/>
            <a:ext cx="6309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Verified diners we send</a:t>
            </a:r>
            <a:endParaRPr/>
          </a:p>
        </p:txBody>
      </p:sp>
      <p:sp>
        <p:nvSpPr>
          <p:cNvPr id="326" name="Google Shape;326;p11"/>
          <p:cNvSpPr txBox="1"/>
          <p:nvPr/>
        </p:nvSpPr>
        <p:spPr>
          <a:xfrm>
            <a:off x="7315200" y="4343400"/>
            <a:ext cx="18288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$156K</a:t>
            </a:r>
            <a:endParaRPr/>
          </a:p>
        </p:txBody>
      </p:sp>
      <p:sp>
        <p:nvSpPr>
          <p:cNvPr id="327" name="Google Shape;327;p11"/>
          <p:cNvSpPr txBox="1"/>
          <p:nvPr/>
        </p:nvSpPr>
        <p:spPr>
          <a:xfrm>
            <a:off x="9326880" y="4343400"/>
            <a:ext cx="8138160" cy="914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OpenTable charges $1.00 to $1.50 a diner; Ibotta, a cash-back app, earns $0.87. We charge about $0.90.</a:t>
            </a:r>
            <a:endParaRPr/>
          </a:p>
        </p:txBody>
      </p:sp>
      <p:sp>
        <p:nvSpPr>
          <p:cNvPr id="328" name="Google Shape;328;p11"/>
          <p:cNvSpPr/>
          <p:nvPr/>
        </p:nvSpPr>
        <p:spPr>
          <a:xfrm>
            <a:off x="822960" y="534009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9" name="Google Shape;329;p11"/>
          <p:cNvSpPr txBox="1"/>
          <p:nvPr/>
        </p:nvSpPr>
        <p:spPr>
          <a:xfrm>
            <a:off x="822960" y="5532120"/>
            <a:ext cx="6309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Bookings</a:t>
            </a:r>
            <a:endParaRPr/>
          </a:p>
        </p:txBody>
      </p:sp>
      <p:sp>
        <p:nvSpPr>
          <p:cNvPr id="330" name="Google Shape;330;p11"/>
          <p:cNvSpPr txBox="1"/>
          <p:nvPr/>
        </p:nvSpPr>
        <p:spPr>
          <a:xfrm>
            <a:off x="7315200" y="5532120"/>
            <a:ext cx="18288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$54K</a:t>
            </a:r>
            <a:endParaRPr/>
          </a:p>
        </p:txBody>
      </p:sp>
      <p:sp>
        <p:nvSpPr>
          <p:cNvPr id="331" name="Google Shape;331;p11"/>
          <p:cNvSpPr txBox="1"/>
          <p:nvPr/>
        </p:nvSpPr>
        <p:spPr>
          <a:xfrm>
            <a:off x="9326880" y="5532120"/>
            <a:ext cx="8138160" cy="914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A quarter of the rate people book through Tabelog, Japan's largest restaurant site.</a:t>
            </a:r>
            <a:endParaRPr/>
          </a:p>
        </p:txBody>
      </p:sp>
      <p:sp>
        <p:nvSpPr>
          <p:cNvPr id="332" name="Google Shape;332;p11"/>
          <p:cNvSpPr/>
          <p:nvPr/>
        </p:nvSpPr>
        <p:spPr>
          <a:xfrm>
            <a:off x="822960" y="652881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3" name="Google Shape;333;p11"/>
          <p:cNvSpPr txBox="1"/>
          <p:nvPr/>
        </p:nvSpPr>
        <p:spPr>
          <a:xfrm>
            <a:off x="822960" y="6720840"/>
            <a:ext cx="6309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Area-level insights for chains</a:t>
            </a:r>
            <a:endParaRPr/>
          </a:p>
        </p:txBody>
      </p:sp>
      <p:sp>
        <p:nvSpPr>
          <p:cNvPr id="334" name="Google Shape;334;p11"/>
          <p:cNvSpPr txBox="1"/>
          <p:nvPr/>
        </p:nvSpPr>
        <p:spPr>
          <a:xfrm>
            <a:off x="7315200" y="6720840"/>
            <a:ext cx="18288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$78K</a:t>
            </a:r>
            <a:endParaRPr/>
          </a:p>
        </p:txBody>
      </p:sp>
      <p:sp>
        <p:nvSpPr>
          <p:cNvPr id="335" name="Google Shape;335;p11"/>
          <p:cNvSpPr txBox="1"/>
          <p:nvPr/>
        </p:nvSpPr>
        <p:spPr>
          <a:xfrm>
            <a:off x="9326880" y="6720840"/>
            <a:ext cx="8138160" cy="914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A quarter of what Placer.ai, which sells foot-traffic data, charges its average customer.</a:t>
            </a:r>
            <a:endParaRPr/>
          </a:p>
        </p:txBody>
      </p:sp>
      <p:sp>
        <p:nvSpPr>
          <p:cNvPr id="336" name="Google Shape;336;p11"/>
          <p:cNvSpPr/>
          <p:nvPr/>
        </p:nvSpPr>
        <p:spPr>
          <a:xfrm>
            <a:off x="822960" y="771753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7" name="Google Shape;337;p11"/>
          <p:cNvSpPr txBox="1"/>
          <p:nvPr/>
        </p:nvSpPr>
        <p:spPr>
          <a:xfrm>
            <a:off x="822960" y="7909560"/>
            <a:ext cx="6309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 memberships at $5 a month</a:t>
            </a:r>
            <a:endParaRPr/>
          </a:p>
        </p:txBody>
      </p:sp>
      <p:sp>
        <p:nvSpPr>
          <p:cNvPr id="338" name="Google Shape;338;p11"/>
          <p:cNvSpPr txBox="1"/>
          <p:nvPr/>
        </p:nvSpPr>
        <p:spPr>
          <a:xfrm>
            <a:off x="7315200" y="7909560"/>
            <a:ext cx="18288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a:p>
        </p:txBody>
      </p:sp>
      <p:sp>
        <p:nvSpPr>
          <p:cNvPr id="339" name="Google Shape;339;p11"/>
          <p:cNvSpPr txBox="1"/>
          <p:nvPr/>
        </p:nvSpPr>
        <p:spPr>
          <a:xfrm>
            <a:off x="9326880" y="7909560"/>
            <a:ext cx="8138160" cy="9144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The share of Tabelog's users who pay, about 0.3%.</a:t>
            </a:r>
            <a:endParaRPr/>
          </a:p>
        </p:txBody>
      </p:sp>
      <p:sp>
        <p:nvSpPr>
          <p:cNvPr id="340" name="Google Shape;340;p11"/>
          <p:cNvSpPr/>
          <p:nvPr/>
        </p:nvSpPr>
        <p:spPr>
          <a:xfrm>
            <a:off x="822960" y="890625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