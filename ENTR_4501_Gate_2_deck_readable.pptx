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7" r:id="rId27"/>
    <p:sldId id="266" r:id="rId17"/>
  </p:sldIdLst>
  <p:sldSz cy="10287000" cx="18288000"/>
  <p:notesSz cx="6858000" cy="9144000"/>
  <p:embeddedFontLst>
    <p:embeddedFont>
      <p:font typeface="Poppins"/>
      <p:regular r:id="rId18"/>
      <p:bold r:id="rId19"/>
      <p:italic r:id="rId20"/>
      <p:boldItalic r:id="rId21"/>
    </p:embeddedFont>
    <p:embeddedFont>
      <p:font typeface="Roboto Mon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gVIghjQh70tcTpDwPPuhVU0tDX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F22518-C55D-4401-A6EB-0ED8D26C8151}">
  <a:tblStyle styleId="{97F22518-C55D-4401-A6EB-0ED8D26C815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oppins-italic.fntdata"/><Relationship Id="rId22" Type="http://schemas.openxmlformats.org/officeDocument/2006/relationships/font" Target="fonts/RobotoMono-regular.fntdata"/><Relationship Id="rId21" Type="http://schemas.openxmlformats.org/officeDocument/2006/relationships/font" Target="fonts/Poppins-boldItalic.fntdata"/><Relationship Id="rId24" Type="http://schemas.openxmlformats.org/officeDocument/2006/relationships/font" Target="fonts/RobotoMono-italic.fntdata"/><Relationship Id="rId23" Type="http://schemas.openxmlformats.org/officeDocument/2006/relationships/font" Target="fonts/RobotoMon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RobotoMon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oppins-bold.fntdata"/><Relationship Id="rId18" Type="http://schemas.openxmlformats.org/officeDocument/2006/relationships/font" Target="fonts/Poppins-regular.fntdata"/>  
  
  <Relationship Id="rId27" Type="http://schemas.openxmlformats.org/officeDocument/2006/relationships/slide" Target="slides/slide1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We’re building a free app that tells you where to eat in Boston, starting at Northeastern.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for students and young professionals who want a great meal but can’t trust the ratings. Right now you check Google Maps, then Yelp, then Instagram, then TikTok, then Beli, and you still end up guessing.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Our app puts the reviews, the posts, the hours and booking for a place on one page. And our score only counts people who proved they ate there.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 doesn’t have a name yet. So why build it? Because of what we heard.</a:t>
            </a: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talked to 35 students and young professionals this fall, and almost all of them described the same routine.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They open Google Maps to see what’s nearby. Then Instagram or TikTok to see the food. Then they ask a friend if it’s good. Then they go, and it’s still a miss.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 things kept coming up. Nobody has one place to save where they want to go. And they want one app they can trust.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info is all out there. People just don’t trust it.</a:t>
            </a:r>
          </a:p>
        </p:txBody>
      </p:sp>
      <p:sp>
        <p:nvSpPr>
          <p:cNvPr id="111" name="Google Shape;11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 put everything about a place on one page.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First, it helps you find somewhere: what’s open near you, filtered by diet, price and distance, plus new places people are talking about.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Then you compare. Every rating and post sits next to our own score, which only counts diners who scanned a receipt. Nobody can pay to rank higher.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you keep track of it all: your history, your lists, and booking a table.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core app is free. Earlier feedback asked if we’d charge for dietary filters. We won’t. A halal or nut-free search is exactly what sends a restaurant the diner it pays for.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If another app won’t let us show its ratings, we link out to it instead.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why not just use Beli? Beli ranks where you’ve been. We tell you where to go now, with scores people proved.</a:t>
            </a:r>
          </a:p>
        </p:txBody>
      </p:sp>
      <p:sp>
        <p:nvSpPr>
          <p:cNvPr id="135" name="Google Shape;13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These are four screens from our concept. Every score and person on them is made up.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One, start nearby. You open the app and see what’s open around you.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Two, let it pick. You get one best bet that’s open, close, in your budget and fits your diet, and you see which friends have been.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Three, see why. Three picks for the occasion, each with a reason.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Four, check every rating. Our verified score sits next to Google, Yelp, Beli, Reddit and TikTok, and creators’ paid posts are flagged.</a:t>
            </a:r>
          </a:p>
        </p:txBody>
      </p:sp>
      <p:sp>
        <p:nvSpPr>
          <p:cNvPr id="154" name="Google Shape;15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start small. Boston has 162,000 college students, and we want 12,000 of them in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There are about 19 million college students in the US, and we can reach them one campus at a time.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By Year 5 we want 540,000 active users. That’s 2.8% of US college students, inside the 2 to 5% range we talked about in class.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on the side that pays, Boston has 3,350 licensed places to eat.</a:t>
            </a:r>
          </a:p>
        </p:txBody>
      </p:sp>
      <p:sp>
        <p:nvSpPr>
          <p:cNvPr id="173" name="Google Shape;1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how do we get our first users? One friend at a time.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ten are people we interviewed, plus our friends. They test the prototype this semester, and we ask them to help us build it.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hundred are Northeastern students they invite, plus clubs and group chats. What we tell them is every rating for a place, in one app.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thousand come from other Boston campuses, through student ambassadors and food posts. One app instead of five tabs.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the same loop every time. A friend tells you, you download, you save a place, you invite someone. About 80% of Beli’s users arrived that way, and it’s how we get to 12,000 by the end of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never pay. Restaurants do.</a:t>
            </a:r>
          </a:p>
        </p:txBody>
      </p:sp>
      <p:sp>
        <p:nvSpPr>
          <p:cNvPr id="198" name="Google Shape;19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Restaurants pay us for the diners we send, not for ads.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Today a restaurant pays for ads and boosted posts before it knows if anyone will walk in. We’d rather get paid only when it works. A restaurant pays about 90 cents, and only after a receipt shows the diner came. OpenTable charges $1 to $1.50 a diner.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Booking sites pay per table. And from Year 3, chains pay $6,000 a year per area to see what people there eat. That’s $288,000 in Year 5.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 the user side the app is free. About 3 in 1,000 pay $5 a month for extras, which adds $67,000.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Nothing anyone pays changes a score or a ranking.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haven’t tested this with owners yet. Five owner calls are next, each with a free 30-day pilot and a report on the diners we sent.</a:t>
            </a:r>
          </a:p>
        </p:txBody>
      </p:sp>
      <p:sp>
        <p:nvSpPr>
          <p:cNvPr id="223" name="Google Shape;22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Before we built our numbers, we looked at the apps closest to us. None of them made money early.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OpenTable took nine years to turn a profit and lost $57 million getting there. Resy ran on $45 million of investor money and then sold. Beli has 1.1 million monthly users, mostly through friends, with five people and almost no revenue.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 made three choices. No founder salaries, and co-op students before full-time hires. Costs low enough that we only need about $240,000, starting with grants. And Beli as our yardstick: a quarter of its size, almost no ads, and restaurants paying from Year 2.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trade-off is a smaller team, and it only works if restaurants sign up.</a:t>
            </a:r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This is what lean looks like in numbers. Watch the three highlighted cells.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Years 1 and 2 are flat on purpose, about $10,500 a quarter. That’s a contract developer at $7,500, $1,500 for marketing, $1,500 for legal and insurance, and a little hosting. Nobody else gets paid until the angel round funds Year 3.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highlight is our first revenue, in Year 2. From Year 3, co-op students join as our users grow.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second is the low point, about $192,000 down in Year 4. We’re raising $240,000, which is that low plus a 25% cushion.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third is Year 5, our first profitable year, at about $72,000.</a:t>
            </a:r>
          </a:p>
        </p:txBody>
      </p:sp>
      <p:sp>
        <p:nvSpPr>
          <p:cNvPr id="273" name="Google Shape;27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how do we pay for it? We start with grants, the way Beli did. Northeastern’s IDEA Gap Fund and pitch competitions around Boston, about $74,000, cover Years 1 and 2. If we fall short, we cover the gap ourselves.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At the end of Year 2, once restaurants have paid us for four quarters, we raise one angel round of about $166,000. We’ll show them about 31,000 Boston users and visits proven by receipts. We’d find angels through IDEA, competition judges and our own networks.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That’s $240,000 in all. At $356,000 of Year 5 revenue we’re too small for venture funds, so the angels’ way out is a sale to a bigger platform or a card company, the way Resy sold to American Express.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That’s the plan.</a:t>
            </a:r>
          </a:p>
        </p:txBody>
      </p:sp>
      <p:sp>
        <p:nvSpPr>
          <p:cNvPr id="295" name="Google Shape;295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This one is for questions. It shows where each price comes from.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Businesses pay $288,000 in Year 5: $156,000 for diners we send, $54,000 for tables booked and $78,000 for area insights for chains. About 90 cents a diner sits under OpenTable’s $1 to $1.50. Bookings are a quarter of Tabelog’s rate, and chains pay a quarter of what Placer.ai charges.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pay $67,000 for the optional $5 a month membership. About 0.3% sign up, the same share as Tabelog’s users.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Every price starts from a real company’s number. How many we sell is our guess.</a:t>
            </a:r>
          </a:p>
        </p:txBody>
      </p:sp>
      <p:sp>
        <p:nvSpPr>
          <p:cNvPr id="316" name="Google Shape;3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Let me pull it together.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Boston students don’t trust the ratings they see, and checking five apps doesn’t fix that.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we’re building one free app, and our score only counts people who proved they ate there.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Restaurants pay for the diners we send, so users never have to. We start on grants, raise one angel round, and reach a profit in Year 5.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What we need to learn next is whether restaurants will pay. So we’re making five owner calls with a free 30-day pilot, and testing receipt scanning with about ten users.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Thank you. We’re happy to take questions.</a:t>
            </a:r>
          </a:p>
        </p:txBody>
      </p:sp>
      <p:sp>
        <p:nvSpPr>
          <p:cNvPr id="111" name="Google Shape;11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idea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22960" y="1234440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One free app for deciding where to eat,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with ratings you can trust.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Our value proposition. The app doesn't have a name yet.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822960" y="373989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388620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For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3657600" y="388620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students and young professionals in Boston, starting at Northeastern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822960" y="452628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22960" y="4672584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3657600" y="4672584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want great places to eat but can't trust the ratings</a:t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822960" y="5312664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822960" y="545896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app is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3657600" y="5458968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a free restaurant guide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822960" y="60990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822960" y="6245352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That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657600" y="6245352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puts reviews, posts, hours and booking for each place on one page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>
            <a:off x="822960" y="6885431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822960" y="7031736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Unlike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3657600" y="7031736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checking Google Maps, Yelp, Instagram, TikTok and Beli one by one</a:t>
            </a:r>
            <a:endParaRPr/>
          </a:p>
        </p:txBody>
      </p:sp>
      <p:sp>
        <p:nvSpPr>
          <p:cNvPr id="104" name="Google Shape;104;p1"/>
          <p:cNvSpPr/>
          <p:nvPr/>
        </p:nvSpPr>
        <p:spPr>
          <a:xfrm>
            <a:off x="822960" y="767181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822960" y="781812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Ours</a:t>
            </a:r>
            <a:endParaRPr/>
          </a:p>
        </p:txBody>
      </p:sp>
      <p:sp>
        <p:nvSpPr>
          <p:cNvPr id="106" name="Google Shape;106;p1"/>
          <p:cNvSpPr txBox="1"/>
          <p:nvPr/>
        </p:nvSpPr>
        <p:spPr>
          <a:xfrm>
            <a:off x="3657600" y="781812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only counts reviews from people who proved they ate there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822960" y="8458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AA676"/>
        </a:solidFill>
        <a:effectLst/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What we heard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Finding one good place to eat takes multiple apps, </a:t>
            </a:r>
            <a:r>
              <a:rPr b="0" i="0" lang="en-US" sz="4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and people still get it wrong.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E2D12"/>
                </a:solidFill>
                <a:latin typeface="Roboto Mono"/>
                <a:ea typeface="Roboto Mono"/>
                <a:cs typeface="Roboto Mono"/>
                <a:sym typeface="Roboto Mono"/>
              </a:rPr>
              <a:t>From 35 interviews with students and young professionals, Sep to Oct 2026.</a:t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822960" y="5074920"/>
            <a:ext cx="16642080" cy="10972"/>
          </a:xfrm>
          <a:prstGeom prst="rect">
            <a:avLst/>
          </a:prstGeom>
          <a:solidFill>
            <a:srgbClr val="2E2D1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2296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82296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Google Maps</a:t>
            </a:r>
            <a:endParaRPr sz="2800"/>
          </a:p>
        </p:txBody>
      </p:sp>
      <p:sp>
        <p:nvSpPr>
          <p:cNvPr id="120" name="Google Shape;120;p2"/>
          <p:cNvSpPr txBox="1"/>
          <p:nvPr/>
        </p:nvSpPr>
        <p:spPr>
          <a:xfrm>
            <a:off x="82296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see what's nearby</a:t>
            </a:r>
            <a:endParaRPr sz="2400"/>
          </a:p>
        </p:txBody>
      </p:sp>
      <p:sp>
        <p:nvSpPr>
          <p:cNvPr id="121" name="Google Shape;121;p2"/>
          <p:cNvSpPr txBox="1"/>
          <p:nvPr/>
        </p:nvSpPr>
        <p:spPr>
          <a:xfrm>
            <a:off x="507492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507492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Instagram or TikTok</a:t>
            </a:r>
            <a:endParaRPr sz="2800"/>
          </a:p>
        </p:txBody>
      </p:sp>
      <p:sp>
        <p:nvSpPr>
          <p:cNvPr id="123" name="Google Shape;123;p2"/>
          <p:cNvSpPr txBox="1"/>
          <p:nvPr/>
        </p:nvSpPr>
        <p:spPr>
          <a:xfrm>
            <a:off x="507492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see the food</a:t>
            </a:r>
            <a:endParaRPr sz="2400"/>
          </a:p>
        </p:txBody>
      </p:sp>
      <p:sp>
        <p:nvSpPr>
          <p:cNvPr id="124" name="Google Shape;124;p2"/>
          <p:cNvSpPr txBox="1"/>
          <p:nvPr/>
        </p:nvSpPr>
        <p:spPr>
          <a:xfrm>
            <a:off x="932688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932688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friend</a:t>
            </a:r>
            <a:endParaRPr sz="2800"/>
          </a:p>
        </p:txBody>
      </p:sp>
      <p:sp>
        <p:nvSpPr>
          <p:cNvPr id="126" name="Google Shape;126;p2"/>
          <p:cNvSpPr txBox="1"/>
          <p:nvPr/>
        </p:nvSpPr>
        <p:spPr>
          <a:xfrm>
            <a:off x="932688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check it's good</a:t>
            </a:r>
            <a:endParaRPr sz="2400"/>
          </a:p>
        </p:txBody>
      </p:sp>
      <p:sp>
        <p:nvSpPr>
          <p:cNvPr id="127" name="Google Shape;127;p2"/>
          <p:cNvSpPr txBox="1"/>
          <p:nvPr/>
        </p:nvSpPr>
        <p:spPr>
          <a:xfrm>
            <a:off x="1357884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1357884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Then they go</a:t>
            </a:r>
            <a:endParaRPr sz="2800"/>
          </a:p>
        </p:txBody>
      </p:sp>
      <p:sp>
        <p:nvSpPr>
          <p:cNvPr id="129" name="Google Shape;129;p2"/>
          <p:cNvSpPr txBox="1"/>
          <p:nvPr/>
        </p:nvSpPr>
        <p:spPr>
          <a:xfrm>
            <a:off x="1357884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and it's still a miss</a:t>
            </a:r>
            <a:endParaRPr sz="2400"/>
          </a:p>
        </p:txBody>
      </p:sp>
      <p:sp>
        <p:nvSpPr>
          <p:cNvPr id="130" name="Google Shape;130;p2"/>
          <p:cNvSpPr txBox="1"/>
          <p:nvPr/>
        </p:nvSpPr>
        <p:spPr>
          <a:xfrm>
            <a:off x="822960" y="7589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Nobody had one place to save where they want to go.</a:t>
            </a:r>
            <a:endParaRPr sz="2800"/>
          </a:p>
        </p:txBody>
      </p:sp>
      <p:sp>
        <p:nvSpPr>
          <p:cNvPr id="131" name="Google Shape;131;p2"/>
          <p:cNvSpPr txBox="1"/>
          <p:nvPr/>
        </p:nvSpPr>
        <p:spPr>
          <a:xfrm>
            <a:off x="822960" y="822960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They want one app they can trust.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we’re building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822960" y="1208965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One page for every restaurant,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and a score that only counts people who ate there.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The core app is free. If another app won't share its ratings, we link out to it.</a:t>
            </a:r>
            <a:endParaRPr/>
          </a:p>
        </p:txBody>
      </p:sp>
      <p:sp>
        <p:nvSpPr>
          <p:cNvPr id="141" name="Google Shape;141;p3"/>
          <p:cNvSpPr txBox="1"/>
          <p:nvPr/>
        </p:nvSpPr>
        <p:spPr>
          <a:xfrm>
            <a:off x="82296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Find</a:t>
            </a:r>
            <a:endParaRPr sz="2400"/>
          </a:p>
        </p:txBody>
      </p:sp>
      <p:sp>
        <p:nvSpPr>
          <p:cNvPr id="142" name="Google Shape;142;p3"/>
          <p:cNvSpPr/>
          <p:nvPr/>
        </p:nvSpPr>
        <p:spPr>
          <a:xfrm>
            <a:off x="82296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82296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near you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Filter by diet, price and distance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New places people are talking about</a:t>
            </a:r>
            <a:endParaRPr sz="2400"/>
          </a:p>
        </p:txBody>
      </p:sp>
      <p:sp>
        <p:nvSpPr>
          <p:cNvPr id="144" name="Google Shape;144;p3"/>
          <p:cNvSpPr txBox="1"/>
          <p:nvPr/>
        </p:nvSpPr>
        <p:spPr>
          <a:xfrm>
            <a:off x="649224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Compare</a:t>
            </a:r>
            <a:endParaRPr sz="2400"/>
          </a:p>
        </p:txBody>
      </p:sp>
      <p:sp>
        <p:nvSpPr>
          <p:cNvPr id="145" name="Google Shape;145;p3"/>
          <p:cNvSpPr/>
          <p:nvPr/>
        </p:nvSpPr>
        <p:spPr>
          <a:xfrm>
            <a:off x="649224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6492240" y="4572000"/>
            <a:ext cx="5120700" cy="24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Every rating and post on one page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score only counts diners who scanned a receipt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Nobody pays to rank higher</a:t>
            </a:r>
            <a:endParaRPr sz="2400"/>
          </a:p>
        </p:txBody>
      </p:sp>
      <p:sp>
        <p:nvSpPr>
          <p:cNvPr id="147" name="Google Shape;147;p3"/>
          <p:cNvSpPr txBox="1"/>
          <p:nvPr/>
        </p:nvSpPr>
        <p:spPr>
          <a:xfrm>
            <a:off x="1216152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Keep</a:t>
            </a:r>
            <a:endParaRPr sz="2400"/>
          </a:p>
        </p:txBody>
      </p:sp>
      <p:sp>
        <p:nvSpPr>
          <p:cNvPr id="148" name="Google Shape;148;p3"/>
          <p:cNvSpPr/>
          <p:nvPr/>
        </p:nvSpPr>
        <p:spPr>
          <a:xfrm>
            <a:off x="1216152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1216152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Your history and lists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Scan a receipt, get a verified badge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Book a table</a:t>
            </a:r>
            <a:endParaRPr sz="2400"/>
          </a:p>
        </p:txBody>
      </p:sp>
      <p:sp>
        <p:nvSpPr>
          <p:cNvPr id="960" name="Google Shape;960;p3"/>
          <p:cNvSpPr txBox="1"/>
          <p:nvPr/>
        </p:nvSpPr>
        <p:spPr>
          <a:xfrm>
            <a:off x="822960" y="7360920"/>
            <a:ext cx="1664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 xml:space="preserve">Why not Beli? </a:t>
            </a: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Beli ranks where you’ve been. We tell you where to go now, with scores people proved.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822960" y="8412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Dietary filters stay free: a halal or nut-free search is what sends a restaurant the diner it pays for. Nobody pays for placement.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5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it looks like</a:t>
            </a:r>
            <a:endParaRPr/>
          </a:p>
        </p:txBody>
      </p:sp>
      <p:sp>
        <p:nvSpPr>
          <p:cNvPr id="951" name="Google Shape;951;p5"/>
          <p:cNvSpPr txBox="1"/>
          <p:nvPr/>
        </p:nvSpPr>
        <p:spPr>
          <a:xfrm>
            <a:off x="822960" y="1234440"/>
            <a:ext cx="15087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Open it, and it picks one place for you,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and shows why.</a:t>
            </a:r>
            <a:endParaRPr/>
          </a:p>
        </p:txBody>
      </p:sp>
      <p:sp>
        <p:nvSpPr>
          <p:cNvPr id="156" name="Google Shape;156;p4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Concept screens. Every score and person is made up. Photos: Unsplash; Daderot, Wikimedia Commons (CC0).</a:t>
            </a:r>
            <a:endParaRPr/>
          </a:p>
        </p:txBody>
      </p:sp>
      <p:pic>
        <p:nvPicPr>
          <p:cNvPr descr="phone-1.png" id="158" name="Google Shape;15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4550" y="2331720"/>
            <a:ext cx="2814764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 txBox="1"/>
          <p:nvPr/>
        </p:nvSpPr>
        <p:spPr>
          <a:xfrm>
            <a:off x="845750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1  Start nearby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845750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around you.</a:t>
            </a:r>
            <a:endParaRPr/>
          </a:p>
        </p:txBody>
      </p:sp>
      <p:pic>
        <p:nvPicPr>
          <p:cNvPr descr="phone-2.png" id="161" name="Google Shape;16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76524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4"/>
          <p:cNvSpPr txBox="1"/>
          <p:nvPr/>
        </p:nvSpPr>
        <p:spPr>
          <a:xfrm>
            <a:off x="5097716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2  Let it pick</a:t>
            </a:r>
            <a:endParaRPr/>
          </a:p>
        </p:txBody>
      </p:sp>
      <p:sp>
        <p:nvSpPr>
          <p:cNvPr id="163" name="Google Shape;163;p4"/>
          <p:cNvSpPr txBox="1"/>
          <p:nvPr/>
        </p:nvSpPr>
        <p:spPr>
          <a:xfrm>
            <a:off x="5097716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One best bet for your budget and diet.</a:t>
            </a:r>
            <a:endParaRPr/>
          </a:p>
        </p:txBody>
      </p:sp>
      <p:pic>
        <p:nvPicPr>
          <p:cNvPr descr="phone-3.png" id="164" name="Google Shape;16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28474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9349683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3  See why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9349683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Three picks, each with a reason.</a:t>
            </a:r>
            <a:endParaRPr/>
          </a:p>
        </p:txBody>
      </p:sp>
      <p:pic>
        <p:nvPicPr>
          <p:cNvPr descr="phone-4.png" id="167" name="Google Shape;16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980449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 txBox="1"/>
          <p:nvPr/>
        </p:nvSpPr>
        <p:spPr>
          <a:xfrm>
            <a:off x="13601649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4  Check every rating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13601649" y="8770852"/>
            <a:ext cx="374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verified score next to everyone else's, with creators' paid posts flagged.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Why it matters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177" name="Google Shape;177;p5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 start with Boston's 162,000 students.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About 19 million US students could use it.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US Census Bureau, 2024 estimates. NCES Digest of Education Statistics 2024, fall 2023 enrollment. City of Boston Student Housing Report 2025 and license data, Oct 2026.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82296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Where we start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82296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162K</a:t>
            </a:r>
            <a:endParaRPr/>
          </a:p>
        </p:txBody>
      </p:sp>
      <p:sp>
        <p:nvSpPr>
          <p:cNvPr id="181" name="Google Shape;181;p5"/>
          <p:cNvSpPr txBox="1"/>
          <p:nvPr/>
        </p:nvSpPr>
        <p:spPr>
          <a:xfrm>
            <a:off x="822960" y="5760720"/>
            <a:ext cx="49377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college students. Year 1 is 12K of them.</a:t>
            </a:r>
            <a:endParaRPr sz="2400"/>
          </a:p>
        </p:txBody>
      </p:sp>
      <p:sp>
        <p:nvSpPr>
          <p:cNvPr id="182" name="Google Shape;182;p5"/>
          <p:cNvSpPr txBox="1"/>
          <p:nvPr/>
        </p:nvSpPr>
        <p:spPr>
          <a:xfrm>
            <a:off x="649224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users by Year 5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649224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540K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649224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2.8% of US college students</a:t>
            </a:r>
            <a:endParaRPr sz="2400"/>
          </a:p>
        </p:txBody>
      </p:sp>
      <p:sp>
        <p:nvSpPr>
          <p:cNvPr id="185" name="Google Shape;185;p5"/>
          <p:cNvSpPr txBox="1"/>
          <p:nvPr/>
        </p:nvSpPr>
        <p:spPr>
          <a:xfrm>
            <a:off x="1216152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Restaurants we can sign</a:t>
            </a:r>
            <a:endParaRPr/>
          </a:p>
        </p:txBody>
      </p:sp>
      <p:sp>
        <p:nvSpPr>
          <p:cNvPr id="186" name="Google Shape;186;p5"/>
          <p:cNvSpPr txBox="1"/>
          <p:nvPr/>
        </p:nvSpPr>
        <p:spPr>
          <a:xfrm>
            <a:off x="1216152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3,350</a:t>
            </a:r>
            <a:endParaRPr/>
          </a:p>
        </p:txBody>
      </p:sp>
      <p:sp>
        <p:nvSpPr>
          <p:cNvPr id="187" name="Google Shape;187;p5"/>
          <p:cNvSpPr txBox="1"/>
          <p:nvPr/>
        </p:nvSpPr>
        <p:spPr>
          <a:xfrm>
            <a:off x="1216152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Licensed places to eat in Boston</a:t>
            </a:r>
            <a:endParaRPr sz="2400"/>
          </a:p>
        </p:txBody>
      </p:sp>
      <p:sp>
        <p:nvSpPr>
          <p:cNvPr id="188" name="Google Shape;188;p5"/>
          <p:cNvSpPr/>
          <p:nvPr/>
        </p:nvSpPr>
        <p:spPr>
          <a:xfrm>
            <a:off x="822960" y="68580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822960" y="7196328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market</a:t>
            </a:r>
            <a:endParaRPr sz="2400"/>
          </a:p>
        </p:txBody>
      </p:sp>
      <p:sp>
        <p:nvSpPr>
          <p:cNvPr id="190" name="Google Shape;190;p5"/>
          <p:cNvSpPr txBox="1"/>
          <p:nvPr/>
        </p:nvSpPr>
        <p:spPr>
          <a:xfrm>
            <a:off x="3657600" y="7178040"/>
            <a:ext cx="138075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77.8M people aged 18 to 34 (TAM), 19M US college students we can reach (SAM), 540K we plan to win (SOM).</a:t>
            </a:r>
            <a:endParaRPr sz="2400"/>
          </a:p>
        </p:txBody>
      </p:sp>
      <p:sp>
        <p:nvSpPr>
          <p:cNvPr id="191" name="Google Shape;191;p5"/>
          <p:cNvSpPr txBox="1"/>
          <p:nvPr/>
        </p:nvSpPr>
        <p:spPr>
          <a:xfrm>
            <a:off x="822935" y="82296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Growth</a:t>
            </a:r>
            <a:endParaRPr sz="2400"/>
          </a:p>
        </p:txBody>
      </p:sp>
      <p:sp>
        <p:nvSpPr>
          <p:cNvPr id="192" name="Google Shape;192;p5"/>
          <p:cNvSpPr txBox="1"/>
          <p:nvPr/>
        </p:nvSpPr>
        <p:spPr>
          <a:xfrm>
            <a:off x="3657575" y="8211312"/>
            <a:ext cx="13807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first. Other cities from Year 3.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 win users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202" name="Google Shape;202;p6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first 1,000 users come from Boston campuses, starting with ours,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friend inviting the next.</a:t>
            </a:r>
            <a:endParaRPr/>
          </a:p>
        </p:txBody>
      </p:sp>
      <p:sp>
        <p:nvSpPr>
          <p:cNvPr id="203" name="Google Shape;203;p6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 referrals: Wall Street Journal, May 2025. User targets are from our Gate 2 model.</a:t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 they are and where we find them</a:t>
            </a:r>
            <a:endParaRPr sz="2400"/>
          </a:p>
        </p:txBody>
      </p:sp>
      <p:sp>
        <p:nvSpPr>
          <p:cNvPr id="205" name="Google Shape;205;p6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tell them</a:t>
            </a:r>
            <a:endParaRPr sz="2400"/>
          </a:p>
        </p:txBody>
      </p:sp>
      <p:sp>
        <p:nvSpPr>
          <p:cNvPr id="206" name="Google Shape;206;p6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</a:t>
            </a:r>
            <a:endParaRPr sz="2400"/>
          </a:p>
        </p:txBody>
      </p:sp>
      <p:sp>
        <p:nvSpPr>
          <p:cNvPr id="208" name="Google Shape;208;p6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People we interviewed and our friends test the prototype.</a:t>
            </a:r>
            <a:endParaRPr sz="2400"/>
          </a:p>
        </p:txBody>
      </p:sp>
      <p:sp>
        <p:nvSpPr>
          <p:cNvPr id="209" name="Google Shape;209;p6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Help us build it.</a:t>
            </a:r>
            <a:endParaRPr sz="2400"/>
          </a:p>
        </p:txBody>
      </p:sp>
      <p:sp>
        <p:nvSpPr>
          <p:cNvPr id="210" name="Google Shape;210;p6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100</a:t>
            </a:r>
            <a:endParaRPr sz="2400"/>
          </a:p>
        </p:txBody>
      </p:sp>
      <p:sp>
        <p:nvSpPr>
          <p:cNvPr id="212" name="Google Shape;212;p6"/>
          <p:cNvSpPr txBox="1"/>
          <p:nvPr/>
        </p:nvSpPr>
        <p:spPr>
          <a:xfrm>
            <a:off x="3657600" y="562356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Northeastern students they invite, plus clubs and group chats.</a:t>
            </a:r>
            <a:endParaRPr sz="2400"/>
          </a:p>
        </p:txBody>
      </p:sp>
      <p:sp>
        <p:nvSpPr>
          <p:cNvPr id="213" name="Google Shape;213;p6"/>
          <p:cNvSpPr txBox="1"/>
          <p:nvPr/>
        </p:nvSpPr>
        <p:spPr>
          <a:xfrm>
            <a:off x="10607040" y="562356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Every rating for a place, in one app.</a:t>
            </a:r>
            <a:endParaRPr sz="2400"/>
          </a:p>
        </p:txBody>
      </p:sp>
      <p:sp>
        <p:nvSpPr>
          <p:cNvPr id="214" name="Google Shape;214;p6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1,000</a:t>
            </a:r>
            <a:endParaRPr sz="2400"/>
          </a:p>
        </p:txBody>
      </p:sp>
      <p:sp>
        <p:nvSpPr>
          <p:cNvPr id="216" name="Google Shape;216;p6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Other Boston campuses, through student ambassadors and food posts.</a:t>
            </a:r>
            <a:endParaRPr sz="2400"/>
          </a:p>
        </p:txBody>
      </p:sp>
      <p:sp>
        <p:nvSpPr>
          <p:cNvPr id="217" name="Google Shape;217;p6"/>
          <p:cNvSpPr txBox="1"/>
          <p:nvPr/>
        </p:nvSpPr>
        <p:spPr>
          <a:xfrm>
            <a:off x="10607040" y="694944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app instead of five tabs.</a:t>
            </a:r>
            <a:endParaRPr sz="2400"/>
          </a:p>
        </p:txBody>
      </p:sp>
      <p:sp>
        <p:nvSpPr>
          <p:cNvPr id="218" name="Google Shape;218;p6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 txBox="1"/>
          <p:nvPr/>
        </p:nvSpPr>
        <p:spPr>
          <a:xfrm>
            <a:off x="822960" y="8458200"/>
            <a:ext cx="166422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Friends inviting friends gets us to 12K by the end of Year 1; about 80% of Beli's users arrived that way. Users never have to pay.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 make money</a:t>
            </a:r>
            <a:endParaRPr/>
          </a:p>
        </p:txBody>
      </p:sp>
      <p:sp>
        <p:nvSpPr>
          <p:cNvPr id="226" name="Google Shape;226;p7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822960" y="1208990"/>
            <a:ext cx="150876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 pay for the diners we send, not for ads.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Together these come to $356K of revenue in Year 5.</a:t>
            </a:r>
            <a:endParaRPr/>
          </a:p>
        </p:txBody>
      </p:sp>
      <p:sp>
        <p:nvSpPr>
          <p:cNvPr id="229" name="Google Shape;229;p7"/>
          <p:cNvSpPr txBox="1"/>
          <p:nvPr/>
        </p:nvSpPr>
        <p:spPr>
          <a:xfrm>
            <a:off x="4206240" y="365760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Their problem</a:t>
            </a:r>
            <a:endParaRPr sz="2400"/>
          </a:p>
        </p:txBody>
      </p:sp>
      <p:sp>
        <p:nvSpPr>
          <p:cNvPr id="230" name="Google Shape;230;p7"/>
          <p:cNvSpPr txBox="1"/>
          <p:nvPr/>
        </p:nvSpPr>
        <p:spPr>
          <a:xfrm>
            <a:off x="9509760" y="3657600"/>
            <a:ext cx="56692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charge</a:t>
            </a:r>
            <a:endParaRPr sz="2400"/>
          </a:p>
        </p:txBody>
      </p:sp>
      <p:sp>
        <p:nvSpPr>
          <p:cNvPr id="231" name="Google Shape;231;p7"/>
          <p:cNvSpPr txBox="1"/>
          <p:nvPr/>
        </p:nvSpPr>
        <p:spPr>
          <a:xfrm>
            <a:off x="15453360" y="365760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 sz="2400"/>
          </a:p>
        </p:txBody>
      </p:sp>
      <p:sp>
        <p:nvSpPr>
          <p:cNvPr id="232" name="Google Shape;232;p7"/>
          <p:cNvSpPr/>
          <p:nvPr/>
        </p:nvSpPr>
        <p:spPr>
          <a:xfrm>
            <a:off x="822960" y="40416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22960" y="4206240"/>
            <a:ext cx="32004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Restaurants, booking sites, chains</a:t>
            </a:r>
            <a:endParaRPr sz="2400"/>
          </a:p>
        </p:txBody>
      </p:sp>
      <p:sp>
        <p:nvSpPr>
          <p:cNvPr id="234" name="Google Shape;234;p7"/>
          <p:cNvSpPr txBox="1"/>
          <p:nvPr/>
        </p:nvSpPr>
        <p:spPr>
          <a:xfrm>
            <a:off x="4206240" y="4206240"/>
            <a:ext cx="50292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Pay for ads up front and can’t tell what worked.</a:t>
            </a:r>
            <a:endParaRPr sz="2200"/>
          </a:p>
        </p:txBody>
      </p:sp>
      <p:sp>
        <p:nvSpPr>
          <p:cNvPr id="235" name="Google Shape;235;p7"/>
          <p:cNvSpPr txBox="1"/>
          <p:nvPr/>
        </p:nvSpPr>
        <p:spPr>
          <a:xfrm>
            <a:off x="9509760" y="4206240"/>
            <a:ext cx="566928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About $0.90 per new diner, once a receipt proves the visit. Booking sites pay per table. Chains pay $6,000 a year per area.</a:t>
            </a:r>
            <a:endParaRPr sz="2200"/>
          </a:p>
        </p:txBody>
      </p:sp>
      <p:sp>
        <p:nvSpPr>
          <p:cNvPr id="236" name="Google Shape;236;p7"/>
          <p:cNvSpPr txBox="1"/>
          <p:nvPr/>
        </p:nvSpPr>
        <p:spPr>
          <a:xfrm>
            <a:off x="15453360" y="420624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 sz="2400"/>
          </a:p>
        </p:txBody>
      </p:sp>
      <p:sp>
        <p:nvSpPr>
          <p:cNvPr id="237" name="Google Shape;237;p7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822960" y="635508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 sz="2400"/>
          </a:p>
        </p:txBody>
      </p:sp>
      <p:sp>
        <p:nvSpPr>
          <p:cNvPr id="239" name="Google Shape;239;p7"/>
          <p:cNvSpPr txBox="1"/>
          <p:nvPr/>
        </p:nvSpPr>
        <p:spPr>
          <a:xfrm>
            <a:off x="4206240" y="6355080"/>
            <a:ext cx="5029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app is free. About 3 in 1,000 pay for extras.</a:t>
            </a:r>
            <a:endParaRPr sz="2200"/>
          </a:p>
        </p:txBody>
      </p:sp>
      <p:sp>
        <p:nvSpPr>
          <p:cNvPr id="240" name="Google Shape;240;p7"/>
          <p:cNvSpPr txBox="1"/>
          <p:nvPr/>
        </p:nvSpPr>
        <p:spPr>
          <a:xfrm>
            <a:off x="9509760" y="6355080"/>
            <a:ext cx="566928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 optional $5 a month membership.</a:t>
            </a:r>
            <a:endParaRPr sz="2200"/>
          </a:p>
        </p:txBody>
      </p:sp>
      <p:sp>
        <p:nvSpPr>
          <p:cNvPr id="241" name="Google Shape;241;p7"/>
          <p:cNvSpPr txBox="1"/>
          <p:nvPr/>
        </p:nvSpPr>
        <p:spPr>
          <a:xfrm>
            <a:off x="15453360" y="635508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 sz="2400"/>
          </a:p>
        </p:txBody>
      </p:sp>
      <p:sp>
        <p:nvSpPr>
          <p:cNvPr id="242" name="Google Shape;242;p7"/>
          <p:cNvSpPr/>
          <p:nvPr/>
        </p:nvSpPr>
        <p:spPr>
          <a:xfrm>
            <a:off x="822960" y="790956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822960" y="813816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$356K in Year 5. Paying never changes a score or a ranking.</a:t>
            </a:r>
            <a:endParaRPr sz="2400"/>
          </a:p>
        </p:txBody>
      </p:sp>
      <p:sp>
        <p:nvSpPr>
          <p:cNvPr id="244" name="Google Shape;244;p7"/>
          <p:cNvSpPr txBox="1"/>
          <p:nvPr/>
        </p:nvSpPr>
        <p:spPr>
          <a:xfrm>
            <a:off x="822960" y="8732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Not yet tested with owners. </a:t>
            </a: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Next: five owner calls, each with a free 30-day pilot and a diner report.</a:t>
            </a:r>
            <a:endParaRPr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AA676"/>
        </a:solidFill>
        <a:effectLst/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What we learned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None of the apps before us made money early, </a:t>
            </a:r>
            <a:r>
              <a:rPr b="0" i="0" lang="en-US" sz="4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so we kept ours lean.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E2D12"/>
                </a:solidFill>
                <a:latin typeface="Roboto Mono"/>
                <a:ea typeface="Roboto Mono"/>
                <a:cs typeface="Roboto Mono"/>
                <a:sym typeface="Roboto Mono"/>
              </a:rPr>
              <a:t>OpenTable Form S-1, 2009. TechCrunch, May 2019 (Resy). Sensor Tower in the Boston Globe, Nov 2025, and Wall Street Journal, May 2025 (Beli). Resy never reported a profit.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What happened to them</a:t>
            </a:r>
            <a:endParaRPr sz="2400"/>
          </a:p>
        </p:txBody>
      </p:sp>
      <p:sp>
        <p:nvSpPr>
          <p:cNvPr id="255" name="Google Shape;255;p8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What we did about it</a:t>
            </a:r>
            <a:endParaRPr sz="2400"/>
          </a:p>
        </p:txBody>
      </p:sp>
      <p:sp>
        <p:nvSpPr>
          <p:cNvPr id="256" name="Google Shape;256;p8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OpenTable</a:t>
            </a:r>
            <a:endParaRPr sz="2400"/>
          </a:p>
        </p:txBody>
      </p:sp>
      <p:sp>
        <p:nvSpPr>
          <p:cNvPr id="258" name="Google Shape;258;p8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Nine years to a profit, $57M lost getting there.</a:t>
            </a:r>
            <a:endParaRPr sz="2400"/>
          </a:p>
        </p:txBody>
      </p:sp>
      <p:sp>
        <p:nvSpPr>
          <p:cNvPr id="259" name="Google Shape;259;p8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 founder salaries. Co-op students before full-time hires.</a:t>
            </a:r>
            <a:endParaRPr sz="2400"/>
          </a:p>
        </p:txBody>
      </p:sp>
      <p:sp>
        <p:nvSpPr>
          <p:cNvPr id="260" name="Google Shape;260;p8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Resy</a:t>
            </a:r>
            <a:endParaRPr sz="2400"/>
          </a:p>
        </p:txBody>
      </p:sp>
      <p:sp>
        <p:nvSpPr>
          <p:cNvPr id="262" name="Google Shape;262;p8"/>
          <p:cNvSpPr txBox="1"/>
          <p:nvPr/>
        </p:nvSpPr>
        <p:spPr>
          <a:xfrm>
            <a:off x="3657600" y="562356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Ran on $45M of investor money, then sold.</a:t>
            </a:r>
            <a:endParaRPr sz="2400"/>
          </a:p>
        </p:txBody>
      </p:sp>
      <p:sp>
        <p:nvSpPr>
          <p:cNvPr id="263" name="Google Shape;263;p8"/>
          <p:cNvSpPr txBox="1"/>
          <p:nvPr/>
        </p:nvSpPr>
        <p:spPr>
          <a:xfrm>
            <a:off x="10607040" y="562356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Costs low enough to need $240K, starting with grants.</a:t>
            </a:r>
            <a:endParaRPr sz="2400"/>
          </a:p>
        </p:txBody>
      </p:sp>
      <p:sp>
        <p:nvSpPr>
          <p:cNvPr id="264" name="Google Shape;264;p8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Beli</a:t>
            </a:r>
            <a:endParaRPr sz="2400"/>
          </a:p>
        </p:txBody>
      </p:sp>
      <p:sp>
        <p:nvSpPr>
          <p:cNvPr id="266" name="Google Shape;266;p8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1.1M monthly users, mostly through friends, five people, almost no revenue.</a:t>
            </a:r>
            <a:endParaRPr sz="2400"/>
          </a:p>
        </p:txBody>
      </p:sp>
      <p:sp>
        <p:nvSpPr>
          <p:cNvPr id="267" name="Google Shape;267;p8"/>
          <p:cNvSpPr txBox="1"/>
          <p:nvPr/>
        </p:nvSpPr>
        <p:spPr>
          <a:xfrm>
            <a:off x="10607040" y="694944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quarter of its size, almost no ads, restaurants paying from Year 2.</a:t>
            </a:r>
            <a:endParaRPr sz="2400"/>
          </a:p>
        </p:txBody>
      </p:sp>
      <p:sp>
        <p:nvSpPr>
          <p:cNvPr id="268" name="Google Shape;268;p8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822960" y="845820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The trade-off: a smaller team, and it only works if restaurants sign up.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numbers</a:t>
            </a:r>
            <a:endParaRPr/>
          </a:p>
        </p:txBody>
      </p:sp>
      <p:sp>
        <p:nvSpPr>
          <p:cNvPr id="276" name="Google Shape;276;p9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822960" y="1234440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We spend about $11K a quarter for two years.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Year 5 is our first profit.</a:t>
            </a:r>
            <a:endParaRPr/>
          </a:p>
        </p:txBody>
      </p:sp>
      <p:sp>
        <p:nvSpPr>
          <p:cNvPr id="278" name="Google Shape;278;p9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$K. Years 1 and 2 by quarter, years 3 to 5 by year. From our Gate 2 model; assumptions and sources are in the workbook.</a:t>
            </a:r>
            <a:endParaRPr/>
          </a:p>
        </p:txBody>
      </p:sp>
      <p:graphicFrame>
        <p:nvGraphicFramePr>
          <p:cNvPr id="279" name="Google Shape;279;p9"/>
          <p:cNvGraphicFramePr/>
          <p:nvPr/>
        </p:nvGraphicFramePr>
        <p:xfrm>
          <a:off x="822960" y="3611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{97F22518-C55D-4401-A6EB-0ED8D26C8151}</a:tableStyleId>
              </a:tblPr>
              <a:tblGrid>
                <a:gridCol w="2420000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143000"/>
                <a:gridCol w="1143000"/>
                <a:gridCol w="114300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$K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Active users (K)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1.8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5.4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15.2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24.5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208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356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Spending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283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Profit or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(8.8)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Cumulative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(21)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(32)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(43)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(74)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(141)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(192)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(120)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</a:tbl>
          </a:graphicData>
        </a:graphic>
      </p:graphicFrame>
      <p:sp>
        <p:nvSpPr>
          <p:cNvPr id="280" name="Google Shape;280;p9"/>
          <p:cNvSpPr/>
          <p:nvPr/>
        </p:nvSpPr>
        <p:spPr>
          <a:xfrm>
            <a:off x="822960" y="4123944"/>
            <a:ext cx="16623792" cy="13716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877835" y="6995160"/>
            <a:ext cx="283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happens</a:t>
            </a:r>
            <a:endParaRPr sz="1800"/>
          </a:p>
        </p:txBody>
      </p:sp>
      <p:sp>
        <p:nvSpPr>
          <p:cNvPr id="282" name="Google Shape;282;p9"/>
          <p:cNvSpPr txBox="1"/>
          <p:nvPr/>
        </p:nvSpPr>
        <p:spPr>
          <a:xfrm>
            <a:off x="3242960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Build the app</a:t>
            </a:r>
            <a:endParaRPr sz="1600"/>
          </a:p>
        </p:txBody>
      </p:sp>
      <p:sp>
        <p:nvSpPr>
          <p:cNvPr id="283" name="Google Shape;283;p9"/>
          <p:cNvSpPr txBox="1"/>
          <p:nvPr/>
        </p:nvSpPr>
        <p:spPr>
          <a:xfrm>
            <a:off x="4589819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Launch in Boston</a:t>
            </a:r>
            <a:endParaRPr sz="1600"/>
          </a:p>
        </p:txBody>
      </p:sp>
      <p:sp>
        <p:nvSpPr>
          <p:cNvPr id="284" name="Google Shape;284;p9"/>
          <p:cNvSpPr txBox="1"/>
          <p:nvPr/>
        </p:nvSpPr>
        <p:spPr>
          <a:xfrm>
            <a:off x="5936678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Grow by referral</a:t>
            </a:r>
            <a:endParaRPr sz="1600"/>
          </a:p>
        </p:txBody>
      </p:sp>
      <p:sp>
        <p:nvSpPr>
          <p:cNvPr id="285" name="Google Shape;285;p9"/>
          <p:cNvSpPr txBox="1"/>
          <p:nvPr/>
        </p:nvSpPr>
        <p:spPr>
          <a:xfrm>
            <a:off x="7283537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12K users</a:t>
            </a:r>
            <a:endParaRPr sz="1600"/>
          </a:p>
        </p:txBody>
      </p:sp>
      <p:sp>
        <p:nvSpPr>
          <p:cNvPr id="286" name="Google Shape;286;p9"/>
          <p:cNvSpPr txBox="1"/>
          <p:nvPr/>
        </p:nvSpPr>
        <p:spPr>
          <a:xfrm>
            <a:off x="8630396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First revenue</a:t>
            </a:r>
            <a:endParaRPr sz="1600"/>
          </a:p>
        </p:txBody>
      </p:sp>
      <p:sp>
        <p:nvSpPr>
          <p:cNvPr id="287" name="Google Shape;287;p9"/>
          <p:cNvSpPr txBox="1"/>
          <p:nvPr/>
        </p:nvSpPr>
        <p:spPr>
          <a:xfrm>
            <a:off x="9977255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More restaurants</a:t>
            </a:r>
            <a:endParaRPr sz="1600"/>
          </a:p>
        </p:txBody>
      </p:sp>
      <p:sp>
        <p:nvSpPr>
          <p:cNvPr id="288" name="Google Shape;288;p9"/>
          <p:cNvSpPr txBox="1"/>
          <p:nvPr/>
        </p:nvSpPr>
        <p:spPr>
          <a:xfrm>
            <a:off x="11324114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Pitch chains</a:t>
            </a:r>
            <a:endParaRPr sz="1600"/>
          </a:p>
        </p:txBody>
      </p:sp>
      <p:sp>
        <p:nvSpPr>
          <p:cNvPr id="289" name="Google Shape;289;p9"/>
          <p:cNvSpPr txBox="1"/>
          <p:nvPr/>
        </p:nvSpPr>
        <p:spPr>
          <a:xfrm>
            <a:off x="12670973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Hire co-op for yr 3</a:t>
            </a:r>
            <a:endParaRPr sz="1600"/>
          </a:p>
        </p:txBody>
      </p:sp>
      <p:sp>
        <p:nvSpPr>
          <p:cNvPr id="290" name="Google Shape;290;p9"/>
          <p:cNvSpPr txBox="1"/>
          <p:nvPr/>
        </p:nvSpPr>
        <p:spPr>
          <a:xfrm>
            <a:off x="14017832" y="6995160"/>
            <a:ext cx="335585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Co-op students: 1, 2 and 3 in Years 3 to 5.</a:t>
            </a:r>
            <a:endParaRPr sz="1600"/>
          </a:p>
        </p:txBody>
      </p:sp>
      <p:sp>
        <p:nvSpPr>
          <p:cNvPr id="291" name="Google Shape;291;p9"/>
          <p:cNvSpPr txBox="1"/>
          <p:nvPr/>
        </p:nvSpPr>
        <p:spPr>
          <a:xfrm>
            <a:off x="822960" y="8503920"/>
            <a:ext cx="1664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Highlighted: first revenue, the $192K low, and first profit. That low plus a 25% cushion sets the $240K total. Each quarter of Years 1 and 2: $7,500 developer, $1,500 marketing, $1,500 legal and insurance, plus hosting. Nobody else is paid until the angel round funds Year 3.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0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we’d fund it</a:t>
            </a:r>
            <a:endParaRPr/>
          </a:p>
        </p:txBody>
      </p:sp>
      <p:sp>
        <p:nvSpPr>
          <p:cNvPr id="298" name="Google Shape;298;p10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299" name="Google Shape;299;p10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We'd start on grants, as Beli did.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angel round of about $166K takes us to profit.</a:t>
            </a:r>
            <a:endParaRPr/>
          </a:p>
        </p:txBody>
      </p:sp>
      <p:sp>
        <p:nvSpPr>
          <p:cNvPr id="300" name="Google Shape;300;p10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Beli: Wikipedia (Harvard grants); CB Insights ($5.3M, Nov 2023); Boston Globe, Nov 2025 (users). IDEA Gap Fund: Northeastern Global News. Amounts are from our Gate 2 model.</a:t>
            </a:r>
            <a:endParaRPr/>
          </a:p>
        </p:txBody>
      </p:sp>
      <p:sp>
        <p:nvSpPr>
          <p:cNvPr id="301" name="Google Shape;301;p10"/>
          <p:cNvSpPr txBox="1"/>
          <p:nvPr/>
        </p:nvSpPr>
        <p:spPr>
          <a:xfrm>
            <a:off x="576072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When</a:t>
            </a:r>
            <a:endParaRPr/>
          </a:p>
        </p:txBody>
      </p:sp>
      <p:sp>
        <p:nvSpPr>
          <p:cNvPr id="302" name="Google Shape;302;p10"/>
          <p:cNvSpPr txBox="1"/>
          <p:nvPr/>
        </p:nvSpPr>
        <p:spPr>
          <a:xfrm>
            <a:off x="10058400" y="3657600"/>
            <a:ext cx="7406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we'd show to get it</a:t>
            </a:r>
            <a:endParaRPr/>
          </a:p>
        </p:txBody>
      </p:sp>
      <p:sp>
        <p:nvSpPr>
          <p:cNvPr id="303" name="Google Shape;303;p10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 txBox="1"/>
          <p:nvPr/>
        </p:nvSpPr>
        <p:spPr>
          <a:xfrm>
            <a:off x="822960" y="4343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Grants and competitions, about $74K</a:t>
            </a:r>
            <a:endParaRPr/>
          </a:p>
        </p:txBody>
      </p:sp>
      <p:sp>
        <p:nvSpPr>
          <p:cNvPr id="305" name="Google Shape;305;p10"/>
          <p:cNvSpPr txBox="1"/>
          <p:nvPr/>
        </p:nvSpPr>
        <p:spPr>
          <a:xfrm>
            <a:off x="576072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Years 1 and 2</a:t>
            </a:r>
            <a:endParaRPr/>
          </a:p>
        </p:txBody>
      </p:sp>
      <p:sp>
        <p:nvSpPr>
          <p:cNvPr id="306" name="Google Shape;306;p10"/>
          <p:cNvSpPr txBox="1"/>
          <p:nvPr/>
        </p:nvSpPr>
        <p:spPr>
          <a:xfrm>
            <a:off x="10058400" y="434340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IDEA Gap Fund and Boston pitch competitions. If we fall short, or the round slips, we cover the gap ourselves.</a:t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822960" y="57607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0"/>
          <p:cNvSpPr txBox="1"/>
          <p:nvPr/>
        </p:nvSpPr>
        <p:spPr>
          <a:xfrm>
            <a:off x="822960" y="598932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angel round, about $166K</a:t>
            </a:r>
            <a:endParaRPr/>
          </a:p>
        </p:txBody>
      </p:sp>
      <p:sp>
        <p:nvSpPr>
          <p:cNvPr id="309" name="Google Shape;309;p10"/>
          <p:cNvSpPr txBox="1"/>
          <p:nvPr/>
        </p:nvSpPr>
        <p:spPr>
          <a:xfrm>
            <a:off x="5760720" y="598932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End of Year 2</a:t>
            </a:r>
            <a:endParaRPr/>
          </a:p>
        </p:txBody>
      </p:sp>
      <p:sp>
        <p:nvSpPr>
          <p:cNvPr id="310" name="Google Shape;310;p10"/>
          <p:cNvSpPr txBox="1"/>
          <p:nvPr/>
        </p:nvSpPr>
        <p:spPr>
          <a:xfrm>
            <a:off x="10058400" y="598932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31K Boston users, restaurants paying for four quarters, and receipt-proven visits.</a:t>
            </a:r>
            <a:endParaRPr/>
          </a:p>
        </p:txBody>
      </p:sp>
      <p:sp>
        <p:nvSpPr>
          <p:cNvPr id="311" name="Google Shape;311;p10"/>
          <p:cNvSpPr/>
          <p:nvPr/>
        </p:nvSpPr>
        <p:spPr>
          <a:xfrm>
            <a:off x="822960" y="73609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822960" y="768096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$74K in grants plus $166K from angels: $240K in all. At $356K of Year 5 revenue we're too small for venture funds, so the angels' way out is a sale to a bigger platform or a card company, as Resy sold to American Express.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Appendix</a:t>
            </a:r>
            <a:endParaRPr/>
          </a:p>
        </p:txBody>
      </p:sp>
      <p:sp>
        <p:nvSpPr>
          <p:cNvPr id="319" name="Google Shape;319;p1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and every price starts from a real company’s number.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How many we sell is our guess.</a:t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Kakaku.com results, Nov 2025 (Tabelog).</a:t>
            </a:r>
            <a:endParaRPr/>
          </a:p>
        </p:txBody>
      </p:sp>
      <p:sp>
        <p:nvSpPr>
          <p:cNvPr id="341" name="Google Shape;341;p11"/>
          <p:cNvSpPr txBox="1"/>
          <p:nvPr/>
        </p:nvSpPr>
        <p:spPr>
          <a:xfrm>
            <a:off x="82296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Stream</a:t>
            </a:r>
            <a:endParaRPr/>
          </a:p>
        </p:txBody>
      </p:sp>
      <p:sp>
        <p:nvSpPr>
          <p:cNvPr id="322" name="Google Shape;322;p11"/>
          <p:cNvSpPr txBox="1"/>
          <p:nvPr/>
        </p:nvSpPr>
        <p:spPr>
          <a:xfrm>
            <a:off x="4937760" y="36576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/>
          </a:p>
        </p:txBody>
      </p:sp>
      <p:sp>
        <p:nvSpPr>
          <p:cNvPr id="323" name="Google Shape;323;p11"/>
          <p:cNvSpPr txBox="1"/>
          <p:nvPr/>
        </p:nvSpPr>
        <p:spPr>
          <a:xfrm>
            <a:off x="6949440" y="3657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they pay for and why</a:t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822960" y="415137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 txBox="1"/>
          <p:nvPr/>
        </p:nvSpPr>
        <p:spPr>
          <a:xfrm>
            <a:off x="82296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Businesses</a:t>
            </a:r>
            <a:endParaRPr/>
          </a:p>
        </p:txBody>
      </p:sp>
      <p:sp>
        <p:nvSpPr>
          <p:cNvPr id="326" name="Google Shape;326;p11"/>
          <p:cNvSpPr txBox="1"/>
          <p:nvPr/>
        </p:nvSpPr>
        <p:spPr>
          <a:xfrm>
            <a:off x="4937760" y="434340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/>
          </a:p>
        </p:txBody>
      </p:sp>
      <p:sp>
        <p:nvSpPr>
          <p:cNvPr id="327" name="Google Shape;327;p11"/>
          <p:cNvSpPr txBox="1"/>
          <p:nvPr/>
        </p:nvSpPr>
        <p:spPr>
          <a:xfrm>
            <a:off x="6949440" y="43434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Diners we send ($156K), tables booked ($54K) and area insights for chains ($78K). They pay for customers, not for ads. About $0.90 a diner sits under OpenTable’s $1.00 to $1.50, bookings are a quarter of Tabelog’s rate, and chains pay a quarter of Placer.ai’s.</a:t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 txBox="1"/>
          <p:nvPr/>
        </p:nvSpPr>
        <p:spPr>
          <a:xfrm>
            <a:off x="822960" y="63550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/>
          </a:p>
        </p:txBody>
      </p:sp>
      <p:sp>
        <p:nvSpPr>
          <p:cNvPr id="330" name="Google Shape;330;p11"/>
          <p:cNvSpPr txBox="1"/>
          <p:nvPr/>
        </p:nvSpPr>
        <p:spPr>
          <a:xfrm>
            <a:off x="4937760" y="635508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/>
          </a:p>
        </p:txBody>
      </p:sp>
      <p:sp>
        <p:nvSpPr>
          <p:cNvPr id="331" name="Google Shape;331;p11"/>
          <p:cNvSpPr txBox="1"/>
          <p:nvPr/>
        </p:nvSpPr>
        <p:spPr>
          <a:xfrm>
            <a:off x="6949440" y="63550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optional $5 a month membership: extras on top of a free app, such as taste match with friends. About 0.3% pay, the same share as Tabelog’s users.</a:t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822960" y="77724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In summary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Boston students can’t trust the ratings.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We’re building the one app they can.</a:t>
            </a:r>
            <a:endParaRPr/>
          </a:p>
        </p:txBody>
      </p:sp>
      <p:sp>
        <p:nvSpPr>
          <p:cNvPr id="900" name="Google Shape;900;p2"/>
          <p:cNvSpPr txBox="1"/>
          <p:nvPr/>
        </p:nvSpPr>
        <p:spPr>
          <a:xfrm>
            <a:off x="82296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Trust</a:t>
            </a:r>
            <a:endParaRPr/>
          </a:p>
        </p:txBody>
      </p:sp>
      <p:sp>
        <p:nvSpPr>
          <p:cNvPr id="901" name="Google Shape;901;p2"/>
          <p:cNvSpPr txBox="1"/>
          <p:nvPr/>
        </p:nvSpPr>
        <p:spPr>
          <a:xfrm>
            <a:off x="82296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Only diners who proved they ate there count toward our score.</a:t>
            </a:r>
            <a:endParaRPr/>
          </a:p>
        </p:txBody>
      </p:sp>
      <p:sp>
        <p:nvSpPr>
          <p:cNvPr id="902" name="Google Shape;902;p2"/>
          <p:cNvSpPr txBox="1"/>
          <p:nvPr/>
        </p:nvSpPr>
        <p:spPr>
          <a:xfrm>
            <a:off x="649224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Money</a:t>
            </a:r>
            <a:endParaRPr/>
          </a:p>
        </p:txBody>
      </p:sp>
      <p:sp>
        <p:nvSpPr>
          <p:cNvPr id="903" name="Google Shape;903;p2"/>
          <p:cNvSpPr txBox="1"/>
          <p:nvPr/>
        </p:nvSpPr>
        <p:spPr>
          <a:xfrm>
            <a:off x="649224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 pay for the diners we send. Users never pay.</a:t>
            </a:r>
            <a:endParaRPr/>
          </a:p>
        </p:txBody>
      </p:sp>
      <p:sp>
        <p:nvSpPr>
          <p:cNvPr id="904" name="Google Shape;904;p2"/>
          <p:cNvSpPr txBox="1"/>
          <p:nvPr/>
        </p:nvSpPr>
        <p:spPr>
          <a:xfrm>
            <a:off x="1216152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Path</a:t>
            </a:r>
            <a:endParaRPr/>
          </a:p>
        </p:txBody>
      </p:sp>
      <p:sp>
        <p:nvSpPr>
          <p:cNvPr id="905" name="Google Shape;905;p2"/>
          <p:cNvSpPr txBox="1"/>
          <p:nvPr/>
        </p:nvSpPr>
        <p:spPr>
          <a:xfrm>
            <a:off x="1216152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Grants first, then one angel round. Profit in Year 5.</a:t>
            </a:r>
            <a:endParaRPr/>
          </a:p>
        </p:txBody>
      </p:sp>
      <p:sp>
        <p:nvSpPr>
          <p:cNvPr id="906" name="Google Shape;906;p2"/>
          <p:cNvSpPr txBox="1"/>
          <p:nvPr/>
        </p:nvSpPr>
        <p:spPr>
          <a:xfrm>
            <a:off x="822960" y="722376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Next</a:t>
            </a:r>
            <a:endParaRPr/>
          </a:p>
        </p:txBody>
      </p:sp>
      <p:sp>
        <p:nvSpPr>
          <p:cNvPr id="907" name="Google Shape;907;p2"/>
          <p:cNvSpPr txBox="1"/>
          <p:nvPr/>
        </p:nvSpPr>
        <p:spPr>
          <a:xfrm>
            <a:off x="822960" y="7818120"/>
            <a:ext cx="1600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Five owner calls with a free 30-day pilot, and a receipt-scan test with about 10 users.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