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We’d start at Northeastern.</a:t>
            </a:r>
          </a:p>
          <a:p>
            <a:pPr indent="0" lvl="0" marL="0" rtl="0" algn="l">
              <a:spcBef>
                <a:spcPts val="0"/>
              </a:spcBef>
              <a:spcAft>
                <a:spcPts val="600"/>
              </a:spcAft>
              <a:buNone/>
            </a:pPr>
            <a:r>
              <a:rPr lang="en-US"/>
              <a:t>Right now, picking a place usually means checking Google Maps, then Instagram or TikTok, then asking a friend. Our idea is to put the reviews, posts, hours and booking for a place on one page.</a:t>
            </a:r>
          </a:p>
          <a:p>
            <a:pPr indent="0" lvl="0" marL="0" rtl="0" algn="l">
              <a:spcBef>
                <a:spcPts val="0"/>
              </a:spcBef>
              <a:spcAft>
                <a:spcPts val="600"/>
              </a:spcAft>
              <a:buNone/>
            </a:pPr>
            <a:r>
              <a:rPr lang="en-US"/>
              <a:t>The one thing we’d add is our own score, and it only counts people who scanned a receipt from that place.</a:t>
            </a:r>
          </a:p>
          <a:p>
            <a:pPr indent="0" lvl="0" marL="0" rtl="0" algn="l">
              <a:spcBef>
                <a:spcPts val="0"/>
              </a:spcBef>
              <a:spcAft>
                <a:spcPts val="600"/>
              </a:spcAft>
              <a:buNone/>
            </a:pPr>
            <a:r>
              <a:rPr lang="en-US"/>
              <a:t>It doesn’t have a name yet, and we haven’t built it. What you’ll see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described a similar routine. Google Maps to see what’s nearby. Instagram or TikTok to see the food. A friend to check it’s good. And sometimes it still doesn’t work out.</a:t>
            </a:r>
          </a:p>
          <a:p>
            <a:pPr indent="0" lvl="0" marL="0" rtl="0" algn="l">
              <a:spcBef>
                <a:spcPts val="0"/>
              </a:spcBef>
              <a:spcAft>
                <a:spcPts val="600"/>
              </a:spcAft>
              <a:buNone/>
            </a:pPr>
            <a:r>
              <a:rPr lang="en-US"/>
              <a:t>What we heard most was that people don’t have one place to save where they want to go, and they’d like one app they can rely on.</a:t>
            </a:r>
          </a:p>
          <a:p>
            <a:pPr indent="0" lvl="0" marL="0" rtl="0" algn="l">
              <a:spcBef>
                <a:spcPts val="0"/>
              </a:spcBef>
              <a:spcAft>
                <a:spcPts val="600"/>
              </a:spcAft>
              <a:buNone/>
            </a:pPr>
            <a:r>
              <a:rPr lang="en-US"/>
              <a:t>So the information is out there. It’s just spread across a lot of places.</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So the idea is one page per restaurant.</a:t>
            </a:r>
          </a:p>
          <a:p>
            <a:pPr indent="0" lvl="0" marL="0" rtl="0" algn="l">
              <a:spcBef>
                <a:spcPts val="0"/>
              </a:spcBef>
              <a:spcAft>
                <a:spcPts val="600"/>
              </a:spcAft>
              <a:buNone/>
            </a:pPr>
            <a:r>
              <a:rPr lang="en-US"/>
              <a:t>You can find a place: what’s open near you, filtered by diet, price and distance.</a:t>
            </a:r>
          </a:p>
          <a:p>
            <a:pPr indent="0" lvl="0" marL="0" rtl="0" algn="l">
              <a:spcBef>
                <a:spcPts val="0"/>
              </a:spcBef>
              <a:spcAft>
                <a:spcPts val="600"/>
              </a:spcAft>
              <a:buNone/>
            </a:pPr>
            <a:r>
              <a:rPr lang="en-US"/>
              <a:t>You can compare: ratings and posts from other apps, where they let us show them, next to our own score. Our score only counts diners who scanned a receipt, and restaurants can’t pay to rank higher. If an app won’t share its ratings, we link out to it.</a:t>
            </a:r>
          </a:p>
          <a:p>
            <a:pPr indent="0" lvl="0" marL="0" rtl="0" algn="l">
              <a:spcBef>
                <a:spcPts val="0"/>
              </a:spcBef>
              <a:spcAft>
                <a:spcPts val="600"/>
              </a:spcAft>
              <a:buNone/>
            </a:pPr>
            <a:r>
              <a:rPr lang="en-US"/>
              <a:t>And you can keep track: your history, your lists, and booking a table.</a:t>
            </a:r>
          </a:p>
          <a:p>
            <a:pPr indent="0" lvl="0" marL="0" rtl="0" algn="l">
              <a:spcBef>
                <a:spcPts val="0"/>
              </a:spcBef>
              <a:spcAft>
                <a:spcPts val="600"/>
              </a:spcAft>
              <a:buNone/>
            </a:pPr>
            <a:r>
              <a:rPr lang="en-US"/>
              <a:t>The core app is free, including dietary filters. A halal or nut-free search is what sends a restaurant a diner, so we don’t want to charge for it.</a:t>
            </a:r>
          </a:p>
          <a:p>
            <a:pPr indent="0" lvl="0" marL="0" rtl="0" algn="l">
              <a:spcBef>
                <a:spcPts val="0"/>
              </a:spcBef>
              <a:spcAft>
                <a:spcPts val="600"/>
              </a:spcAft>
              <a:buNone/>
            </a:pPr>
            <a:r>
              <a:rPr lang="en-US"/>
              <a:t>People ask about Beli a lot. Beli is great for ranking places you’ve been. We’re focused on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Every score and person on them is made up.</a:t>
            </a:r>
          </a:p>
          <a:p>
            <a:pPr indent="0" lvl="0" marL="0" rtl="0" algn="l">
              <a:spcBef>
                <a:spcPts val="0"/>
              </a:spcBef>
              <a:spcAft>
                <a:spcPts val="600"/>
              </a:spcAft>
              <a:buNone/>
            </a:pPr>
            <a:r>
              <a:rPr lang="en-US"/>
              <a:t>The first shows what’s open around you. The second suggests one place that fits your budget and diet, and shows which friends have been. The third gives three picks, each with a reason. The fourth puts our receipt-based score next to the ratings from other apps, and flags creators’ paid posts.</a:t>
            </a:r>
          </a:p>
          <a:p>
            <a:pPr indent="0" lvl="0" marL="0" rtl="0" algn="l">
              <a:spcBef>
                <a:spcPts val="0"/>
              </a:spcBef>
              <a:spcAft>
                <a:spcPts val="600"/>
              </a:spcAft>
              <a:buNone/>
            </a:pPr>
            <a:r>
              <a:rPr lang="en-US"/>
              <a:t>We want to test these with students on campus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Boston has about 162,000 college students. Our Year 1 goal is 12,000 of them.</a:t>
            </a:r>
          </a:p>
          <a:p>
            <a:pPr indent="0" lvl="0" marL="0" rtl="0" algn="l">
              <a:spcBef>
                <a:spcPts val="0"/>
              </a:spcBef>
              <a:spcAft>
                <a:spcPts val="600"/>
              </a:spcAft>
              <a:buNone/>
            </a:pPr>
            <a:r>
              <a:rPr lang="en-US"/>
              <a:t>Across the US there are about 19 million college students. Our Year 5 target is 540,000 users, which is 2.8% of them, inside the 2 to 5% range from class.</a:t>
            </a:r>
          </a:p>
          <a:p>
            <a:pPr indent="0" lvl="0" marL="0" rtl="0" algn="l">
              <a:spcBef>
                <a:spcPts val="0"/>
              </a:spcBef>
              <a:spcAft>
                <a:spcPts val="600"/>
              </a:spcAft>
              <a:buNone/>
            </a:pPr>
            <a:r>
              <a:rPr lang="en-US"/>
              <a:t>On the restaurant side,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the way Beli did, mostly through friends. About 80% of Beli’s users came that way.</a:t>
            </a:r>
          </a:p>
          <a:p>
            <a:pPr indent="0" lvl="0" marL="0" rtl="0" algn="l">
              <a:spcBef>
                <a:spcPts val="0"/>
              </a:spcBef>
              <a:spcAft>
                <a:spcPts val="600"/>
              </a:spcAft>
              <a:buNone/>
            </a:pPr>
            <a:r>
              <a:rPr lang="en-US"/>
              <a:t>The first ten users would be people we interviewed and our friends, testing the prototype. The next hundred would be Northeastern students they invite, plus clubs and group chats. The first thousand would come from other Boston campuses, through student ambassadors and food posts.</a:t>
            </a:r>
          </a:p>
          <a:p>
            <a:pPr indent="0" lvl="0" marL="0" rtl="0" algn="l">
              <a:spcBef>
                <a:spcPts val="0"/>
              </a:spcBef>
              <a:spcAft>
                <a:spcPts val="600"/>
              </a:spcAft>
              <a:buNone/>
            </a:pPr>
            <a:r>
              <a:rPr lang="en-US"/>
              <a:t>If that works, our model gets to 12,000 users by the end of Year 1. Users never have to pay. Restaurants would.</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This is how we’d make money. We’d charge restaurants for the diners we send, instead of for ads.</a:t>
            </a:r>
          </a:p>
          <a:p>
            <a:pPr indent="0" lvl="0" marL="0" rtl="0" algn="l">
              <a:spcBef>
                <a:spcPts val="0"/>
              </a:spcBef>
              <a:spcAft>
                <a:spcPts val="600"/>
              </a:spcAft>
              <a:buNone/>
            </a:pPr>
            <a:r>
              <a:rPr lang="en-US"/>
              <a:t>A restaurant would pay about 90 cents, and only after a receipt shows the diner came. For comparison, OpenTable charges $1 to $1.50 a diner. Booking sites would pay per table, and from Year 3 chains would pay $6,000 a year per area for insights.</a:t>
            </a:r>
          </a:p>
          <a:p>
            <a:pPr indent="0" lvl="0" marL="0" rtl="0" algn="l">
              <a:spcBef>
                <a:spcPts val="0"/>
              </a:spcBef>
              <a:spcAft>
                <a:spcPts val="600"/>
              </a:spcAft>
              <a:buNone/>
            </a:pPr>
            <a:r>
              <a:rPr lang="en-US"/>
              <a:t>Users never have to pay. We’re also thinking about an optional $5 a month membership for extras, and we’d expect about 3 in 1,000 to sign up.</a:t>
            </a:r>
          </a:p>
          <a:p>
            <a:pPr indent="0" lvl="0" marL="0" rtl="0" algn="l">
              <a:spcBef>
                <a:spcPts val="0"/>
              </a:spcBef>
              <a:spcAft>
                <a:spcPts val="600"/>
              </a:spcAft>
              <a:buNone/>
            </a:pPr>
            <a:r>
              <a:rPr lang="en-US"/>
              <a:t>In our model that’s $356,000 in Year 5. Nothing anyone pays would change a score or a ranking.</a:t>
            </a:r>
          </a:p>
          <a:p>
            <a:pPr indent="0" lvl="0" marL="0" rtl="0" algn="l">
              <a:spcBef>
                <a:spcPts val="0"/>
              </a:spcBef>
              <a:spcAft>
                <a:spcPts val="600"/>
              </a:spcAft>
              <a:buNone/>
            </a:pPr>
            <a:r>
              <a:rPr lang="en-US"/>
              <a:t>To be clear, we haven’t tested any of this with restaurant owners yet. That’s our next step: five owner calls, each with a free 30-day pilot and a report on the diners we sent.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building our numbers, we looked at the apps closest to us.</a:t>
            </a:r>
          </a:p>
          <a:p>
            <a:pPr indent="0" lvl="0" marL="0" rtl="0" algn="l">
              <a:spcBef>
                <a:spcPts val="0"/>
              </a:spcBef>
              <a:spcAft>
                <a:spcPts val="600"/>
              </a:spcAft>
              <a:buNone/>
            </a:pPr>
            <a:r>
              <a:rPr lang="en-US"/>
              <a:t>OpenTable took nine years to turn a profit and lost $57 million on the way. Resy ran on $45 million of investor money and was sold. Beli has 1.1 million monthly users, a team of five, and almost no revenue.</a:t>
            </a:r>
          </a:p>
          <a:p>
            <a:pPr indent="0" lvl="0" marL="0" rtl="0" algn="l">
              <a:spcBef>
                <a:spcPts val="0"/>
              </a:spcBef>
              <a:spcAft>
                <a:spcPts val="600"/>
              </a:spcAft>
              <a:buNone/>
            </a:pPr>
            <a:r>
              <a:rPr lang="en-US"/>
              <a:t>That made us plan for slow money. No founder salaries, co-op students before full-time hires, and costs low enough that we’d need about $240,000 in total. We’re also planning for growth at about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model. The three highlighted cells are the ones to look at.</a:t>
            </a:r>
          </a:p>
          <a:p>
            <a:pPr indent="0" lvl="0" marL="0" rtl="0" algn="l">
              <a:spcBef>
                <a:spcPts val="0"/>
              </a:spcBef>
              <a:spcAft>
                <a:spcPts val="600"/>
              </a:spcAft>
              <a:buNone/>
            </a:pPr>
            <a:r>
              <a:rPr lang="en-US"/>
              <a:t>Years 1 and 2 cost about $10,500 a quarter: a contract developer at $7,500, $1,500 for marketing, $1,500 for legal and insurance, and hosting. No one else is paid until the angel round funds Year 3.</a:t>
            </a:r>
          </a:p>
          <a:p>
            <a:pPr indent="0" lvl="0" marL="0" rtl="0" algn="l">
              <a:spcBef>
                <a:spcPts val="0"/>
              </a:spcBef>
              <a:spcAft>
                <a:spcPts val="600"/>
              </a:spcAft>
              <a:buNone/>
            </a:pPr>
            <a:r>
              <a:rPr lang="en-US"/>
              <a:t>First revenue shows up in Year 2. The lowest point is about $192,000 down in Year 4, and we’d raise $240,000 to cover that with a 25% cushion. Year 5 is the first profitable year in the model,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For funding, we’d start with grants, the way Beli did. Northeastern’s IDEA Gap Fund and Boston pitch competitions, about $74,000, would cover Years 1 and 2, and we’d cover any gap ourselves.</a:t>
            </a:r>
          </a:p>
          <a:p>
            <a:pPr indent="0" lvl="0" marL="0" rtl="0" algn="l">
              <a:spcBef>
                <a:spcPts val="0"/>
              </a:spcBef>
              <a:spcAft>
                <a:spcPts val="600"/>
              </a:spcAft>
              <a:buNone/>
            </a:pPr>
            <a:r>
              <a:rPr lang="en-US"/>
              <a:t>At the end of Year 2, after four quarters of restaurants paying, we’d raise one angel round of about $166,000. By then we’d want to show around 31,000 Boston users and receipt-proven visits.</a:t>
            </a:r>
          </a:p>
          <a:p>
            <a:pPr indent="0" lvl="0" marL="0" rtl="0" algn="l">
              <a:spcBef>
                <a:spcPts val="0"/>
              </a:spcBef>
              <a:spcAft>
                <a:spcPts val="600"/>
              </a:spcAft>
              <a:buNone/>
            </a:pPr>
            <a:r>
              <a:rPr lang="en-US"/>
              <a:t>At $356,000 of revenue in Year 5, this is too small for venture funds. The realistic exit for an angel is a sale to a bigger platform or a card company, the way Resy sold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This one is for questions. It shows where each price comes from.</a:t>
            </a:r>
          </a:p>
          <a:p>
            <a:pPr indent="0" lvl="0" marL="0" rtl="0" algn="l">
              <a:spcBef>
                <a:spcPts val="0"/>
              </a:spcBef>
              <a:spcAft>
                <a:spcPts val="600"/>
              </a:spcAft>
              <a:buNone/>
            </a:pPr>
            <a:r>
              <a:rPr lang="en-US"/>
              <a:t>Businesses pay $288,000 in Year 5: $156,000 for diners we send, $54,000 for tables booked and $78,000 for area insights for chains. About 90 cents a diner sits under OpenTable’s $1 to $1.50. Bookings are a quarter of Tabelog’s rate, and chains pay a quarter of what Placer.ai charges.</a:t>
            </a:r>
          </a:p>
          <a:p>
            <a:pPr indent="0" lvl="0" marL="0" rtl="0" algn="l">
              <a:spcBef>
                <a:spcPts val="0"/>
              </a:spcBef>
              <a:spcAft>
                <a:spcPts val="600"/>
              </a:spcAft>
              <a:buNone/>
            </a:pPr>
            <a:r>
              <a:rPr lang="en-US"/>
              <a:t>Users pay $67,000 for the optional $5 a month membership. About 0.3% sign up, the same share as Tabelog’s users.</a:t>
            </a:r>
          </a:p>
          <a:p>
            <a:pPr indent="0" lvl="0" marL="0" rtl="0" algn="l">
              <a:spcBef>
                <a:spcPts val="0"/>
              </a:spcBef>
              <a:spcAft>
                <a:spcPts val="600"/>
              </a:spcAft>
              <a:buNone/>
            </a:pPr>
            <a:r>
              <a:rPr lang="en-US"/>
              <a:t>Every price starts from a real company’s number. How many we sell is our guess.</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To wrap up.</a:t>
            </a:r>
          </a:p>
          <a:p>
            <a:pPr indent="0" lvl="0" marL="0" rtl="0" algn="l">
              <a:spcBef>
                <a:spcPts val="0"/>
              </a:spcBef>
              <a:spcAft>
                <a:spcPts val="600"/>
              </a:spcAft>
              <a:buNone/>
            </a:pPr>
            <a:r>
              <a:rPr lang="en-US"/>
              <a:t>Picking where to eat takes several apps today, and we think it can take one. Our score only counts people who proved they ate there. Restaurants would pay for the diners we send, and users never have to pay. We’d start on grants, and our model reaches a profit in Year 5.</a:t>
            </a:r>
          </a:p>
          <a:p>
            <a:pPr indent="0" lvl="0" marL="0" rtl="0" algn="l">
              <a:spcBef>
                <a:spcPts val="0"/>
              </a:spcBef>
              <a:spcAft>
                <a:spcPts val="600"/>
              </a:spcAft>
              <a:buNone/>
            </a:pPr>
            <a:r>
              <a:rPr lang="en-US"/>
              <a:t>The two things we still need to prove are whether restaurants will pay and whether people will scan receipts. So next we’re calling five owners with a free 30-day pilot, and testing receipt scanning with about ten users.</a:t>
            </a:r>
          </a:p>
          <a:p>
            <a:pPr indent="0" lvl="0" marL="0" rtl="0" algn="l">
              <a:spcBef>
                <a:spcPts val="0"/>
              </a:spcBef>
              <a:spcAft>
                <a:spcPts val="600"/>
              </a:spcAft>
              <a:buNone/>
            </a:pPr>
            <a:r>
              <a:rPr lang="en-US"/>
              <a:t>Thank you. We’re happy to take questions.</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five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Yelp, Instagram, TikTok and Beli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heard</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507492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507492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507492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932688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932688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932688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27" name="Google Shape;127;p2"/>
          <p:cNvSpPr txBox="1"/>
          <p:nvPr/>
        </p:nvSpPr>
        <p:spPr>
          <a:xfrm>
            <a:off x="1357884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000000"/>
                </a:solidFill>
                <a:latin typeface="Poppins"/>
                <a:ea typeface="Poppins"/>
                <a:cs typeface="Poppins"/>
                <a:sym typeface="Poppins"/>
              </a:rPr>
              <a:t>4</a:t>
            </a:r>
            <a:endParaRPr/>
          </a:p>
        </p:txBody>
      </p:sp>
      <p:sp>
        <p:nvSpPr>
          <p:cNvPr id="128" name="Google Shape;128;p2"/>
          <p:cNvSpPr txBox="1"/>
          <p:nvPr/>
        </p:nvSpPr>
        <p:spPr>
          <a:xfrm>
            <a:off x="1357884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Then they go</a:t>
            </a:r>
            <a:endParaRPr sz="2800"/>
          </a:p>
        </p:txBody>
      </p:sp>
      <p:sp>
        <p:nvSpPr>
          <p:cNvPr id="129" name="Google Shape;129;p2"/>
          <p:cNvSpPr txBox="1"/>
          <p:nvPr/>
        </p:nvSpPr>
        <p:spPr>
          <a:xfrm>
            <a:off x="1357884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and it's still a miss</a:t>
            </a:r>
            <a:endParaRPr sz="2400"/>
          </a:p>
        </p:txBody>
      </p:sp>
      <p:sp>
        <p:nvSpPr>
          <p:cNvPr id="130" name="Google Shape;130;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Most had no single place to save where they want to go.</a:t>
            </a:r>
            <a:endParaRPr sz="2800"/>
          </a:p>
        </p:txBody>
      </p:sp>
      <p:sp>
        <p:nvSpPr>
          <p:cNvPr id="131" name="Google Shape;131;p2"/>
          <p:cNvSpPr txBox="1"/>
          <p:nvPr/>
        </p:nvSpPr>
        <p:spPr>
          <a:xfrm>
            <a:off x="822960" y="822960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Many said they’d like one app they can rely on.</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we’re building</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and posts, where they let us show them</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
        <p:nvSpPr>
          <p:cNvPr id="150" name="Google Shape;150;p3"/>
          <p:cNvSpPr txBox="1"/>
          <p:nvPr/>
        </p:nvSpPr>
        <p:spPr>
          <a:xfrm>
            <a:off x="822960" y="8412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Dietary filters stay free: a halal or nut-free search is what sends a restaurant the diner it pays for. Nobody pays for placement.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it looks like</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 start with Boston's 162,000 students. </a:t>
            </a:r>
            <a:r>
              <a:rPr b="0" i="0" lang="en-US" sz="4400" u="none" cap="none" strike="noStrike">
                <a:solidFill>
                  <a:srgbClr val="595959"/>
                </a:solidFill>
                <a:latin typeface="Poppins"/>
                <a:ea typeface="Poppins"/>
                <a:cs typeface="Poppins"/>
                <a:sym typeface="Poppins"/>
              </a:rPr>
              <a:t>About 19 million US students could use it.</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we can sign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five tabs.</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 Users never have to pay.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once a receipt proves the visit. Booking sites pay per table. Chains pay $6,000 a year per area.</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app is free. About 3 in 1,000 pay for extras.</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its size, almost no ads,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In our model, one angel round of about $166K gets us to profit.</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Picking where to eat takes several apps today. </a:t>
            </a:r>
            <a:r>
              <a:rPr b="0" i="0" lang="en-US" sz="4400" u="none" cap="none" strike="noStrike">
                <a:solidFill>
                  <a:srgbClr val="595959"/>
                </a:solidFill>
                <a:latin typeface="Poppins"/>
                <a:ea typeface="Poppins"/>
                <a:cs typeface="Poppins"/>
                <a:sym typeface="Poppins"/>
              </a:rPr>
              <a:t>We think it can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