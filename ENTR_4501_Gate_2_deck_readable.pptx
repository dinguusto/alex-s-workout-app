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8.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2.xml"/>
  <Override ContentType="application/vnd.openxmlformats-officedocument.presentationml.notesSlide+xml" PartName="/ppt/notesSlides/notesSlide5.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6.xml"/>
  <Override ContentType="application/vnd.openxmlformats-officedocument.presentationml.slide+xml" PartName="/ppt/slides/slide9.xml"/>
  <Override ContentType="application/vnd.openxmlformats-officedocument.presentationml.slide+xml" PartName="/ppt/slides/slide5.xml"/>
  <Override ContentType="application/vnd.openxmlformats-officedocument.presentationml.slide+xml" PartName="/ppt/slides/slide8.xml"/>
  <Override ContentType="application/vnd.openxmlformats-officedocument.presentationml.slide+xml" PartName="/ppt/slides/slide7.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7" r:id="rId27"/>
    <p:sldId id="266" r:id="rId17"/>
  </p:sldIdLst>
  <p:sldSz cy="10287000" cx="18288000"/>
  <p:notesSz cx="6858000" cy="9144000"/>
  <p:embeddedFontLst>
    <p:embeddedFont>
      <p:font typeface="Poppins"/>
      <p:regular r:id="rId18"/>
      <p:bold r:id="rId19"/>
      <p:italic r:id="rId20"/>
      <p:boldItalic r:id="rId21"/>
    </p:embeddedFont>
    <p:embeddedFont>
      <p:font typeface="Roboto Mono"/>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26" roundtripDataSignature="AMtx7mgVIghjQh70tcTpDwPPuhVU0tDXX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7F22518-C55D-4401-A6EB-0ED8D26C8151}">
  <a:tblStyle styleId="{97F22518-C55D-4401-A6EB-0ED8D26C8151}"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Calibri"/>
          <a:ea typeface="Calibri"/>
          <a:cs typeface="Calibri"/>
        </a:font>
        <a:schemeClr val="lt1"/>
      </a:tcTxStyle>
      <a:tcStyle>
        <a:fill>
          <a:solidFill>
            <a:schemeClr val="accent1"/>
          </a:solidFill>
        </a:fill>
      </a:tcStyle>
    </a:lastCol>
    <a:firstCol>
      <a:tcTxStyle b="on" i="off">
        <a:font>
          <a:latin typeface="Calibri"/>
          <a:ea typeface="Calibri"/>
          <a:cs typeface="Calibri"/>
        </a:font>
        <a:schemeClr val="lt1"/>
      </a:tcTxStyle>
      <a:tcStyle>
        <a:fill>
          <a:solidFill>
            <a:schemeClr val="accent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Relationships xmlns="http://schemas.openxmlformats.org/package/2006/relationships"><Relationship Id="rId20" Type="http://schemas.openxmlformats.org/officeDocument/2006/relationships/font" Target="fonts/Poppins-italic.fntdata"/><Relationship Id="rId22" Type="http://schemas.openxmlformats.org/officeDocument/2006/relationships/font" Target="fonts/RobotoMono-regular.fntdata"/><Relationship Id="rId21" Type="http://schemas.openxmlformats.org/officeDocument/2006/relationships/font" Target="fonts/Poppins-boldItalic.fntdata"/><Relationship Id="rId24" Type="http://schemas.openxmlformats.org/officeDocument/2006/relationships/font" Target="fonts/RobotoMono-italic.fntdata"/><Relationship Id="rId23" Type="http://schemas.openxmlformats.org/officeDocument/2006/relationships/font" Target="fonts/RobotoMono-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customschemas.google.com/relationships/presentationmetadata" Target="metadata"/><Relationship Id="rId25" Type="http://schemas.openxmlformats.org/officeDocument/2006/relationships/font" Target="fonts/RobotoMono-boldItalic.fntdata"/><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font" Target="fonts/Poppins-bold.fntdata"/><Relationship Id="rId18" Type="http://schemas.openxmlformats.org/officeDocument/2006/relationships/font" Target="fonts/Poppins-regular.fntdata"/>  
  
  <Relationship Id="rId27" Type="http://schemas.openxmlformats.org/officeDocument/2006/relationships/slide" Target="slides/slide1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We’re working on a free app that helps you decide where to eat in Boston. We’d start at Northeastern.</a:t>
            </a:r>
          </a:p>
          <a:p>
            <a:pPr indent="0" lvl="0" marL="0" rtl="0" algn="l">
              <a:spcBef>
                <a:spcPts val="0"/>
              </a:spcBef>
              <a:spcAft>
                <a:spcPts val="600"/>
              </a:spcAft>
              <a:buNone/>
            </a:pPr>
            <a:r>
              <a:rPr lang="en-US"/>
              <a:t>Right now, picking a place usually means checking Google Maps, then Instagram or TikTok, then asking a friend. Our idea is to put the reviews, posts, hours and booking for a place on one page.</a:t>
            </a:r>
          </a:p>
          <a:p>
            <a:pPr indent="0" lvl="0" marL="0" rtl="0" algn="l">
              <a:spcBef>
                <a:spcPts val="0"/>
              </a:spcBef>
              <a:spcAft>
                <a:spcPts val="600"/>
              </a:spcAft>
              <a:buNone/>
            </a:pPr>
            <a:r>
              <a:rPr lang="en-US"/>
              <a:t>The one thing we’d add is our own score, and it only counts people who scanned a receipt from that place.</a:t>
            </a:r>
          </a:p>
          <a:p>
            <a:pPr indent="0" lvl="0" marL="0" rtl="0" algn="l">
              <a:spcBef>
                <a:spcPts val="0"/>
              </a:spcBef>
              <a:spcAft>
                <a:spcPts val="600"/>
              </a:spcAft>
              <a:buNone/>
            </a:pPr>
            <a:r>
              <a:rPr lang="en-US"/>
              <a:t>It doesn’t have a name yet, and we haven’t built it. What you’ll see is the concept and the research behind it.</a:t>
            </a: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 interviewed 35 students and young professionals in September and October.</a:t>
            </a:r>
          </a:p>
          <a:p>
            <a:pPr indent="0" lvl="0" marL="0" rtl="0" algn="l">
              <a:spcBef>
                <a:spcPts val="0"/>
              </a:spcBef>
              <a:spcAft>
                <a:spcPts val="600"/>
              </a:spcAft>
              <a:buNone/>
            </a:pPr>
            <a:r>
              <a:rPr lang="en-US"/>
              <a:t>Most of them check three apps to pick one place. Google Maps to see what’s nearby, Instagram or TikTok to see the food, and a friend to check it’s good. Many said it still misses after all that.</a:t>
            </a:r>
          </a:p>
          <a:p>
            <a:pPr indent="0" lvl="0" marL="0" rtl="0" algn="l">
              <a:spcBef>
                <a:spcPts val="0"/>
              </a:spcBef>
              <a:spcAft>
                <a:spcPts val="600"/>
              </a:spcAft>
              <a:buNone/>
            </a:pPr>
            <a:r>
              <a:rPr lang="en-US"/>
              <a:t>Most people were okay with what they use now. But they told us they’d try something better.</a:t>
            </a:r>
          </a:p>
          <a:p>
            <a:pPr indent="0" lvl="0" marL="0" rtl="0" algn="l">
              <a:spcBef>
                <a:spcPts val="0"/>
              </a:spcBef>
              <a:spcAft>
                <a:spcPts val="600"/>
              </a:spcAft>
              <a:buNone/>
            </a:pPr>
            <a:r>
              <a:rPr lang="en-US"/>
              <a:t>So it’s an annoying routine more than a crisis, and we think it can be easier.</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4" name="Google Shape;134;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So the idea is one page per restaurant.</a:t>
            </a:r>
          </a:p>
          <a:p>
            <a:pPr indent="0" lvl="0" marL="0" rtl="0" algn="l">
              <a:spcBef>
                <a:spcPts val="0"/>
              </a:spcBef>
              <a:spcAft>
                <a:spcPts val="600"/>
              </a:spcAft>
              <a:buNone/>
            </a:pPr>
            <a:r>
              <a:rPr lang="en-US"/>
              <a:t>You can find a place: what’s open near you, filtered by diet, price and distance.</a:t>
            </a:r>
          </a:p>
          <a:p>
            <a:pPr indent="0" lvl="0" marL="0" rtl="0" algn="l">
              <a:spcBef>
                <a:spcPts val="0"/>
              </a:spcBef>
              <a:spcAft>
                <a:spcPts val="600"/>
              </a:spcAft>
              <a:buNone/>
            </a:pPr>
            <a:r>
              <a:rPr lang="en-US"/>
              <a:t>You can compare: ratings and posts from other apps, where they let us show them, next to our own score. Our score only counts diners who scanned a receipt, and restaurants can’t pay to rank higher. If an app won’t share its ratings, we link out to it.</a:t>
            </a:r>
          </a:p>
          <a:p>
            <a:pPr indent="0" lvl="0" marL="0" rtl="0" algn="l">
              <a:spcBef>
                <a:spcPts val="0"/>
              </a:spcBef>
              <a:spcAft>
                <a:spcPts val="600"/>
              </a:spcAft>
              <a:buNone/>
            </a:pPr>
            <a:r>
              <a:rPr lang="en-US"/>
              <a:t>And you can keep track: your history, your lists, and booking a table.</a:t>
            </a:r>
          </a:p>
          <a:p>
            <a:pPr indent="0" lvl="0" marL="0" rtl="0" algn="l">
              <a:spcBef>
                <a:spcPts val="0"/>
              </a:spcBef>
              <a:spcAft>
                <a:spcPts val="600"/>
              </a:spcAft>
              <a:buNone/>
            </a:pPr>
            <a:r>
              <a:rPr lang="en-US"/>
              <a:t>The core app is free, including dietary filters. A halal or nut-free search is what sends a restaurant a diner, so we don’t want to charge for it.</a:t>
            </a:r>
          </a:p>
          <a:p>
            <a:pPr indent="0" lvl="0" marL="0" rtl="0" algn="l">
              <a:spcBef>
                <a:spcPts val="0"/>
              </a:spcBef>
              <a:spcAft>
                <a:spcPts val="600"/>
              </a:spcAft>
              <a:buNone/>
            </a:pPr>
            <a:r>
              <a:rPr lang="en-US"/>
              <a:t>People ask about Beli a lot. Beli is great for ranking places you’ve been. We’re focused on deciding where to go next.</a:t>
            </a:r>
          </a:p>
        </p:txBody>
      </p:sp>
      <p:sp>
        <p:nvSpPr>
          <p:cNvPr id="135" name="Google Shape;135;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1" name="Shape 151"/>
        <p:cNvGrpSpPr/>
        <p:nvPr/>
      </p:nvGrpSpPr>
      <p:grpSpPr>
        <a:xfrm>
          <a:off x="0" y="0"/>
          <a:ext cx="0" cy="0"/>
          <a:chOff x="0" y="0"/>
          <a:chExt cx="0" cy="0"/>
        </a:xfrm>
      </p:grpSpPr>
      <p:sp>
        <p:nvSpPr>
          <p:cNvPr id="152" name="Google Shape;152;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3" name="Google Shape;153;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These are concept screens. Every score and person on them is made up.</a:t>
            </a:r>
          </a:p>
          <a:p>
            <a:pPr indent="0" lvl="0" marL="0" rtl="0" algn="l">
              <a:spcBef>
                <a:spcPts val="0"/>
              </a:spcBef>
              <a:spcAft>
                <a:spcPts val="600"/>
              </a:spcAft>
              <a:buNone/>
            </a:pPr>
            <a:r>
              <a:rPr lang="en-US"/>
              <a:t>The first shows what’s open around you. The second suggests one place that fits your budget and diet, and shows which friends have been. The third gives three picks, each with a reason. The fourth puts our receipt-based score next to the ratings from other apps, and flags creators’ paid posts.</a:t>
            </a:r>
          </a:p>
          <a:p>
            <a:pPr indent="0" lvl="0" marL="0" rtl="0" algn="l">
              <a:spcBef>
                <a:spcPts val="0"/>
              </a:spcBef>
              <a:spcAft>
                <a:spcPts val="600"/>
              </a:spcAft>
              <a:buNone/>
            </a:pPr>
            <a:r>
              <a:rPr lang="en-US"/>
              <a:t>We want to test these with students on campus before we build anything.</a:t>
            </a:r>
          </a:p>
        </p:txBody>
      </p:sp>
      <p:sp>
        <p:nvSpPr>
          <p:cNvPr id="154" name="Google Shape;154;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Boston has about 162,000 college students. Our Year 1 goal is 12,000 of them.</a:t>
            </a:r>
          </a:p>
          <a:p>
            <a:pPr indent="0" lvl="0" marL="0" rtl="0" algn="l">
              <a:spcBef>
                <a:spcPts val="0"/>
              </a:spcBef>
              <a:spcAft>
                <a:spcPts val="600"/>
              </a:spcAft>
              <a:buNone/>
            </a:pPr>
            <a:r>
              <a:rPr lang="en-US"/>
              <a:t>Across the US there are about 19 million college students. Our Year 5 target is 540,000 users, which is 2.8% of them, inside the 2 to 5% range from class.</a:t>
            </a:r>
          </a:p>
          <a:p>
            <a:pPr indent="0" lvl="0" marL="0" rtl="0" algn="l">
              <a:spcBef>
                <a:spcPts val="0"/>
              </a:spcBef>
              <a:spcAft>
                <a:spcPts val="600"/>
              </a:spcAft>
              <a:buNone/>
            </a:pPr>
            <a:r>
              <a:rPr lang="en-US"/>
              <a:t>On the restaurant side, Boston has 3,350 licensed places to eat.</a:t>
            </a:r>
          </a:p>
        </p:txBody>
      </p:sp>
      <p:sp>
        <p:nvSpPr>
          <p:cNvPr id="173" name="Google Shape;173;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We’d grow the way Beli did, mostly through friends. About 80% of Beli’s users came that way.</a:t>
            </a:r>
          </a:p>
          <a:p>
            <a:pPr indent="0" lvl="0" marL="0" rtl="0" algn="l">
              <a:spcBef>
                <a:spcPts val="0"/>
              </a:spcBef>
              <a:spcAft>
                <a:spcPts val="600"/>
              </a:spcAft>
              <a:buNone/>
            </a:pPr>
            <a:r>
              <a:rPr lang="en-US"/>
              <a:t>The first ten users would be people we interviewed and our friends, testing the prototype. The next hundred would be Northeastern students they invite, plus clubs and group chats. The first thousand would come from other Boston campuses, through student ambassadors and food posts.</a:t>
            </a:r>
          </a:p>
          <a:p>
            <a:pPr indent="0" lvl="0" marL="0" rtl="0" algn="l">
              <a:spcBef>
                <a:spcPts val="0"/>
              </a:spcBef>
              <a:spcAft>
                <a:spcPts val="600"/>
              </a:spcAft>
              <a:buNone/>
            </a:pPr>
            <a:r>
              <a:rPr lang="en-US"/>
              <a:t>If that works, our model gets to 12,000 users by the end of Year 1. Users never have to pay. Restaurants would.</a:t>
            </a:r>
          </a:p>
        </p:txBody>
      </p:sp>
      <p:sp>
        <p:nvSpPr>
          <p:cNvPr id="198" name="Google Shape;198;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0" name="Shape 220"/>
        <p:cNvGrpSpPr/>
        <p:nvPr/>
      </p:nvGrpSpPr>
      <p:grpSpPr>
        <a:xfrm>
          <a:off x="0" y="0"/>
          <a:ext cx="0" cy="0"/>
          <a:chOff x="0" y="0"/>
          <a:chExt cx="0" cy="0"/>
        </a:xfrm>
      </p:grpSpPr>
      <p:sp>
        <p:nvSpPr>
          <p:cNvPr id="221" name="Google Shape;221;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2" name="Google Shape;222;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This is how we’d make money. We’d charge restaurants for the diners we send, instead of for ads.</a:t>
            </a:r>
          </a:p>
          <a:p>
            <a:pPr indent="0" lvl="0" marL="0" rtl="0" algn="l">
              <a:spcBef>
                <a:spcPts val="0"/>
              </a:spcBef>
              <a:spcAft>
                <a:spcPts val="600"/>
              </a:spcAft>
              <a:buNone/>
            </a:pPr>
            <a:r>
              <a:rPr lang="en-US"/>
              <a:t>A restaurant would pay about 90 cents, and only after a receipt shows the diner came. For comparison, OpenTable charges $1 to $1.50 a diner. Booking sites would pay per table, and from Year 3 chains would pay $6,000 a year per area for insights.</a:t>
            </a:r>
          </a:p>
          <a:p>
            <a:pPr indent="0" lvl="0" marL="0" rtl="0" algn="l">
              <a:spcBef>
                <a:spcPts val="0"/>
              </a:spcBef>
              <a:spcAft>
                <a:spcPts val="600"/>
              </a:spcAft>
              <a:buNone/>
            </a:pPr>
            <a:r>
              <a:rPr lang="en-US"/>
              <a:t>Users never have to pay. We’re also thinking about an optional $5 a month membership for extras, and we’d expect about 3 in 1,000 to sign up.</a:t>
            </a:r>
          </a:p>
          <a:p>
            <a:pPr indent="0" lvl="0" marL="0" rtl="0" algn="l">
              <a:spcBef>
                <a:spcPts val="0"/>
              </a:spcBef>
              <a:spcAft>
                <a:spcPts val="600"/>
              </a:spcAft>
              <a:buNone/>
            </a:pPr>
            <a:r>
              <a:rPr lang="en-US"/>
              <a:t>In our model that’s $356,000 in Year 5. Nothing anyone pays would change a score or a ranking.</a:t>
            </a:r>
          </a:p>
          <a:p>
            <a:pPr indent="0" lvl="0" marL="0" rtl="0" algn="l">
              <a:spcBef>
                <a:spcPts val="0"/>
              </a:spcBef>
              <a:spcAft>
                <a:spcPts val="600"/>
              </a:spcAft>
              <a:buNone/>
            </a:pPr>
            <a:r>
              <a:rPr lang="en-US"/>
              <a:t>To be clear, we haven’t tested any of this with restaurant owners yet. That’s our next step: five owner calls, each with a free 30-day pilot and a report on the diners we sent.</a:t>
            </a:r>
          </a:p>
        </p:txBody>
      </p:sp>
      <p:sp>
        <p:nvSpPr>
          <p:cNvPr id="223" name="Google Shape;223;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7" name="Google Shape;24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Before building our numbers, we looked at the apps closest to us.</a:t>
            </a:r>
          </a:p>
          <a:p>
            <a:pPr indent="0" lvl="0" marL="0" rtl="0" algn="l">
              <a:spcBef>
                <a:spcPts val="0"/>
              </a:spcBef>
              <a:spcAft>
                <a:spcPts val="600"/>
              </a:spcAft>
              <a:buNone/>
            </a:pPr>
            <a:r>
              <a:rPr lang="en-US"/>
              <a:t>OpenTable took nine years to turn a profit and lost $57 million on the way. Resy ran on $45 million of investor money and was sold. Beli has 1.1 million monthly users, a team of five, and almost no revenue.</a:t>
            </a:r>
          </a:p>
          <a:p>
            <a:pPr indent="0" lvl="0" marL="0" rtl="0" algn="l">
              <a:spcBef>
                <a:spcPts val="0"/>
              </a:spcBef>
              <a:spcAft>
                <a:spcPts val="600"/>
              </a:spcAft>
              <a:buNone/>
            </a:pPr>
            <a:r>
              <a:rPr lang="en-US"/>
              <a:t>That made us plan for slow money. No founder salaries, co-op students before full-time hires, and costs low enough that we’d need about $240,000 in total. We’re also planning for growth at about a quarter of Beli’s size.</a:t>
            </a:r>
          </a:p>
          <a:p>
            <a:pPr indent="0" lvl="0" marL="0" rtl="0" algn="l">
              <a:spcBef>
                <a:spcPts val="0"/>
              </a:spcBef>
              <a:spcAft>
                <a:spcPts val="600"/>
              </a:spcAft>
              <a:buNone/>
            </a:pPr>
            <a:r>
              <a:rPr lang="en-US"/>
              <a:t>The trade-off is a small team, and it only works if restaurants sign up.</a:t>
            </a:r>
          </a:p>
        </p:txBody>
      </p:sp>
      <p:sp>
        <p:nvSpPr>
          <p:cNvPr id="248" name="Google Shape;24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2" name="Google Shape;272;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Here’s the model. The three highlighted cells are the ones to look at.</a:t>
            </a:r>
          </a:p>
          <a:p>
            <a:pPr indent="0" lvl="0" marL="0" rtl="0" algn="l">
              <a:spcBef>
                <a:spcPts val="0"/>
              </a:spcBef>
              <a:spcAft>
                <a:spcPts val="600"/>
              </a:spcAft>
              <a:buNone/>
            </a:pPr>
            <a:r>
              <a:rPr lang="en-US"/>
              <a:t>Years 1 and 2 cost about $10,500 a quarter: a contract developer at $7,500, $1,500 for marketing, $1,500 for legal and insurance, and hosting. No one else is paid until the angel round funds Year 3.</a:t>
            </a:r>
          </a:p>
          <a:p>
            <a:pPr indent="0" lvl="0" marL="0" rtl="0" algn="l">
              <a:spcBef>
                <a:spcPts val="0"/>
              </a:spcBef>
              <a:spcAft>
                <a:spcPts val="600"/>
              </a:spcAft>
              <a:buNone/>
            </a:pPr>
            <a:r>
              <a:rPr lang="en-US"/>
              <a:t>First revenue shows up in Year 2. The lowest point is about $192,000 down in Year 4, and we’d raise $240,000 to cover that with a 25% cushion. Year 5 is the first profitable year in the model, at about $72,000.</a:t>
            </a:r>
          </a:p>
        </p:txBody>
      </p:sp>
      <p:sp>
        <p:nvSpPr>
          <p:cNvPr id="273" name="Google Shape;273;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4" name="Google Shape;29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For funding, we’d start with grants, the way Beli did. Northeastern’s IDEA Gap Fund and Boston pitch competitions, about $74,000, would cover Years 1 and 2, and we’d cover any gap ourselves.</a:t>
            </a:r>
          </a:p>
          <a:p>
            <a:pPr indent="0" lvl="0" marL="0" rtl="0" algn="l">
              <a:spcBef>
                <a:spcPts val="0"/>
              </a:spcBef>
              <a:spcAft>
                <a:spcPts val="600"/>
              </a:spcAft>
              <a:buNone/>
            </a:pPr>
            <a:r>
              <a:rPr lang="en-US"/>
              <a:t>At the end of Year 2, after four quarters of restaurants paying, we’d raise one angel round of about $166,000. By then we’d want to show around 31,000 Boston users and receipt-proven visits.</a:t>
            </a:r>
          </a:p>
          <a:p>
            <a:pPr indent="0" lvl="0" marL="0" rtl="0" algn="l">
              <a:spcBef>
                <a:spcPts val="0"/>
              </a:spcBef>
              <a:spcAft>
                <a:spcPts val="600"/>
              </a:spcAft>
              <a:buNone/>
            </a:pPr>
            <a:r>
              <a:rPr lang="en-US"/>
              <a:t>At $356,000 of revenue in Year 5, this is too small for venture funds. The realistic exit for an angel is a sale to a bigger platform or a card company, the way Resy sold to American Express.</a:t>
            </a:r>
          </a:p>
        </p:txBody>
      </p:sp>
      <p:sp>
        <p:nvSpPr>
          <p:cNvPr id="295" name="Google Shape;295;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5" name="Google Shape;31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This one is for questions. It shows where each price comes from.</a:t>
            </a:r>
          </a:p>
          <a:p>
            <a:pPr indent="0" lvl="0" marL="0" rtl="0" algn="l">
              <a:spcBef>
                <a:spcPts val="0"/>
              </a:spcBef>
              <a:spcAft>
                <a:spcPts val="600"/>
              </a:spcAft>
              <a:buNone/>
            </a:pPr>
            <a:r>
              <a:rPr lang="en-US"/>
              <a:t>Businesses pay $288,000 in Year 5: $156,000 for diners we send, $54,000 for tables booked and $78,000 for area insights for chains. About 90 cents a diner sits under OpenTable’s $1 to $1.50. Bookings are a quarter of Tabelog’s rate, and chains pay a quarter of what Placer.ai charges.</a:t>
            </a:r>
          </a:p>
          <a:p>
            <a:pPr indent="0" lvl="0" marL="0" rtl="0" algn="l">
              <a:spcBef>
                <a:spcPts val="0"/>
              </a:spcBef>
              <a:spcAft>
                <a:spcPts val="600"/>
              </a:spcAft>
              <a:buNone/>
            </a:pPr>
            <a:r>
              <a:rPr lang="en-US"/>
              <a:t>Users pay $67,000 for the optional $5 a month membership. About 0.3% sign up, the same share as Tabelog’s users.</a:t>
            </a:r>
          </a:p>
          <a:p>
            <a:pPr indent="0" lvl="0" marL="0" rtl="0" algn="l">
              <a:spcBef>
                <a:spcPts val="0"/>
              </a:spcBef>
              <a:spcAft>
                <a:spcPts val="600"/>
              </a:spcAft>
              <a:buNone/>
            </a:pPr>
            <a:r>
              <a:rPr lang="en-US"/>
              <a:t>Every price starts from a real company’s number. How many we sell is our guess.</a:t>
            </a:r>
          </a:p>
        </p:txBody>
      </p:sp>
      <p:sp>
        <p:nvSpPr>
          <p:cNvPr id="316" name="Google Shape;316;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0" name="Google Shape;110;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600"/>
              </a:spcAft>
              <a:buNone/>
            </a:pPr>
            <a:r>
              <a:rPr lang="en-US"/>
              <a:t>To wrap up.</a:t>
            </a:r>
          </a:p>
          <a:p>
            <a:pPr indent="0" lvl="0" marL="0" rtl="0" algn="l">
              <a:spcBef>
                <a:spcPts val="0"/>
              </a:spcBef>
              <a:spcAft>
                <a:spcPts val="600"/>
              </a:spcAft>
              <a:buNone/>
            </a:pPr>
            <a:r>
              <a:rPr lang="en-US"/>
              <a:t>Picking where to eat takes several apps today, and we think it can take one. Our score only counts people who proved they ate there. Restaurants would pay for the diners we send, and users never have to pay. We’d start on grants, and our model reaches a profit in Year 5.</a:t>
            </a:r>
          </a:p>
          <a:p>
            <a:pPr indent="0" lvl="0" marL="0" rtl="0" algn="l">
              <a:spcBef>
                <a:spcPts val="0"/>
              </a:spcBef>
              <a:spcAft>
                <a:spcPts val="600"/>
              </a:spcAft>
              <a:buNone/>
            </a:pPr>
            <a:r>
              <a:rPr lang="en-US"/>
              <a:t>The two things we still need to prove are whether restaurants will pay and whether people will scan receipts. So next we’re calling five owners with a free 30-day pilot, and testing receipt scanning with about ten users.</a:t>
            </a:r>
          </a:p>
          <a:p>
            <a:pPr indent="0" lvl="0" marL="0" rtl="0" algn="l">
              <a:spcBef>
                <a:spcPts val="0"/>
              </a:spcBef>
              <a:spcAft>
                <a:spcPts val="600"/>
              </a:spcAft>
              <a:buNone/>
            </a:pPr>
            <a:r>
              <a:rPr lang="en-US"/>
              <a:t>Thank you. We’re happy to take questions.</a:t>
            </a:r>
          </a:p>
        </p:txBody>
      </p:sp>
      <p:sp>
        <p:nvSpPr>
          <p:cNvPr id="111" name="Google Shape;111;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4"/>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4"/>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7"/>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7"/>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8"/>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8"/>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8"/>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8"/>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0"/>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0"/>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0"/>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1"/>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1"/>
          <p:cNvSpPr/>
          <p:nvPr>
            <p:ph idx="2" type="pic"/>
          </p:nvPr>
        </p:nvSpPr>
        <p:spPr>
          <a:xfrm>
            <a:off x="1792288" y="612775"/>
            <a:ext cx="5486400" cy="4114800"/>
          </a:xfrm>
          <a:prstGeom prst="rect">
            <a:avLst/>
          </a:prstGeom>
          <a:noFill/>
          <a:ln>
            <a:noFill/>
          </a:ln>
        </p:spPr>
      </p:sp>
      <p:sp>
        <p:nvSpPr>
          <p:cNvPr id="64" name="Google Shape;64;p21"/>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2"/>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3"/>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3"/>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Our idea</a:t>
            </a:r>
            <a:endParaRPr/>
          </a:p>
        </p:txBody>
      </p:sp>
      <p:sp>
        <p:nvSpPr>
          <p:cNvPr id="86" name="Google Shape;86;p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a:t>
            </a:r>
            <a:endParaRPr/>
          </a:p>
        </p:txBody>
      </p:sp>
      <p:sp>
        <p:nvSpPr>
          <p:cNvPr id="87" name="Google Shape;87;p1"/>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A free app for deciding where to eat in Boston, </a:t>
            </a:r>
            <a:r>
              <a:rPr b="0" i="0" lang="en-US" sz="4400" u="none" cap="none" strike="noStrike">
                <a:solidFill>
                  <a:srgbClr val="595959"/>
                </a:solidFill>
                <a:latin typeface="Poppins"/>
                <a:ea typeface="Poppins"/>
                <a:cs typeface="Poppins"/>
                <a:sym typeface="Poppins"/>
              </a:rPr>
              <a:t>with a score based on real visits.</a:t>
            </a:r>
            <a:endParaRPr/>
          </a:p>
        </p:txBody>
      </p:sp>
      <p:sp>
        <p:nvSpPr>
          <p:cNvPr id="88" name="Google Shape;88;p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Our value proposition. The app doesn't have a name yet.</a:t>
            </a:r>
            <a:endParaRPr/>
          </a:p>
        </p:txBody>
      </p:sp>
      <p:sp>
        <p:nvSpPr>
          <p:cNvPr id="89" name="Google Shape;89;p1"/>
          <p:cNvSpPr/>
          <p:nvPr/>
        </p:nvSpPr>
        <p:spPr>
          <a:xfrm>
            <a:off x="822960" y="373989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0" name="Google Shape;90;p1"/>
          <p:cNvSpPr txBox="1"/>
          <p:nvPr/>
        </p:nvSpPr>
        <p:spPr>
          <a:xfrm>
            <a:off x="822960" y="388620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For</a:t>
            </a:r>
            <a:endParaRPr/>
          </a:p>
        </p:txBody>
      </p:sp>
      <p:sp>
        <p:nvSpPr>
          <p:cNvPr id="91" name="Google Shape;91;p1"/>
          <p:cNvSpPr txBox="1"/>
          <p:nvPr/>
        </p:nvSpPr>
        <p:spPr>
          <a:xfrm>
            <a:off x="3657600" y="388620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students and young professionals in Boston, starting at Northeastern</a:t>
            </a:r>
            <a:endParaRPr/>
          </a:p>
        </p:txBody>
      </p:sp>
      <p:sp>
        <p:nvSpPr>
          <p:cNvPr id="92" name="Google Shape;92;p1"/>
          <p:cNvSpPr/>
          <p:nvPr/>
        </p:nvSpPr>
        <p:spPr>
          <a:xfrm>
            <a:off x="822960" y="452628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3" name="Google Shape;93;p1"/>
          <p:cNvSpPr txBox="1"/>
          <p:nvPr/>
        </p:nvSpPr>
        <p:spPr>
          <a:xfrm>
            <a:off x="822960" y="4672584"/>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Who</a:t>
            </a:r>
            <a:endParaRPr/>
          </a:p>
        </p:txBody>
      </p:sp>
      <p:sp>
        <p:nvSpPr>
          <p:cNvPr id="94" name="Google Shape;94;p1"/>
          <p:cNvSpPr txBox="1"/>
          <p:nvPr/>
        </p:nvSpPr>
        <p:spPr>
          <a:xfrm>
            <a:off x="3657600" y="4672584"/>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want a good place to eat without checking five apps first</a:t>
            </a:r>
            <a:endParaRPr/>
          </a:p>
        </p:txBody>
      </p:sp>
      <p:sp>
        <p:nvSpPr>
          <p:cNvPr id="95" name="Google Shape;95;p1"/>
          <p:cNvSpPr/>
          <p:nvPr/>
        </p:nvSpPr>
        <p:spPr>
          <a:xfrm>
            <a:off x="822960" y="5312664"/>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6" name="Google Shape;96;p1"/>
          <p:cNvSpPr txBox="1"/>
          <p:nvPr/>
        </p:nvSpPr>
        <p:spPr>
          <a:xfrm>
            <a:off x="822960" y="5458968"/>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app is</a:t>
            </a:r>
            <a:endParaRPr/>
          </a:p>
        </p:txBody>
      </p:sp>
      <p:sp>
        <p:nvSpPr>
          <p:cNvPr id="97" name="Google Shape;97;p1"/>
          <p:cNvSpPr txBox="1"/>
          <p:nvPr/>
        </p:nvSpPr>
        <p:spPr>
          <a:xfrm>
            <a:off x="3657600" y="5458968"/>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a free restaurant guide</a:t>
            </a:r>
            <a:endParaRPr/>
          </a:p>
        </p:txBody>
      </p:sp>
      <p:sp>
        <p:nvSpPr>
          <p:cNvPr id="98" name="Google Shape;98;p1"/>
          <p:cNvSpPr/>
          <p:nvPr/>
        </p:nvSpPr>
        <p:spPr>
          <a:xfrm>
            <a:off x="822960" y="60990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9" name="Google Shape;99;p1"/>
          <p:cNvSpPr txBox="1"/>
          <p:nvPr/>
        </p:nvSpPr>
        <p:spPr>
          <a:xfrm>
            <a:off x="822960" y="6245352"/>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That</a:t>
            </a:r>
            <a:endParaRPr/>
          </a:p>
        </p:txBody>
      </p:sp>
      <p:sp>
        <p:nvSpPr>
          <p:cNvPr id="100" name="Google Shape;100;p1"/>
          <p:cNvSpPr txBox="1"/>
          <p:nvPr/>
        </p:nvSpPr>
        <p:spPr>
          <a:xfrm>
            <a:off x="3657600" y="6245352"/>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puts reviews, posts, hours and booking for each place on one page</a:t>
            </a:r>
            <a:endParaRPr/>
          </a:p>
        </p:txBody>
      </p:sp>
      <p:sp>
        <p:nvSpPr>
          <p:cNvPr id="101" name="Google Shape;101;p1"/>
          <p:cNvSpPr/>
          <p:nvPr/>
        </p:nvSpPr>
        <p:spPr>
          <a:xfrm>
            <a:off x="822960" y="6885431"/>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2" name="Google Shape;102;p1"/>
          <p:cNvSpPr txBox="1"/>
          <p:nvPr/>
        </p:nvSpPr>
        <p:spPr>
          <a:xfrm>
            <a:off x="822960" y="7031736"/>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Unlike</a:t>
            </a:r>
            <a:endParaRPr/>
          </a:p>
        </p:txBody>
      </p:sp>
      <p:sp>
        <p:nvSpPr>
          <p:cNvPr id="103" name="Google Shape;103;p1"/>
          <p:cNvSpPr txBox="1"/>
          <p:nvPr/>
        </p:nvSpPr>
        <p:spPr>
          <a:xfrm>
            <a:off x="3657600" y="7031736"/>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checking Google Maps, Yelp, Instagram, TikTok and Beli one by one</a:t>
            </a:r>
            <a:endParaRPr/>
          </a:p>
        </p:txBody>
      </p:sp>
      <p:sp>
        <p:nvSpPr>
          <p:cNvPr id="104" name="Google Shape;104;p1"/>
          <p:cNvSpPr/>
          <p:nvPr/>
        </p:nvSpPr>
        <p:spPr>
          <a:xfrm>
            <a:off x="822960" y="767181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5" name="Google Shape;105;p1"/>
          <p:cNvSpPr txBox="1"/>
          <p:nvPr/>
        </p:nvSpPr>
        <p:spPr>
          <a:xfrm>
            <a:off x="822960" y="7818120"/>
            <a:ext cx="274320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Ours</a:t>
            </a:r>
            <a:endParaRPr/>
          </a:p>
        </p:txBody>
      </p:sp>
      <p:sp>
        <p:nvSpPr>
          <p:cNvPr id="106" name="Google Shape;106;p1"/>
          <p:cNvSpPr txBox="1"/>
          <p:nvPr/>
        </p:nvSpPr>
        <p:spPr>
          <a:xfrm>
            <a:off x="3657600" y="7818120"/>
            <a:ext cx="1380744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only counts reviews from people who proved they ate there</a:t>
            </a:r>
            <a:endParaRPr/>
          </a:p>
        </p:txBody>
      </p:sp>
      <p:sp>
        <p:nvSpPr>
          <p:cNvPr id="107" name="Google Shape;107;p1"/>
          <p:cNvSpPr/>
          <p:nvPr/>
        </p:nvSpPr>
        <p:spPr>
          <a:xfrm>
            <a:off x="822960" y="8458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What we heard</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1F1F1F"/>
                </a:solidFill>
                <a:latin typeface="Poppins"/>
                <a:ea typeface="Poppins"/>
                <a:cs typeface="Poppins"/>
                <a:sym typeface="Poppins"/>
              </a:rPr>
              <a:t>2</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Most people we talked to check three apps to pick one place to eat, </a:t>
            </a:r>
            <a:r>
              <a:rPr b="0" i="0" lang="en-US" sz="4400" u="none" cap="none" strike="noStrike">
                <a:solidFill>
                  <a:srgbClr val="2E2D12"/>
                </a:solidFill>
                <a:latin typeface="Poppins"/>
                <a:ea typeface="Poppins"/>
                <a:cs typeface="Poppins"/>
                <a:sym typeface="Poppins"/>
              </a:rPr>
              <a:t>and for many, it still misses.</a:t>
            </a:r>
            <a:endParaRPr/>
          </a:p>
        </p:txBody>
      </p:sp>
      <p:sp>
        <p:nvSpPr>
          <p:cNvPr id="116" name="Google Shape;116;p2"/>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From 35 interviews with students and young professionals, Sep to Oct 2026.</a:t>
            </a:r>
            <a:endParaRPr/>
          </a:p>
        </p:txBody>
      </p:sp>
      <p:sp>
        <p:nvSpPr>
          <p:cNvPr id="117" name="Google Shape;117;p2"/>
          <p:cNvSpPr/>
          <p:nvPr/>
        </p:nvSpPr>
        <p:spPr>
          <a:xfrm>
            <a:off x="822960" y="5074920"/>
            <a:ext cx="16642080" cy="10972"/>
          </a:xfrm>
          <a:prstGeom prst="rect">
            <a:avLst/>
          </a:prstGeom>
          <a:solidFill>
            <a:srgbClr val="2E2D12"/>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 name="Google Shape;118;p2"/>
          <p:cNvSpPr txBox="1"/>
          <p:nvPr/>
        </p:nvSpPr>
        <p:spPr>
          <a:xfrm>
            <a:off x="82296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1</a:t>
            </a:r>
            <a:endParaRPr/>
          </a:p>
        </p:txBody>
      </p:sp>
      <p:sp>
        <p:nvSpPr>
          <p:cNvPr id="119" name="Google Shape;119;p2"/>
          <p:cNvSpPr txBox="1"/>
          <p:nvPr/>
        </p:nvSpPr>
        <p:spPr>
          <a:xfrm>
            <a:off x="82296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Google Maps</a:t>
            </a:r>
            <a:endParaRPr sz="2800"/>
          </a:p>
        </p:txBody>
      </p:sp>
      <p:sp>
        <p:nvSpPr>
          <p:cNvPr id="120" name="Google Shape;120;p2"/>
          <p:cNvSpPr txBox="1"/>
          <p:nvPr/>
        </p:nvSpPr>
        <p:spPr>
          <a:xfrm>
            <a:off x="82296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what's nearby</a:t>
            </a:r>
            <a:endParaRPr sz="2400"/>
          </a:p>
        </p:txBody>
      </p:sp>
      <p:sp>
        <p:nvSpPr>
          <p:cNvPr id="121" name="Google Shape;121;p2"/>
          <p:cNvSpPr txBox="1"/>
          <p:nvPr/>
        </p:nvSpPr>
        <p:spPr>
          <a:xfrm>
            <a:off x="507492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2</a:t>
            </a:r>
            <a:endParaRPr/>
          </a:p>
        </p:txBody>
      </p:sp>
      <p:sp>
        <p:nvSpPr>
          <p:cNvPr id="122" name="Google Shape;122;p2"/>
          <p:cNvSpPr txBox="1"/>
          <p:nvPr/>
        </p:nvSpPr>
        <p:spPr>
          <a:xfrm>
            <a:off x="507492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Instagram or TikTok</a:t>
            </a:r>
            <a:endParaRPr sz="2800"/>
          </a:p>
        </p:txBody>
      </p:sp>
      <p:sp>
        <p:nvSpPr>
          <p:cNvPr id="123" name="Google Shape;123;p2"/>
          <p:cNvSpPr txBox="1"/>
          <p:nvPr/>
        </p:nvSpPr>
        <p:spPr>
          <a:xfrm>
            <a:off x="507492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see the food</a:t>
            </a:r>
            <a:endParaRPr sz="2400"/>
          </a:p>
        </p:txBody>
      </p:sp>
      <p:sp>
        <p:nvSpPr>
          <p:cNvPr id="124" name="Google Shape;124;p2"/>
          <p:cNvSpPr txBox="1"/>
          <p:nvPr/>
        </p:nvSpPr>
        <p:spPr>
          <a:xfrm>
            <a:off x="932688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2E2D12"/>
                </a:solidFill>
                <a:latin typeface="Poppins"/>
                <a:ea typeface="Poppins"/>
                <a:cs typeface="Poppins"/>
                <a:sym typeface="Poppins"/>
              </a:rPr>
              <a:t>3</a:t>
            </a:r>
            <a:endParaRPr/>
          </a:p>
        </p:txBody>
      </p:sp>
      <p:sp>
        <p:nvSpPr>
          <p:cNvPr id="125" name="Google Shape;125;p2"/>
          <p:cNvSpPr txBox="1"/>
          <p:nvPr/>
        </p:nvSpPr>
        <p:spPr>
          <a:xfrm>
            <a:off x="932688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A friend</a:t>
            </a:r>
            <a:endParaRPr sz="2800"/>
          </a:p>
        </p:txBody>
      </p:sp>
      <p:sp>
        <p:nvSpPr>
          <p:cNvPr id="126" name="Google Shape;126;p2"/>
          <p:cNvSpPr txBox="1"/>
          <p:nvPr/>
        </p:nvSpPr>
        <p:spPr>
          <a:xfrm>
            <a:off x="932688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to check it's good</a:t>
            </a:r>
            <a:endParaRPr sz="2400"/>
          </a:p>
        </p:txBody>
      </p:sp>
      <p:sp>
        <p:nvSpPr>
          <p:cNvPr id="127" name="Google Shape;127;p2"/>
          <p:cNvSpPr txBox="1"/>
          <p:nvPr/>
        </p:nvSpPr>
        <p:spPr>
          <a:xfrm>
            <a:off x="13578840" y="4023360"/>
            <a:ext cx="38404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4000" u="none" cap="none" strike="noStrike">
                <a:solidFill>
                  <a:srgbClr val="000000"/>
                </a:solidFill>
                <a:latin typeface="Poppins"/>
                <a:ea typeface="Poppins"/>
                <a:cs typeface="Poppins"/>
                <a:sym typeface="Poppins"/>
              </a:rPr>
              <a:t>4</a:t>
            </a:r>
            <a:endParaRPr/>
          </a:p>
        </p:txBody>
      </p:sp>
      <p:sp>
        <p:nvSpPr>
          <p:cNvPr id="128" name="Google Shape;128;p2"/>
          <p:cNvSpPr txBox="1"/>
          <p:nvPr/>
        </p:nvSpPr>
        <p:spPr>
          <a:xfrm>
            <a:off x="13578840" y="53492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Then they go</a:t>
            </a:r>
            <a:endParaRPr sz="2800"/>
          </a:p>
        </p:txBody>
      </p:sp>
      <p:sp>
        <p:nvSpPr>
          <p:cNvPr id="129" name="Google Shape;129;p2"/>
          <p:cNvSpPr txBox="1"/>
          <p:nvPr/>
        </p:nvSpPr>
        <p:spPr>
          <a:xfrm>
            <a:off x="13578840" y="6035040"/>
            <a:ext cx="3931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and it's still a miss</a:t>
            </a:r>
            <a:endParaRPr sz="2400"/>
          </a:p>
        </p:txBody>
      </p:sp>
      <p:sp>
        <p:nvSpPr>
          <p:cNvPr id="130" name="Google Shape;130;p2"/>
          <p:cNvSpPr txBox="1"/>
          <p:nvPr/>
        </p:nvSpPr>
        <p:spPr>
          <a:xfrm>
            <a:off x="822960" y="7589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000000"/>
                </a:solidFill>
                <a:latin typeface="Poppins"/>
                <a:ea typeface="Poppins"/>
                <a:cs typeface="Poppins"/>
                <a:sym typeface="Poppins"/>
              </a:rPr>
              <a:t>Many said it still misses after checking all three.</a:t>
            </a:r>
            <a:endParaRPr sz="2800"/>
          </a:p>
        </p:txBody>
      </p:sp>
      <p:sp>
        <p:nvSpPr>
          <p:cNvPr id="131" name="Google Shape;131;p2"/>
          <p:cNvSpPr txBox="1"/>
          <p:nvPr/>
        </p:nvSpPr>
        <p:spPr>
          <a:xfrm>
            <a:off x="822960" y="822960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800" u="none" cap="none" strike="noStrike">
                <a:solidFill>
                  <a:srgbClr val="1F1F1F"/>
                </a:solidFill>
                <a:latin typeface="Poppins"/>
                <a:ea typeface="Poppins"/>
                <a:cs typeface="Poppins"/>
                <a:sym typeface="Poppins"/>
              </a:rPr>
              <a:t>Most are okay with what they use now, but would try something better.</a:t>
            </a:r>
            <a:endParaRPr sz="2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6" name="Shape 136"/>
        <p:cNvGrpSpPr/>
        <p:nvPr/>
      </p:nvGrpSpPr>
      <p:grpSpPr>
        <a:xfrm>
          <a:off x="0" y="0"/>
          <a:ext cx="0" cy="0"/>
          <a:chOff x="0" y="0"/>
          <a:chExt cx="0" cy="0"/>
        </a:xfrm>
      </p:grpSpPr>
      <p:sp>
        <p:nvSpPr>
          <p:cNvPr id="137" name="Google Shape;137;p3"/>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What we’re building</a:t>
            </a:r>
            <a:endParaRPr/>
          </a:p>
        </p:txBody>
      </p:sp>
      <p:sp>
        <p:nvSpPr>
          <p:cNvPr id="138" name="Google Shape;138;p3"/>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3</a:t>
            </a:r>
            <a:endParaRPr/>
          </a:p>
        </p:txBody>
      </p:sp>
      <p:sp>
        <p:nvSpPr>
          <p:cNvPr id="139" name="Google Shape;139;p3"/>
          <p:cNvSpPr txBox="1"/>
          <p:nvPr/>
        </p:nvSpPr>
        <p:spPr>
          <a:xfrm>
            <a:off x="822960" y="1208965"/>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One page per restaurant, </a:t>
            </a:r>
            <a:r>
              <a:rPr b="0" i="0" lang="en-US" sz="4400" u="none" cap="none" strike="noStrike">
                <a:solidFill>
                  <a:srgbClr val="595959"/>
                </a:solidFill>
                <a:latin typeface="Poppins"/>
                <a:ea typeface="Poppins"/>
                <a:cs typeface="Poppins"/>
                <a:sym typeface="Poppins"/>
              </a:rPr>
              <a:t>and a score that only counts diners with a receipt.</a:t>
            </a:r>
            <a:endParaRPr/>
          </a:p>
        </p:txBody>
      </p:sp>
      <p:sp>
        <p:nvSpPr>
          <p:cNvPr id="140" name="Google Shape;140;p3"/>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The core app is free. If another app won't share its ratings, we link out to it.</a:t>
            </a:r>
            <a:endParaRPr/>
          </a:p>
        </p:txBody>
      </p:sp>
      <p:sp>
        <p:nvSpPr>
          <p:cNvPr id="141" name="Google Shape;141;p3"/>
          <p:cNvSpPr txBox="1"/>
          <p:nvPr/>
        </p:nvSpPr>
        <p:spPr>
          <a:xfrm>
            <a:off x="82296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Find</a:t>
            </a:r>
            <a:endParaRPr sz="2400"/>
          </a:p>
        </p:txBody>
      </p:sp>
      <p:sp>
        <p:nvSpPr>
          <p:cNvPr id="142" name="Google Shape;142;p3"/>
          <p:cNvSpPr/>
          <p:nvPr/>
        </p:nvSpPr>
        <p:spPr>
          <a:xfrm>
            <a:off x="82296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3" name="Google Shape;143;p3"/>
          <p:cNvSpPr txBox="1"/>
          <p:nvPr/>
        </p:nvSpPr>
        <p:spPr>
          <a:xfrm>
            <a:off x="82296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What's open near you</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Filter by diet, price and distance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New places people are talking about</a:t>
            </a:r>
            <a:endParaRPr sz="2400"/>
          </a:p>
        </p:txBody>
      </p:sp>
      <p:sp>
        <p:nvSpPr>
          <p:cNvPr id="144" name="Google Shape;144;p3"/>
          <p:cNvSpPr txBox="1"/>
          <p:nvPr/>
        </p:nvSpPr>
        <p:spPr>
          <a:xfrm>
            <a:off x="649224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Compare</a:t>
            </a:r>
            <a:endParaRPr sz="2400"/>
          </a:p>
        </p:txBody>
      </p:sp>
      <p:sp>
        <p:nvSpPr>
          <p:cNvPr id="145" name="Google Shape;145;p3"/>
          <p:cNvSpPr/>
          <p:nvPr/>
        </p:nvSpPr>
        <p:spPr>
          <a:xfrm>
            <a:off x="649224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6" name="Google Shape;146;p3"/>
          <p:cNvSpPr txBox="1"/>
          <p:nvPr/>
        </p:nvSpPr>
        <p:spPr>
          <a:xfrm>
            <a:off x="6492240" y="4572000"/>
            <a:ext cx="5120700" cy="24567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apps’ ratings and posts, where they let us show them</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Our score only counts diners who scanned a receipt</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Nobody pays to rank higher</a:t>
            </a:r>
            <a:endParaRPr sz="2400"/>
          </a:p>
        </p:txBody>
      </p:sp>
      <p:sp>
        <p:nvSpPr>
          <p:cNvPr id="147" name="Google Shape;147;p3"/>
          <p:cNvSpPr txBox="1"/>
          <p:nvPr/>
        </p:nvSpPr>
        <p:spPr>
          <a:xfrm>
            <a:off x="12161520" y="3840480"/>
            <a:ext cx="5120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Keep</a:t>
            </a:r>
            <a:endParaRPr sz="2400"/>
          </a:p>
        </p:txBody>
      </p:sp>
      <p:sp>
        <p:nvSpPr>
          <p:cNvPr id="148" name="Google Shape;148;p3"/>
          <p:cNvSpPr/>
          <p:nvPr/>
        </p:nvSpPr>
        <p:spPr>
          <a:xfrm>
            <a:off x="12161520" y="4343400"/>
            <a:ext cx="512064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9" name="Google Shape;149;p3"/>
          <p:cNvSpPr txBox="1"/>
          <p:nvPr/>
        </p:nvSpPr>
        <p:spPr>
          <a:xfrm>
            <a:off x="12161520" y="4572000"/>
            <a:ext cx="5120700" cy="2050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Your history and lists</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Scan a receipt, get a verified badge</a:t>
            </a:r>
            <a:endParaRPr sz="2400"/>
          </a:p>
          <a:p>
            <a:pPr indent="0" lvl="0" marL="0" marR="0" rtl="0" algn="l">
              <a:lnSpc>
                <a:spcPct val="110000"/>
              </a:lnSpc>
              <a:spcBef>
                <a:spcPts val="1800"/>
              </a:spcBef>
              <a:spcAft>
                <a:spcPts val="0"/>
              </a:spcAft>
              <a:buNone/>
            </a:pPr>
            <a:r>
              <a:rPr b="0" i="0" lang="en-US" sz="2400" u="none" cap="none" strike="noStrike">
                <a:solidFill>
                  <a:srgbClr val="434343"/>
                </a:solidFill>
                <a:latin typeface="Poppins"/>
                <a:ea typeface="Poppins"/>
                <a:cs typeface="Poppins"/>
                <a:sym typeface="Poppins"/>
              </a:rPr>
              <a:t>Book a table</a:t>
            </a:r>
            <a:endParaRPr sz="2400"/>
          </a:p>
        </p:txBody>
      </p:sp>
      <p:sp>
        <p:nvSpPr>
          <p:cNvPr id="960" name="Google Shape;960;p3"/>
          <p:cNvSpPr txBox="1"/>
          <p:nvPr/>
        </p:nvSpPr>
        <p:spPr>
          <a:xfrm>
            <a:off x="822960" y="7360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 xml:space="preserve">Why not Beli? </a:t>
            </a:r>
            <a:r>
              <a:rPr b="0" i="0" lang="en-US" sz="2400" u="none" cap="none" strike="noStrike">
                <a:solidFill>
                  <a:srgbClr val="434343"/>
                </a:solidFill>
                <a:latin typeface="Poppins"/>
                <a:ea typeface="Poppins"/>
                <a:cs typeface="Poppins"/>
                <a:sym typeface="Poppins"/>
              </a:rPr>
              <a:t>Beli is for ranking places you’ve been. We help you decide where to go next, with a score based on receipts.</a:t>
            </a:r>
            <a:endParaRPr/>
          </a:p>
        </p:txBody>
      </p:sp>
      <p:sp>
        <p:nvSpPr>
          <p:cNvPr id="150" name="Google Shape;150;p3"/>
          <p:cNvSpPr txBox="1"/>
          <p:nvPr/>
        </p:nvSpPr>
        <p:spPr>
          <a:xfrm>
            <a:off x="822960" y="8412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Dietary filters stay free: a halal or nut-free search is what sends a restaurant the diner it pays for. Nobody pays for placement.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sp>
        <p:nvSpPr>
          <p:cNvPr id="950" name="Google Shape;950;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What it looks like</a:t>
            </a:r>
            <a:endParaRPr/>
          </a:p>
        </p:txBody>
      </p:sp>
      <p:sp>
        <p:nvSpPr>
          <p:cNvPr id="951" name="Google Shape;951;p5"/>
          <p:cNvSpPr txBox="1"/>
          <p:nvPr/>
        </p:nvSpPr>
        <p:spPr>
          <a:xfrm>
            <a:off x="822960" y="1234440"/>
            <a:ext cx="15087600" cy="7315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In our concept, it picks one place </a:t>
            </a:r>
            <a:r>
              <a:rPr b="0" i="0" lang="en-US" sz="4400" u="none" cap="none" strike="noStrike">
                <a:solidFill>
                  <a:srgbClr val="595959"/>
                </a:solidFill>
                <a:latin typeface="Poppins"/>
                <a:ea typeface="Poppins"/>
                <a:cs typeface="Poppins"/>
                <a:sym typeface="Poppins"/>
              </a:rPr>
              <a:t>and shows why.</a:t>
            </a:r>
            <a:endParaRPr/>
          </a:p>
        </p:txBody>
      </p:sp>
      <p:sp>
        <p:nvSpPr>
          <p:cNvPr id="156" name="Google Shape;156;p4"/>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4</a:t>
            </a:r>
            <a:endParaRPr/>
          </a:p>
        </p:txBody>
      </p:sp>
      <p:sp>
        <p:nvSpPr>
          <p:cNvPr id="157" name="Google Shape;157;p4"/>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Concept screens. Every score and person is made up. Photos: Unsplash; Daderot, Wikimedia Commons (CC0).</a:t>
            </a:r>
            <a:endParaRPr/>
          </a:p>
        </p:txBody>
      </p:sp>
      <p:pic>
        <p:nvPicPr>
          <p:cNvPr descr="phone-1.png" id="158" name="Google Shape;158;p4"/>
          <p:cNvPicPr preferRelativeResize="0"/>
          <p:nvPr/>
        </p:nvPicPr>
        <p:blipFill rotWithShape="1">
          <a:blip r:embed="rId3">
            <a:alphaModFix/>
          </a:blip>
          <a:srcRect b="0" l="0" r="0" t="0"/>
          <a:stretch/>
        </p:blipFill>
        <p:spPr>
          <a:xfrm>
            <a:off x="1224550" y="2331720"/>
            <a:ext cx="2814764" cy="5806440"/>
          </a:xfrm>
          <a:prstGeom prst="rect">
            <a:avLst/>
          </a:prstGeom>
          <a:noFill/>
          <a:ln>
            <a:noFill/>
          </a:ln>
        </p:spPr>
      </p:pic>
      <p:sp>
        <p:nvSpPr>
          <p:cNvPr id="159" name="Google Shape;159;p4"/>
          <p:cNvSpPr txBox="1"/>
          <p:nvPr/>
        </p:nvSpPr>
        <p:spPr>
          <a:xfrm>
            <a:off x="845750"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1  Start nearby</a:t>
            </a:r>
            <a:endParaRPr/>
          </a:p>
        </p:txBody>
      </p:sp>
      <p:sp>
        <p:nvSpPr>
          <p:cNvPr id="160" name="Google Shape;160;p4"/>
          <p:cNvSpPr txBox="1"/>
          <p:nvPr/>
        </p:nvSpPr>
        <p:spPr>
          <a:xfrm>
            <a:off x="845750"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What's open around you.</a:t>
            </a:r>
            <a:endParaRPr/>
          </a:p>
        </p:txBody>
      </p:sp>
      <p:pic>
        <p:nvPicPr>
          <p:cNvPr descr="phone-2.png" id="161" name="Google Shape;161;p4"/>
          <p:cNvPicPr preferRelativeResize="0"/>
          <p:nvPr/>
        </p:nvPicPr>
        <p:blipFill rotWithShape="1">
          <a:blip r:embed="rId4">
            <a:alphaModFix/>
          </a:blip>
          <a:srcRect b="0" l="0" r="0" t="0"/>
          <a:stretch/>
        </p:blipFill>
        <p:spPr>
          <a:xfrm>
            <a:off x="5476524" y="2331720"/>
            <a:ext cx="2814776" cy="5806440"/>
          </a:xfrm>
          <a:prstGeom prst="rect">
            <a:avLst/>
          </a:prstGeom>
          <a:noFill/>
          <a:ln>
            <a:noFill/>
          </a:ln>
        </p:spPr>
      </p:pic>
      <p:sp>
        <p:nvSpPr>
          <p:cNvPr id="162" name="Google Shape;162;p4"/>
          <p:cNvSpPr txBox="1"/>
          <p:nvPr/>
        </p:nvSpPr>
        <p:spPr>
          <a:xfrm>
            <a:off x="5097716"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2  Let it pick</a:t>
            </a:r>
            <a:endParaRPr/>
          </a:p>
        </p:txBody>
      </p:sp>
      <p:sp>
        <p:nvSpPr>
          <p:cNvPr id="163" name="Google Shape;163;p4"/>
          <p:cNvSpPr txBox="1"/>
          <p:nvPr/>
        </p:nvSpPr>
        <p:spPr>
          <a:xfrm>
            <a:off x="5097716"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One best bet for your budget and diet.</a:t>
            </a:r>
            <a:endParaRPr/>
          </a:p>
        </p:txBody>
      </p:sp>
      <p:pic>
        <p:nvPicPr>
          <p:cNvPr descr="phone-3.png" id="164" name="Google Shape;164;p4"/>
          <p:cNvPicPr preferRelativeResize="0"/>
          <p:nvPr/>
        </p:nvPicPr>
        <p:blipFill rotWithShape="1">
          <a:blip r:embed="rId5">
            <a:alphaModFix/>
          </a:blip>
          <a:srcRect b="0" l="0" r="0" t="0"/>
          <a:stretch/>
        </p:blipFill>
        <p:spPr>
          <a:xfrm>
            <a:off x="9728474" y="2331720"/>
            <a:ext cx="2814776" cy="5806440"/>
          </a:xfrm>
          <a:prstGeom prst="rect">
            <a:avLst/>
          </a:prstGeom>
          <a:noFill/>
          <a:ln>
            <a:noFill/>
          </a:ln>
        </p:spPr>
      </p:pic>
      <p:sp>
        <p:nvSpPr>
          <p:cNvPr id="165" name="Google Shape;165;p4"/>
          <p:cNvSpPr txBox="1"/>
          <p:nvPr/>
        </p:nvSpPr>
        <p:spPr>
          <a:xfrm>
            <a:off x="9349683"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3  See why</a:t>
            </a:r>
            <a:endParaRPr/>
          </a:p>
        </p:txBody>
      </p:sp>
      <p:sp>
        <p:nvSpPr>
          <p:cNvPr id="166" name="Google Shape;166;p4"/>
          <p:cNvSpPr txBox="1"/>
          <p:nvPr/>
        </p:nvSpPr>
        <p:spPr>
          <a:xfrm>
            <a:off x="9349683" y="8770852"/>
            <a:ext cx="3749100" cy="2310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Three picks, each with a reason.</a:t>
            </a:r>
            <a:endParaRPr/>
          </a:p>
        </p:txBody>
      </p:sp>
      <p:pic>
        <p:nvPicPr>
          <p:cNvPr descr="phone-4.png" id="167" name="Google Shape;167;p4"/>
          <p:cNvPicPr preferRelativeResize="0"/>
          <p:nvPr/>
        </p:nvPicPr>
        <p:blipFill rotWithShape="1">
          <a:blip r:embed="rId6">
            <a:alphaModFix/>
          </a:blip>
          <a:srcRect b="0" l="0" r="0" t="0"/>
          <a:stretch/>
        </p:blipFill>
        <p:spPr>
          <a:xfrm>
            <a:off x="13980449" y="2331720"/>
            <a:ext cx="2814776" cy="5806440"/>
          </a:xfrm>
          <a:prstGeom prst="rect">
            <a:avLst/>
          </a:prstGeom>
          <a:noFill/>
          <a:ln>
            <a:noFill/>
          </a:ln>
        </p:spPr>
      </p:pic>
      <p:sp>
        <p:nvSpPr>
          <p:cNvPr id="168" name="Google Shape;168;p4"/>
          <p:cNvSpPr txBox="1"/>
          <p:nvPr/>
        </p:nvSpPr>
        <p:spPr>
          <a:xfrm>
            <a:off x="13601649" y="8321040"/>
            <a:ext cx="3840600" cy="246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200" u="none" cap="none" strike="noStrike">
                <a:solidFill>
                  <a:srgbClr val="6F6B34"/>
                </a:solidFill>
                <a:latin typeface="Poppins"/>
                <a:ea typeface="Poppins"/>
                <a:cs typeface="Poppins"/>
                <a:sym typeface="Poppins"/>
              </a:rPr>
              <a:t>4  Check every rating</a:t>
            </a:r>
            <a:endParaRPr/>
          </a:p>
        </p:txBody>
      </p:sp>
      <p:sp>
        <p:nvSpPr>
          <p:cNvPr id="169" name="Google Shape;169;p4"/>
          <p:cNvSpPr txBox="1"/>
          <p:nvPr/>
        </p:nvSpPr>
        <p:spPr>
          <a:xfrm>
            <a:off x="13601649" y="8770852"/>
            <a:ext cx="3749100" cy="7389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500" u="none" cap="none" strike="noStrike">
                <a:solidFill>
                  <a:srgbClr val="434343"/>
                </a:solidFill>
                <a:latin typeface="Poppins"/>
                <a:ea typeface="Poppins"/>
                <a:cs typeface="Poppins"/>
                <a:sym typeface="Poppins"/>
              </a:rPr>
              <a:t>Our verified score next to everyone else's, with creators' paid posts flagged.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5"/>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big it is</a:t>
            </a:r>
            <a:endParaRPr/>
          </a:p>
        </p:txBody>
      </p:sp>
      <p:sp>
        <p:nvSpPr>
          <p:cNvPr id="176" name="Google Shape;176;p5"/>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5</a:t>
            </a:r>
            <a:endParaRPr/>
          </a:p>
        </p:txBody>
      </p:sp>
      <p:sp>
        <p:nvSpPr>
          <p:cNvPr id="177" name="Google Shape;177;p5"/>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 start with Boston's 162,000 students. </a:t>
            </a:r>
            <a:r>
              <a:rPr b="0" i="0" lang="en-US" sz="4400" u="none" cap="none" strike="noStrike">
                <a:solidFill>
                  <a:srgbClr val="595959"/>
                </a:solidFill>
                <a:latin typeface="Poppins"/>
                <a:ea typeface="Poppins"/>
                <a:cs typeface="Poppins"/>
                <a:sym typeface="Poppins"/>
              </a:rPr>
              <a:t>About 19 million US students could use it.</a:t>
            </a:r>
            <a:endParaRPr/>
          </a:p>
        </p:txBody>
      </p:sp>
      <p:sp>
        <p:nvSpPr>
          <p:cNvPr id="178" name="Google Shape;178;p5"/>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US Census Bureau, 2024 estimates. NCES Digest of Education Statistics 2024, fall 2023 enrollment. City of Boston Student Housing Report 2025 and license data, Oct 2026.</a:t>
            </a:r>
            <a:endParaRPr/>
          </a:p>
        </p:txBody>
      </p:sp>
      <p:sp>
        <p:nvSpPr>
          <p:cNvPr id="179" name="Google Shape;179;p5"/>
          <p:cNvSpPr txBox="1"/>
          <p:nvPr/>
        </p:nvSpPr>
        <p:spPr>
          <a:xfrm>
            <a:off x="82296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Where we start</a:t>
            </a:r>
            <a:endParaRPr/>
          </a:p>
        </p:txBody>
      </p:sp>
      <p:sp>
        <p:nvSpPr>
          <p:cNvPr id="180" name="Google Shape;180;p5"/>
          <p:cNvSpPr txBox="1"/>
          <p:nvPr/>
        </p:nvSpPr>
        <p:spPr>
          <a:xfrm>
            <a:off x="82296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162K</a:t>
            </a:r>
            <a:endParaRPr/>
          </a:p>
        </p:txBody>
      </p:sp>
      <p:sp>
        <p:nvSpPr>
          <p:cNvPr id="181" name="Google Shape;181;p5"/>
          <p:cNvSpPr txBox="1"/>
          <p:nvPr/>
        </p:nvSpPr>
        <p:spPr>
          <a:xfrm>
            <a:off x="822960" y="5760720"/>
            <a:ext cx="49377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college students. Year 1 is 12K of them.</a:t>
            </a:r>
            <a:endParaRPr sz="2400"/>
          </a:p>
        </p:txBody>
      </p:sp>
      <p:sp>
        <p:nvSpPr>
          <p:cNvPr id="182" name="Google Shape;182;p5"/>
          <p:cNvSpPr txBox="1"/>
          <p:nvPr/>
        </p:nvSpPr>
        <p:spPr>
          <a:xfrm>
            <a:off x="649224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Our users by Year 5</a:t>
            </a:r>
            <a:endParaRPr/>
          </a:p>
        </p:txBody>
      </p:sp>
      <p:sp>
        <p:nvSpPr>
          <p:cNvPr id="183" name="Google Shape;183;p5"/>
          <p:cNvSpPr txBox="1"/>
          <p:nvPr/>
        </p:nvSpPr>
        <p:spPr>
          <a:xfrm>
            <a:off x="649224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540K</a:t>
            </a:r>
            <a:endParaRPr/>
          </a:p>
        </p:txBody>
      </p:sp>
      <p:sp>
        <p:nvSpPr>
          <p:cNvPr id="184" name="Google Shape;184;p5"/>
          <p:cNvSpPr txBox="1"/>
          <p:nvPr/>
        </p:nvSpPr>
        <p:spPr>
          <a:xfrm>
            <a:off x="649224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2.8% of US college students</a:t>
            </a:r>
            <a:endParaRPr sz="2400"/>
          </a:p>
        </p:txBody>
      </p:sp>
      <p:sp>
        <p:nvSpPr>
          <p:cNvPr id="185" name="Google Shape;185;p5"/>
          <p:cNvSpPr txBox="1"/>
          <p:nvPr/>
        </p:nvSpPr>
        <p:spPr>
          <a:xfrm>
            <a:off x="12161520" y="3749039"/>
            <a:ext cx="5120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000" u="none" cap="none" strike="noStrike">
                <a:solidFill>
                  <a:srgbClr val="6F6B34"/>
                </a:solidFill>
                <a:latin typeface="Poppins"/>
                <a:ea typeface="Poppins"/>
                <a:cs typeface="Poppins"/>
                <a:sym typeface="Poppins"/>
              </a:rPr>
              <a:t>Restaurants we can sign</a:t>
            </a:r>
            <a:endParaRPr/>
          </a:p>
        </p:txBody>
      </p:sp>
      <p:sp>
        <p:nvSpPr>
          <p:cNvPr id="186" name="Google Shape;186;p5"/>
          <p:cNvSpPr txBox="1"/>
          <p:nvPr/>
        </p:nvSpPr>
        <p:spPr>
          <a:xfrm>
            <a:off x="12161520" y="4160520"/>
            <a:ext cx="5120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7200" u="none" cap="none" strike="noStrike">
                <a:solidFill>
                  <a:srgbClr val="000000"/>
                </a:solidFill>
                <a:latin typeface="Poppins"/>
                <a:ea typeface="Poppins"/>
                <a:cs typeface="Poppins"/>
                <a:sym typeface="Poppins"/>
              </a:rPr>
              <a:t>3,350</a:t>
            </a:r>
            <a:endParaRPr/>
          </a:p>
        </p:txBody>
      </p:sp>
      <p:sp>
        <p:nvSpPr>
          <p:cNvPr id="187" name="Google Shape;187;p5"/>
          <p:cNvSpPr txBox="1"/>
          <p:nvPr/>
        </p:nvSpPr>
        <p:spPr>
          <a:xfrm>
            <a:off x="12161520" y="5760720"/>
            <a:ext cx="4937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Licensed places to eat in Boston</a:t>
            </a:r>
            <a:endParaRPr sz="2400"/>
          </a:p>
        </p:txBody>
      </p:sp>
      <p:sp>
        <p:nvSpPr>
          <p:cNvPr id="188" name="Google Shape;188;p5"/>
          <p:cNvSpPr/>
          <p:nvPr/>
        </p:nvSpPr>
        <p:spPr>
          <a:xfrm>
            <a:off x="822960" y="68580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189" name="Google Shape;189;p5"/>
          <p:cNvSpPr txBox="1"/>
          <p:nvPr/>
        </p:nvSpPr>
        <p:spPr>
          <a:xfrm>
            <a:off x="822960" y="7196328"/>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 market</a:t>
            </a:r>
            <a:endParaRPr sz="2400"/>
          </a:p>
        </p:txBody>
      </p:sp>
      <p:sp>
        <p:nvSpPr>
          <p:cNvPr id="190" name="Google Shape;190;p5"/>
          <p:cNvSpPr txBox="1"/>
          <p:nvPr/>
        </p:nvSpPr>
        <p:spPr>
          <a:xfrm>
            <a:off x="3657600" y="7178040"/>
            <a:ext cx="138075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77.8M people aged 18 to 34 (TAM), 19M US college students we can reach (SAM), 540K we plan to win (SOM).</a:t>
            </a:r>
            <a:endParaRPr sz="2400"/>
          </a:p>
        </p:txBody>
      </p:sp>
      <p:sp>
        <p:nvSpPr>
          <p:cNvPr id="191" name="Google Shape;191;p5"/>
          <p:cNvSpPr txBox="1"/>
          <p:nvPr/>
        </p:nvSpPr>
        <p:spPr>
          <a:xfrm>
            <a:off x="822935" y="8229600"/>
            <a:ext cx="2743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Growth</a:t>
            </a:r>
            <a:endParaRPr sz="2400"/>
          </a:p>
        </p:txBody>
      </p:sp>
      <p:sp>
        <p:nvSpPr>
          <p:cNvPr id="192" name="Google Shape;192;p5"/>
          <p:cNvSpPr txBox="1"/>
          <p:nvPr/>
        </p:nvSpPr>
        <p:spPr>
          <a:xfrm>
            <a:off x="3657575" y="8211312"/>
            <a:ext cx="138075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Boston first. Other cities from Year 3.</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6"/>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get users</a:t>
            </a:r>
            <a:endParaRPr/>
          </a:p>
        </p:txBody>
      </p:sp>
      <p:sp>
        <p:nvSpPr>
          <p:cNvPr id="201" name="Google Shape;201;p6"/>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6</a:t>
            </a:r>
            <a:endParaRPr/>
          </a:p>
        </p:txBody>
      </p:sp>
      <p:sp>
        <p:nvSpPr>
          <p:cNvPr id="202" name="Google Shape;202;p6"/>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find our first 1,000 users on Boston campuses, </a:t>
            </a:r>
            <a:r>
              <a:rPr b="0" i="0" lang="en-US" sz="4400" u="none" cap="none" strike="noStrike">
                <a:solidFill>
                  <a:srgbClr val="595959"/>
                </a:solidFill>
                <a:latin typeface="Poppins"/>
                <a:ea typeface="Poppins"/>
                <a:cs typeface="Poppins"/>
                <a:sym typeface="Poppins"/>
              </a:rPr>
              <a:t>starting with ours, one friend at a time.</a:t>
            </a:r>
            <a:endParaRPr/>
          </a:p>
        </p:txBody>
      </p:sp>
      <p:sp>
        <p:nvSpPr>
          <p:cNvPr id="203" name="Google Shape;203;p6"/>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referrals: Wall Street Journal, May 2025. User targets are from our Gate 2 model.</a:t>
            </a:r>
            <a:endParaRPr/>
          </a:p>
        </p:txBody>
      </p:sp>
      <p:sp>
        <p:nvSpPr>
          <p:cNvPr id="204" name="Google Shape;204;p6"/>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Who they are and where we find them</a:t>
            </a:r>
            <a:endParaRPr sz="2400"/>
          </a:p>
        </p:txBody>
      </p:sp>
      <p:sp>
        <p:nvSpPr>
          <p:cNvPr id="205" name="Google Shape;205;p6"/>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tell them</a:t>
            </a:r>
            <a:endParaRPr sz="2400"/>
          </a:p>
        </p:txBody>
      </p:sp>
      <p:sp>
        <p:nvSpPr>
          <p:cNvPr id="206" name="Google Shape;206;p6"/>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07" name="Google Shape;207;p6"/>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a:t>
            </a:r>
            <a:endParaRPr sz="2400"/>
          </a:p>
        </p:txBody>
      </p:sp>
      <p:sp>
        <p:nvSpPr>
          <p:cNvPr id="208" name="Google Shape;208;p6"/>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People we interviewed and our friends test the prototype.</a:t>
            </a:r>
            <a:endParaRPr sz="2400"/>
          </a:p>
        </p:txBody>
      </p:sp>
      <p:sp>
        <p:nvSpPr>
          <p:cNvPr id="209" name="Google Shape;209;p6"/>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Help us build it.</a:t>
            </a:r>
            <a:endParaRPr sz="2400"/>
          </a:p>
        </p:txBody>
      </p:sp>
      <p:sp>
        <p:nvSpPr>
          <p:cNvPr id="210" name="Google Shape;210;p6"/>
          <p:cNvSpPr/>
          <p:nvPr/>
        </p:nvSpPr>
        <p:spPr>
          <a:xfrm>
            <a:off x="822960" y="545896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1" name="Google Shape;211;p6"/>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a:t>
            </a:r>
            <a:endParaRPr sz="2400"/>
          </a:p>
        </p:txBody>
      </p:sp>
      <p:sp>
        <p:nvSpPr>
          <p:cNvPr id="212" name="Google Shape;212;p6"/>
          <p:cNvSpPr txBox="1"/>
          <p:nvPr/>
        </p:nvSpPr>
        <p:spPr>
          <a:xfrm>
            <a:off x="3657600" y="562356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Northeastern students they invite, plus clubs and group chats.</a:t>
            </a:r>
            <a:endParaRPr sz="2400"/>
          </a:p>
        </p:txBody>
      </p:sp>
      <p:sp>
        <p:nvSpPr>
          <p:cNvPr id="213" name="Google Shape;213;p6"/>
          <p:cNvSpPr txBox="1"/>
          <p:nvPr/>
        </p:nvSpPr>
        <p:spPr>
          <a:xfrm>
            <a:off x="10607040" y="562356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Every rating for a place, in one app.</a:t>
            </a:r>
            <a:endParaRPr sz="2400"/>
          </a:p>
        </p:txBody>
      </p:sp>
      <p:sp>
        <p:nvSpPr>
          <p:cNvPr id="214" name="Google Shape;214;p6"/>
          <p:cNvSpPr/>
          <p:nvPr/>
        </p:nvSpPr>
        <p:spPr>
          <a:xfrm>
            <a:off x="822960" y="67848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5" name="Google Shape;215;p6"/>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First 1,000</a:t>
            </a:r>
            <a:endParaRPr sz="2400"/>
          </a:p>
        </p:txBody>
      </p:sp>
      <p:sp>
        <p:nvSpPr>
          <p:cNvPr id="216" name="Google Shape;216;p6"/>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Other Boston campuses, through student ambassadors and food posts.</a:t>
            </a:r>
            <a:endParaRPr sz="2400"/>
          </a:p>
        </p:txBody>
      </p:sp>
      <p:sp>
        <p:nvSpPr>
          <p:cNvPr id="217" name="Google Shape;217;p6"/>
          <p:cNvSpPr txBox="1"/>
          <p:nvPr/>
        </p:nvSpPr>
        <p:spPr>
          <a:xfrm>
            <a:off x="10607040" y="694944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app instead of five tabs.</a:t>
            </a:r>
            <a:endParaRPr sz="2400"/>
          </a:p>
        </p:txBody>
      </p:sp>
      <p:sp>
        <p:nvSpPr>
          <p:cNvPr id="218" name="Google Shape;218;p6"/>
          <p:cNvSpPr/>
          <p:nvPr/>
        </p:nvSpPr>
        <p:spPr>
          <a:xfrm>
            <a:off x="822960" y="811072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19" name="Google Shape;219;p6"/>
          <p:cNvSpPr txBox="1"/>
          <p:nvPr/>
        </p:nvSpPr>
        <p:spPr>
          <a:xfrm>
            <a:off x="822960" y="8458200"/>
            <a:ext cx="166422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If friends invite friends, our model reaches 12K users by the end of Year 1; about 80% of Beli’s users arrived that way. Users never have to pay.</a:t>
            </a:r>
            <a:endParaRPr sz="2400"/>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7"/>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make money</a:t>
            </a:r>
            <a:endParaRPr/>
          </a:p>
        </p:txBody>
      </p:sp>
      <p:sp>
        <p:nvSpPr>
          <p:cNvPr id="226" name="Google Shape;226;p7"/>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7</a:t>
            </a:r>
            <a:endParaRPr/>
          </a:p>
        </p:txBody>
      </p:sp>
      <p:sp>
        <p:nvSpPr>
          <p:cNvPr id="227" name="Google Shape;227;p7"/>
          <p:cNvSpPr txBox="1"/>
          <p:nvPr/>
        </p:nvSpPr>
        <p:spPr>
          <a:xfrm>
            <a:off x="822960" y="1208990"/>
            <a:ext cx="15087600" cy="6774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We’d charge restaurants per diner sent, not for ads.</a:t>
            </a:r>
            <a:endParaRPr/>
          </a:p>
        </p:txBody>
      </p:sp>
      <p:sp>
        <p:nvSpPr>
          <p:cNvPr id="228" name="Google Shape;228;p7"/>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Together these come to $356K of revenue in Year 5.</a:t>
            </a:r>
            <a:endParaRPr/>
          </a:p>
        </p:txBody>
      </p:sp>
      <p:sp>
        <p:nvSpPr>
          <p:cNvPr id="229" name="Google Shape;229;p7"/>
          <p:cNvSpPr txBox="1"/>
          <p:nvPr/>
        </p:nvSpPr>
        <p:spPr>
          <a:xfrm>
            <a:off x="4206240" y="3657600"/>
            <a:ext cx="5029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Their problem</a:t>
            </a:r>
            <a:endParaRPr sz="2400"/>
          </a:p>
        </p:txBody>
      </p:sp>
      <p:sp>
        <p:nvSpPr>
          <p:cNvPr id="230" name="Google Shape;230;p7"/>
          <p:cNvSpPr txBox="1"/>
          <p:nvPr/>
        </p:nvSpPr>
        <p:spPr>
          <a:xfrm>
            <a:off x="9509760" y="3657600"/>
            <a:ext cx="56692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charge</a:t>
            </a:r>
            <a:endParaRPr sz="2400"/>
          </a:p>
        </p:txBody>
      </p:sp>
      <p:sp>
        <p:nvSpPr>
          <p:cNvPr id="231" name="Google Shape;231;p7"/>
          <p:cNvSpPr txBox="1"/>
          <p:nvPr/>
        </p:nvSpPr>
        <p:spPr>
          <a:xfrm>
            <a:off x="15453360" y="365760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sz="2400"/>
          </a:p>
        </p:txBody>
      </p:sp>
      <p:sp>
        <p:nvSpPr>
          <p:cNvPr id="232" name="Google Shape;232;p7"/>
          <p:cNvSpPr/>
          <p:nvPr/>
        </p:nvSpPr>
        <p:spPr>
          <a:xfrm>
            <a:off x="822960" y="404164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33" name="Google Shape;233;p7"/>
          <p:cNvSpPr txBox="1"/>
          <p:nvPr/>
        </p:nvSpPr>
        <p:spPr>
          <a:xfrm>
            <a:off x="822960" y="4206240"/>
            <a:ext cx="32004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Restaurants, booking sites, chains</a:t>
            </a:r>
            <a:endParaRPr sz="2400"/>
          </a:p>
        </p:txBody>
      </p:sp>
      <p:sp>
        <p:nvSpPr>
          <p:cNvPr id="234" name="Google Shape;234;p7"/>
          <p:cNvSpPr txBox="1"/>
          <p:nvPr/>
        </p:nvSpPr>
        <p:spPr>
          <a:xfrm>
            <a:off x="4206240" y="4206240"/>
            <a:ext cx="502920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Pay for ads up front and can’t tell what worked.</a:t>
            </a:r>
            <a:endParaRPr sz="2200"/>
          </a:p>
        </p:txBody>
      </p:sp>
      <p:sp>
        <p:nvSpPr>
          <p:cNvPr id="235" name="Google Shape;235;p7"/>
          <p:cNvSpPr txBox="1"/>
          <p:nvPr/>
        </p:nvSpPr>
        <p:spPr>
          <a:xfrm>
            <a:off x="9509760" y="4206240"/>
            <a:ext cx="5669280" cy="1323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About $0.90 per new diner, once a receipt proves the visit. Booking sites pay per table. Chains pay $6,000 a year per area.</a:t>
            </a:r>
            <a:endParaRPr sz="2200"/>
          </a:p>
        </p:txBody>
      </p:sp>
      <p:sp>
        <p:nvSpPr>
          <p:cNvPr id="236" name="Google Shape;236;p7"/>
          <p:cNvSpPr txBox="1"/>
          <p:nvPr/>
        </p:nvSpPr>
        <p:spPr>
          <a:xfrm>
            <a:off x="15453360" y="420624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sz="2400"/>
          </a:p>
        </p:txBody>
      </p:sp>
      <p:sp>
        <p:nvSpPr>
          <p:cNvPr id="237" name="Google Shape;237;p7"/>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000" u="none" cap="none" strike="noStrike">
              <a:solidFill>
                <a:schemeClr val="dk1"/>
              </a:solidFill>
              <a:latin typeface="Calibri"/>
              <a:ea typeface="Calibri"/>
              <a:cs typeface="Calibri"/>
              <a:sym typeface="Calibri"/>
            </a:endParaRPr>
          </a:p>
        </p:txBody>
      </p:sp>
      <p:sp>
        <p:nvSpPr>
          <p:cNvPr id="238" name="Google Shape;238;p7"/>
          <p:cNvSpPr txBox="1"/>
          <p:nvPr/>
        </p:nvSpPr>
        <p:spPr>
          <a:xfrm>
            <a:off x="822960" y="6355080"/>
            <a:ext cx="32004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sz="2400"/>
          </a:p>
        </p:txBody>
      </p:sp>
      <p:sp>
        <p:nvSpPr>
          <p:cNvPr id="239" name="Google Shape;239;p7"/>
          <p:cNvSpPr txBox="1"/>
          <p:nvPr/>
        </p:nvSpPr>
        <p:spPr>
          <a:xfrm>
            <a:off x="4206240" y="6355080"/>
            <a:ext cx="5029200" cy="9852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app is free. About 3 in 1,000 pay for extras.</a:t>
            </a:r>
            <a:endParaRPr sz="2200"/>
          </a:p>
        </p:txBody>
      </p:sp>
      <p:sp>
        <p:nvSpPr>
          <p:cNvPr id="240" name="Google Shape;240;p7"/>
          <p:cNvSpPr txBox="1"/>
          <p:nvPr/>
        </p:nvSpPr>
        <p:spPr>
          <a:xfrm>
            <a:off x="9509760" y="6355080"/>
            <a:ext cx="5669280" cy="307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000000"/>
                </a:solidFill>
                <a:latin typeface="Poppins"/>
                <a:ea typeface="Poppins"/>
                <a:cs typeface="Poppins"/>
                <a:sym typeface="Poppins"/>
              </a:rPr>
              <a:t>An optional $5 a month membership.</a:t>
            </a:r>
            <a:endParaRPr sz="2200"/>
          </a:p>
        </p:txBody>
      </p:sp>
      <p:sp>
        <p:nvSpPr>
          <p:cNvPr id="241" name="Google Shape;241;p7"/>
          <p:cNvSpPr txBox="1"/>
          <p:nvPr/>
        </p:nvSpPr>
        <p:spPr>
          <a:xfrm>
            <a:off x="15453360" y="6355080"/>
            <a:ext cx="201168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sz="2400"/>
          </a:p>
        </p:txBody>
      </p:sp>
      <p:sp>
        <p:nvSpPr>
          <p:cNvPr id="242" name="Google Shape;242;p7"/>
          <p:cNvSpPr/>
          <p:nvPr/>
        </p:nvSpPr>
        <p:spPr>
          <a:xfrm>
            <a:off x="822960" y="790956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43" name="Google Shape;243;p7"/>
          <p:cNvSpPr txBox="1"/>
          <p:nvPr/>
        </p:nvSpPr>
        <p:spPr>
          <a:xfrm>
            <a:off x="822960" y="813816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In our model, two sides pay: $356K in Year 5. Paying never changes a score or a ranking.</a:t>
            </a:r>
            <a:endParaRPr sz="2400"/>
          </a:p>
        </p:txBody>
      </p:sp>
      <p:sp>
        <p:nvSpPr>
          <p:cNvPr id="244" name="Google Shape;244;p7"/>
          <p:cNvSpPr txBox="1"/>
          <p:nvPr/>
        </p:nvSpPr>
        <p:spPr>
          <a:xfrm>
            <a:off x="822960" y="8732520"/>
            <a:ext cx="166422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000000"/>
                </a:solidFill>
                <a:latin typeface="Poppins"/>
                <a:ea typeface="Poppins"/>
                <a:cs typeface="Poppins"/>
                <a:sym typeface="Poppins"/>
              </a:rPr>
              <a:t xml:space="preserve">Not yet tested with owners. </a:t>
            </a:r>
            <a:r>
              <a:rPr b="0" i="0" lang="en-US" sz="2400" u="none" cap="none" strike="noStrike">
                <a:solidFill>
                  <a:srgbClr val="434343"/>
                </a:solidFill>
                <a:latin typeface="Poppins"/>
                <a:ea typeface="Poppins"/>
                <a:cs typeface="Poppins"/>
                <a:sym typeface="Poppins"/>
              </a:rPr>
              <a:t>Next: five owner calls, each with a free 30-day pilot and a diner report.</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AAA676"/>
        </a:solidFill>
        <a:effectLst/>
      </p:bgPr>
    </p:bg>
    <p:spTree>
      <p:nvGrpSpPr>
        <p:cNvPr id="249" name="Shape 249"/>
        <p:cNvGrpSpPr/>
        <p:nvPr/>
      </p:nvGrpSpPr>
      <p:grpSpPr>
        <a:xfrm>
          <a:off x="0" y="0"/>
          <a:ext cx="0" cy="0"/>
          <a:chOff x="0" y="0"/>
          <a:chExt cx="0" cy="0"/>
        </a:xfrm>
      </p:grpSpPr>
      <p:sp>
        <p:nvSpPr>
          <p:cNvPr id="250" name="Google Shape;250;p8"/>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2E2D12"/>
                </a:solidFill>
                <a:latin typeface="Poppins"/>
                <a:ea typeface="Poppins"/>
                <a:cs typeface="Poppins"/>
                <a:sym typeface="Poppins"/>
              </a:rPr>
              <a:t>What we learned</a:t>
            </a:r>
            <a:endParaRPr/>
          </a:p>
        </p:txBody>
      </p:sp>
      <p:sp>
        <p:nvSpPr>
          <p:cNvPr id="251" name="Google Shape;251;p8"/>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2E2D12"/>
                </a:solidFill>
                <a:latin typeface="Poppins"/>
                <a:ea typeface="Poppins"/>
                <a:cs typeface="Poppins"/>
                <a:sym typeface="Poppins"/>
              </a:rPr>
              <a:t>8</a:t>
            </a:r>
            <a:endParaRPr/>
          </a:p>
        </p:txBody>
      </p:sp>
      <p:sp>
        <p:nvSpPr>
          <p:cNvPr id="252" name="Google Shape;252;p8"/>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The apps closest to us took years to make money, </a:t>
            </a:r>
            <a:r>
              <a:rPr b="0" i="0" lang="en-US" sz="4400" u="none" cap="none" strike="noStrike">
                <a:solidFill>
                  <a:srgbClr val="2E2D12"/>
                </a:solidFill>
                <a:latin typeface="Poppins"/>
                <a:ea typeface="Poppins"/>
                <a:cs typeface="Poppins"/>
                <a:sym typeface="Poppins"/>
              </a:rPr>
              <a:t>so we kept our costs low.</a:t>
            </a:r>
            <a:endParaRPr/>
          </a:p>
        </p:txBody>
      </p:sp>
      <p:sp>
        <p:nvSpPr>
          <p:cNvPr id="253" name="Google Shape;253;p8"/>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2E2D12"/>
                </a:solidFill>
                <a:latin typeface="Roboto Mono"/>
                <a:ea typeface="Roboto Mono"/>
                <a:cs typeface="Roboto Mono"/>
                <a:sym typeface="Roboto Mono"/>
              </a:rPr>
              <a:t>OpenTable Form S-1, 2009. TechCrunch, May 2019 (Resy). Sensor Tower in the Boston Globe, Nov 2025, and Wall Street Journal, May 2025 (Beli). Resy never reported a profit.</a:t>
            </a:r>
            <a:endParaRPr/>
          </a:p>
        </p:txBody>
      </p:sp>
      <p:sp>
        <p:nvSpPr>
          <p:cNvPr id="254" name="Google Shape;254;p8"/>
          <p:cNvSpPr txBox="1"/>
          <p:nvPr/>
        </p:nvSpPr>
        <p:spPr>
          <a:xfrm>
            <a:off x="3657600" y="365760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happened to them</a:t>
            </a:r>
            <a:endParaRPr sz="2400"/>
          </a:p>
        </p:txBody>
      </p:sp>
      <p:sp>
        <p:nvSpPr>
          <p:cNvPr id="255" name="Google Shape;255;p8"/>
          <p:cNvSpPr txBox="1"/>
          <p:nvPr/>
        </p:nvSpPr>
        <p:spPr>
          <a:xfrm>
            <a:off x="10607040" y="365760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2E2D12"/>
                </a:solidFill>
                <a:latin typeface="Poppins"/>
                <a:ea typeface="Poppins"/>
                <a:cs typeface="Poppins"/>
                <a:sym typeface="Poppins"/>
              </a:rPr>
              <a:t>What we did about it</a:t>
            </a:r>
            <a:endParaRPr sz="2400"/>
          </a:p>
        </p:txBody>
      </p:sp>
      <p:sp>
        <p:nvSpPr>
          <p:cNvPr id="256" name="Google Shape;256;p8"/>
          <p:cNvSpPr/>
          <p:nvPr/>
        </p:nvSpPr>
        <p:spPr>
          <a:xfrm>
            <a:off x="822960" y="413308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57" name="Google Shape;257;p8"/>
          <p:cNvSpPr txBox="1"/>
          <p:nvPr/>
        </p:nvSpPr>
        <p:spPr>
          <a:xfrm>
            <a:off x="822960" y="429768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OpenTable</a:t>
            </a:r>
            <a:endParaRPr sz="2400"/>
          </a:p>
        </p:txBody>
      </p:sp>
      <p:sp>
        <p:nvSpPr>
          <p:cNvPr id="258" name="Google Shape;258;p8"/>
          <p:cNvSpPr txBox="1"/>
          <p:nvPr/>
        </p:nvSpPr>
        <p:spPr>
          <a:xfrm>
            <a:off x="3657600" y="429768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Nine years to a profit, $57M lost getting there.</a:t>
            </a:r>
            <a:endParaRPr sz="2400"/>
          </a:p>
        </p:txBody>
      </p:sp>
      <p:sp>
        <p:nvSpPr>
          <p:cNvPr id="259" name="Google Shape;259;p8"/>
          <p:cNvSpPr txBox="1"/>
          <p:nvPr/>
        </p:nvSpPr>
        <p:spPr>
          <a:xfrm>
            <a:off x="10607040" y="4297680"/>
            <a:ext cx="68580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No founder salaries. Co-op students before full-time hires.</a:t>
            </a:r>
            <a:endParaRPr sz="2400"/>
          </a:p>
        </p:txBody>
      </p:sp>
      <p:sp>
        <p:nvSpPr>
          <p:cNvPr id="260" name="Google Shape;260;p8"/>
          <p:cNvSpPr/>
          <p:nvPr/>
        </p:nvSpPr>
        <p:spPr>
          <a:xfrm>
            <a:off x="822960" y="545896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1" name="Google Shape;261;p8"/>
          <p:cNvSpPr txBox="1"/>
          <p:nvPr/>
        </p:nvSpPr>
        <p:spPr>
          <a:xfrm>
            <a:off x="822960" y="562356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Resy</a:t>
            </a:r>
            <a:endParaRPr sz="2400"/>
          </a:p>
        </p:txBody>
      </p:sp>
      <p:sp>
        <p:nvSpPr>
          <p:cNvPr id="262" name="Google Shape;262;p8"/>
          <p:cNvSpPr txBox="1"/>
          <p:nvPr/>
        </p:nvSpPr>
        <p:spPr>
          <a:xfrm>
            <a:off x="3657600" y="5623560"/>
            <a:ext cx="65838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Ran on $45M of investor money, then sold.</a:t>
            </a:r>
            <a:endParaRPr sz="2400"/>
          </a:p>
        </p:txBody>
      </p:sp>
      <p:sp>
        <p:nvSpPr>
          <p:cNvPr id="263" name="Google Shape;263;p8"/>
          <p:cNvSpPr txBox="1"/>
          <p:nvPr/>
        </p:nvSpPr>
        <p:spPr>
          <a:xfrm>
            <a:off x="10607040" y="562356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Costs low enough to need $240K, starting with grants.</a:t>
            </a:r>
            <a:endParaRPr sz="2400"/>
          </a:p>
        </p:txBody>
      </p:sp>
      <p:sp>
        <p:nvSpPr>
          <p:cNvPr id="264" name="Google Shape;264;p8"/>
          <p:cNvSpPr/>
          <p:nvPr/>
        </p:nvSpPr>
        <p:spPr>
          <a:xfrm>
            <a:off x="822960" y="678484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5" name="Google Shape;265;p8"/>
          <p:cNvSpPr txBox="1"/>
          <p:nvPr/>
        </p:nvSpPr>
        <p:spPr>
          <a:xfrm>
            <a:off x="822960" y="6949440"/>
            <a:ext cx="2651700" cy="3693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Beli</a:t>
            </a:r>
            <a:endParaRPr sz="2400"/>
          </a:p>
        </p:txBody>
      </p:sp>
      <p:sp>
        <p:nvSpPr>
          <p:cNvPr id="266" name="Google Shape;266;p8"/>
          <p:cNvSpPr txBox="1"/>
          <p:nvPr/>
        </p:nvSpPr>
        <p:spPr>
          <a:xfrm>
            <a:off x="3657600" y="6949440"/>
            <a:ext cx="65838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1.1M monthly users, mostly through friends, five people, almost no revenue.</a:t>
            </a:r>
            <a:endParaRPr sz="2400"/>
          </a:p>
        </p:txBody>
      </p:sp>
      <p:sp>
        <p:nvSpPr>
          <p:cNvPr id="267" name="Google Shape;267;p8"/>
          <p:cNvSpPr txBox="1"/>
          <p:nvPr/>
        </p:nvSpPr>
        <p:spPr>
          <a:xfrm>
            <a:off x="10607040" y="6949440"/>
            <a:ext cx="6858000" cy="775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A quarter of its size, almost no ads, restaurants paying from Year 2.</a:t>
            </a:r>
            <a:endParaRPr sz="2400"/>
          </a:p>
        </p:txBody>
      </p:sp>
      <p:sp>
        <p:nvSpPr>
          <p:cNvPr id="268" name="Google Shape;268;p8"/>
          <p:cNvSpPr/>
          <p:nvPr/>
        </p:nvSpPr>
        <p:spPr>
          <a:xfrm>
            <a:off x="822960" y="8110728"/>
            <a:ext cx="16642080" cy="10972"/>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2400" u="none" cap="none" strike="noStrike">
              <a:solidFill>
                <a:schemeClr val="dk1"/>
              </a:solidFill>
              <a:latin typeface="Calibri"/>
              <a:ea typeface="Calibri"/>
              <a:cs typeface="Calibri"/>
              <a:sym typeface="Calibri"/>
            </a:endParaRPr>
          </a:p>
        </p:txBody>
      </p:sp>
      <p:sp>
        <p:nvSpPr>
          <p:cNvPr id="269" name="Google Shape;269;p8"/>
          <p:cNvSpPr txBox="1"/>
          <p:nvPr/>
        </p:nvSpPr>
        <p:spPr>
          <a:xfrm>
            <a:off x="822960" y="845820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1F1F1F"/>
                </a:solidFill>
                <a:latin typeface="Poppins"/>
                <a:ea typeface="Poppins"/>
                <a:cs typeface="Poppins"/>
                <a:sym typeface="Poppins"/>
              </a:rPr>
              <a:t>The trade-off: a smaller team, and it only works if restaurants sign up.</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9"/>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The numbers</a:t>
            </a:r>
            <a:endParaRPr/>
          </a:p>
        </p:txBody>
      </p:sp>
      <p:sp>
        <p:nvSpPr>
          <p:cNvPr id="276" name="Google Shape;276;p9"/>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9</a:t>
            </a:r>
            <a:endParaRPr/>
          </a:p>
        </p:txBody>
      </p:sp>
      <p:sp>
        <p:nvSpPr>
          <p:cNvPr id="277" name="Google Shape;277;p9"/>
          <p:cNvSpPr txBox="1"/>
          <p:nvPr/>
        </p:nvSpPr>
        <p:spPr>
          <a:xfrm>
            <a:off x="822960" y="1234440"/>
            <a:ext cx="15087600" cy="146304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 plan to spend about $11K a quarter for two years. </a:t>
            </a:r>
            <a:r>
              <a:rPr b="0" i="0" lang="en-US" sz="4400" u="none" cap="none" strike="noStrike">
                <a:solidFill>
                  <a:srgbClr val="595959"/>
                </a:solidFill>
                <a:latin typeface="Poppins"/>
                <a:ea typeface="Poppins"/>
                <a:cs typeface="Poppins"/>
                <a:sym typeface="Poppins"/>
              </a:rPr>
              <a:t>Our model shows a first profit in Year 5.</a:t>
            </a:r>
            <a:endParaRPr/>
          </a:p>
        </p:txBody>
      </p:sp>
      <p:sp>
        <p:nvSpPr>
          <p:cNvPr id="278" name="Google Shape;278;p9"/>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$K. Years 1 and 2 by quarter, years 3 to 5 by year. From our Gate 2 model; assumptions and sources are in the workbook.</a:t>
            </a:r>
            <a:endParaRPr/>
          </a:p>
        </p:txBody>
      </p:sp>
      <p:graphicFrame>
        <p:nvGraphicFramePr>
          <p:cNvPr id="279" name="Google Shape;279;p9"/>
          <p:cNvGraphicFramePr/>
          <p:nvPr/>
        </p:nvGraphicFramePr>
        <p:xfrm>
          <a:off x="822960" y="3611880"/>
          <a:ext cx="3000000" cy="3000000"/>
        </p:xfrm>
        <a:graphic>
          <a:graphicData uri="http://schemas.openxmlformats.org/drawingml/2006/table">
            <a:tbl>
              <a:tblPr bandRow="1" firstRow="1">
                <a:noFill/>
                <a:tableStyleId>{97F22518-C55D-4401-A6EB-0ED8D26C8151}</a:tableStyleId>
              </a:tblPr>
              <a:tblGrid>
                <a:gridCol w="2420000"/>
                <a:gridCol w="1346859"/>
                <a:gridCol w="1346859"/>
                <a:gridCol w="1346859"/>
                <a:gridCol w="1346859"/>
                <a:gridCol w="1346859"/>
                <a:gridCol w="1346859"/>
                <a:gridCol w="1346859"/>
                <a:gridCol w="1346859"/>
                <a:gridCol w="1143000"/>
                <a:gridCol w="1143000"/>
                <a:gridCol w="1143000"/>
              </a:tblGrid>
              <a:tr h="512075">
                <a:tc>
                  <a:txBody>
                    <a:bodyPr/>
                    <a:lstStyle/>
                    <a:p>
                      <a:pPr indent="0" lvl="0" marL="0" marR="0" rtl="0" algn="l">
                        <a:spcBef>
                          <a:spcPts val="0"/>
                        </a:spcBef>
                        <a:spcAft>
                          <a:spcPts val="0"/>
                        </a:spcAft>
                        <a:buNone/>
                      </a:pPr>
                      <a:r>
                        <a:rPr b="1" lang="en-US" sz="1800" u="none" cap="none" strike="noStrike">
                          <a:solidFill>
                            <a:srgbClr val="6F6B34"/>
                          </a:solidFill>
                          <a:latin typeface="Poppins"/>
                          <a:ea typeface="Poppins"/>
                          <a:cs typeface="Poppins"/>
                          <a:sym typeface="Poppins"/>
                        </a:rPr>
                        <a:t>$K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Q8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6F6B34"/>
                          </a:solidFill>
                          <a:latin typeface="Poppins"/>
                          <a:ea typeface="Poppins"/>
                          <a:cs typeface="Poppins"/>
                          <a:sym typeface="Poppins"/>
                        </a:rPr>
                        <a:t>Yr 5</a:t>
                      </a:r>
                      <a:endParaRPr/>
                    </a:p>
                  </a:txBody>
                  <a:tcPr marT="27425" marB="27425" marR="73150" marL="73150" anchor="ctr">
                    <a:solidFill>
                      <a:srgbClr val="FFFFFF"/>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Active users (K)</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15.2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24.5</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80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208</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540</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Revenue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2.0</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2.6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4.2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140</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356</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Spending</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10.9</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191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283</a:t>
                      </a:r>
                      <a:endParaRPr/>
                    </a:p>
                  </a:txBody>
                  <a:tcPr marT="27425" marB="27425" marR="73150" marL="73150" anchor="ctr">
                    <a:solidFill>
                      <a:srgbClr val="F4F3EC"/>
                    </a:solidFill>
                  </a:tcPr>
                </a:tc>
              </a:tr>
              <a:tr h="512075">
                <a:tc>
                  <a:txBody>
                    <a:bodyPr/>
                    <a:lstStyle/>
                    <a:p>
                      <a:pPr indent="0" lvl="0" marL="0" marR="0" rtl="0" algn="l">
                        <a:spcBef>
                          <a:spcPts val="0"/>
                        </a:spcBef>
                        <a:spcAft>
                          <a:spcPts val="0"/>
                        </a:spcAft>
                        <a:buNone/>
                      </a:pPr>
                      <a:r>
                        <a:rPr b="1" lang="en-US" sz="1800" u="none" cap="none" strike="noStrike">
                          <a:solidFill>
                            <a:srgbClr val="000000"/>
                          </a:solidFill>
                          <a:latin typeface="Poppins"/>
                          <a:ea typeface="Poppins"/>
                          <a:cs typeface="Poppins"/>
                          <a:sym typeface="Poppins"/>
                        </a:rPr>
                        <a:t>Profit or loss</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(10.6)</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(10.7)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(8.8)</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(8.3)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(7.0)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72</a:t>
                      </a:r>
                      <a:endParaRPr/>
                    </a:p>
                  </a:txBody>
                  <a:tcPr marT="27425" marB="27425" marR="73150" marL="73150" anchor="ctr">
                    <a:solidFill>
                      <a:srgbClr val="AAA676"/>
                    </a:solidFill>
                  </a:tcPr>
                </a:tc>
              </a:tr>
              <a:tr h="512075">
                <a:tc>
                  <a:txBody>
                    <a:bodyPr/>
                    <a:lstStyle/>
                    <a:p>
                      <a:pPr indent="0" lvl="0" marL="0" marR="0" rtl="0" algn="l">
                        <a:spcBef>
                          <a:spcPts val="0"/>
                        </a:spcBef>
                        <a:spcAft>
                          <a:spcPts val="0"/>
                        </a:spcAft>
                        <a:buNone/>
                      </a:pPr>
                      <a:r>
                        <a:rPr b="0" lang="en-US" sz="1800" u="none" cap="none" strike="noStrike">
                          <a:solidFill>
                            <a:srgbClr val="434343"/>
                          </a:solidFill>
                          <a:latin typeface="Poppins"/>
                          <a:ea typeface="Poppins"/>
                          <a:cs typeface="Poppins"/>
                          <a:sym typeface="Poppins"/>
                        </a:rPr>
                        <a:t>Cumulative</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(21)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(32)</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(43)</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(51)</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(60)</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(67)</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(74)</a:t>
                      </a:r>
                      <a:endParaRPr/>
                    </a:p>
                  </a:txBody>
                  <a:tcPr marT="27425" marB="27425" marR="73150" marL="73150" anchor="ctr">
                    <a:solidFill>
                      <a:srgbClr val="FFFFFF"/>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(141)</a:t>
                      </a:r>
                      <a:endParaRPr/>
                    </a:p>
                  </a:txBody>
                  <a:tcPr marT="27425" marB="27425" marR="73150" marL="73150" anchor="ctr">
                    <a:solidFill>
                      <a:srgbClr val="F4F3EC"/>
                    </a:solidFill>
                  </a:tcPr>
                </a:tc>
                <a:tc>
                  <a:txBody>
                    <a:bodyPr/>
                    <a:lstStyle/>
                    <a:p>
                      <a:pPr indent="0" lvl="0" marL="0" marR="0" rtl="0" algn="r">
                        <a:spcBef>
                          <a:spcPts val="0"/>
                        </a:spcBef>
                        <a:spcAft>
                          <a:spcPts val="0"/>
                        </a:spcAft>
                        <a:buNone/>
                      </a:pPr>
                      <a:r>
                        <a:rPr b="1" lang="en-US" sz="2000" u="none" cap="none" strike="noStrike">
                          <a:solidFill>
                            <a:srgbClr val="000000"/>
                          </a:solidFill>
                          <a:latin typeface="Poppins"/>
                          <a:ea typeface="Poppins"/>
                          <a:cs typeface="Poppins"/>
                          <a:sym typeface="Poppins"/>
                        </a:rPr>
                        <a:t>(192)</a:t>
                      </a:r>
                      <a:endParaRPr/>
                    </a:p>
                  </a:txBody>
                  <a:tcPr marT="27425" marB="27425" marR="73150" marL="73150" anchor="ctr">
                    <a:solidFill>
                      <a:srgbClr val="AAA676"/>
                    </a:solidFill>
                  </a:tcPr>
                </a:tc>
                <a:tc>
                  <a:txBody>
                    <a:bodyPr/>
                    <a:lstStyle/>
                    <a:p>
                      <a:pPr indent="0" lvl="0" marL="0" marR="0" rtl="0" algn="r">
                        <a:spcBef>
                          <a:spcPts val="0"/>
                        </a:spcBef>
                        <a:spcAft>
                          <a:spcPts val="0"/>
                        </a:spcAft>
                        <a:buNone/>
                      </a:pPr>
                      <a:r>
                        <a:rPr b="0" lang="en-US" sz="1800" u="none" cap="none" strike="noStrike">
                          <a:solidFill>
                            <a:srgbClr val="707070"/>
                          </a:solidFill>
                          <a:latin typeface="Poppins"/>
                          <a:ea typeface="Poppins"/>
                          <a:cs typeface="Poppins"/>
                          <a:sym typeface="Poppins"/>
                        </a:rPr>
                        <a:t>(120)</a:t>
                      </a:r>
                      <a:endParaRPr/>
                    </a:p>
                  </a:txBody>
                  <a:tcPr marT="27425" marB="27425" marR="73150" marL="73150" anchor="ctr">
                    <a:solidFill>
                      <a:srgbClr val="F4F3EC"/>
                    </a:solidFill>
                  </a:tcPr>
                </a:tc>
              </a:tr>
            </a:tbl>
          </a:graphicData>
        </a:graphic>
      </p:graphicFrame>
      <p:sp>
        <p:nvSpPr>
          <p:cNvPr id="280" name="Google Shape;280;p9"/>
          <p:cNvSpPr/>
          <p:nvPr/>
        </p:nvSpPr>
        <p:spPr>
          <a:xfrm>
            <a:off x="822960" y="4123944"/>
            <a:ext cx="16623792" cy="13716"/>
          </a:xfrm>
          <a:prstGeom prst="rect">
            <a:avLst/>
          </a:prstGeom>
          <a:solidFill>
            <a:srgbClr val="6F6B34"/>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1" name="Google Shape;281;p9"/>
          <p:cNvSpPr txBox="1"/>
          <p:nvPr/>
        </p:nvSpPr>
        <p:spPr>
          <a:xfrm>
            <a:off x="877835" y="6995160"/>
            <a:ext cx="2834700" cy="3231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1800" u="none" cap="none" strike="noStrike">
                <a:solidFill>
                  <a:srgbClr val="6F6B34"/>
                </a:solidFill>
                <a:latin typeface="Poppins"/>
                <a:ea typeface="Poppins"/>
                <a:cs typeface="Poppins"/>
                <a:sym typeface="Poppins"/>
              </a:rPr>
              <a:t>What happens</a:t>
            </a:r>
            <a:endParaRPr sz="1800"/>
          </a:p>
        </p:txBody>
      </p:sp>
      <p:sp>
        <p:nvSpPr>
          <p:cNvPr id="282" name="Google Shape;282;p9"/>
          <p:cNvSpPr txBox="1"/>
          <p:nvPr/>
        </p:nvSpPr>
        <p:spPr>
          <a:xfrm>
            <a:off x="3242960"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Build the app</a:t>
            </a:r>
            <a:endParaRPr sz="1600"/>
          </a:p>
        </p:txBody>
      </p:sp>
      <p:sp>
        <p:nvSpPr>
          <p:cNvPr id="283" name="Google Shape;283;p9"/>
          <p:cNvSpPr txBox="1"/>
          <p:nvPr/>
        </p:nvSpPr>
        <p:spPr>
          <a:xfrm>
            <a:off x="4589819"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Launch in Boston</a:t>
            </a:r>
            <a:endParaRPr sz="1600"/>
          </a:p>
        </p:txBody>
      </p:sp>
      <p:sp>
        <p:nvSpPr>
          <p:cNvPr id="284" name="Google Shape;284;p9"/>
          <p:cNvSpPr txBox="1"/>
          <p:nvPr/>
        </p:nvSpPr>
        <p:spPr>
          <a:xfrm>
            <a:off x="5936678"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Grow by referral</a:t>
            </a:r>
            <a:endParaRPr sz="1600"/>
          </a:p>
        </p:txBody>
      </p:sp>
      <p:sp>
        <p:nvSpPr>
          <p:cNvPr id="285" name="Google Shape;285;p9"/>
          <p:cNvSpPr txBox="1"/>
          <p:nvPr/>
        </p:nvSpPr>
        <p:spPr>
          <a:xfrm>
            <a:off x="7283537"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12K users</a:t>
            </a:r>
            <a:endParaRPr sz="1600"/>
          </a:p>
        </p:txBody>
      </p:sp>
      <p:sp>
        <p:nvSpPr>
          <p:cNvPr id="286" name="Google Shape;286;p9"/>
          <p:cNvSpPr txBox="1"/>
          <p:nvPr/>
        </p:nvSpPr>
        <p:spPr>
          <a:xfrm>
            <a:off x="8630396"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First revenue</a:t>
            </a:r>
            <a:endParaRPr sz="1600"/>
          </a:p>
        </p:txBody>
      </p:sp>
      <p:sp>
        <p:nvSpPr>
          <p:cNvPr id="287" name="Google Shape;287;p9"/>
          <p:cNvSpPr txBox="1"/>
          <p:nvPr/>
        </p:nvSpPr>
        <p:spPr>
          <a:xfrm>
            <a:off x="9977255"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More restaurants</a:t>
            </a:r>
            <a:endParaRPr sz="1600"/>
          </a:p>
        </p:txBody>
      </p:sp>
      <p:sp>
        <p:nvSpPr>
          <p:cNvPr id="288" name="Google Shape;288;p9"/>
          <p:cNvSpPr txBox="1"/>
          <p:nvPr/>
        </p:nvSpPr>
        <p:spPr>
          <a:xfrm>
            <a:off x="11324114" y="6995160"/>
            <a:ext cx="1273709"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Pitch chains</a:t>
            </a:r>
            <a:endParaRPr sz="1600"/>
          </a:p>
        </p:txBody>
      </p:sp>
      <p:sp>
        <p:nvSpPr>
          <p:cNvPr id="289" name="Google Shape;289;p9"/>
          <p:cNvSpPr txBox="1"/>
          <p:nvPr/>
        </p:nvSpPr>
        <p:spPr>
          <a:xfrm>
            <a:off x="12670973" y="6995160"/>
            <a:ext cx="1273709" cy="10020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Hire co-op for yr 3</a:t>
            </a:r>
            <a:endParaRPr sz="1600"/>
          </a:p>
        </p:txBody>
      </p:sp>
      <p:sp>
        <p:nvSpPr>
          <p:cNvPr id="290" name="Google Shape;290;p9"/>
          <p:cNvSpPr txBox="1"/>
          <p:nvPr/>
        </p:nvSpPr>
        <p:spPr>
          <a:xfrm>
            <a:off x="14017832" y="6995160"/>
            <a:ext cx="3355850" cy="662700"/>
          </a:xfrm>
          <a:prstGeom prst="rect">
            <a:avLst/>
          </a:prstGeom>
          <a:noFill/>
          <a:ln>
            <a:noFill/>
          </a:ln>
        </p:spPr>
        <p:txBody>
          <a:bodyPr anchorCtr="0" anchor="t" bIns="0" lIns="0" spcFirstLastPara="1" rIns="0" wrap="square" tIns="0">
            <a:spAutoFit/>
          </a:bodyPr>
          <a:lstStyle/>
          <a:p>
            <a:pPr indent="0" lvl="0" marL="0" marR="0" rtl="0" algn="r">
              <a:lnSpc>
                <a:spcPct val="105000"/>
              </a:lnSpc>
              <a:spcBef>
                <a:spcPts val="0"/>
              </a:spcBef>
              <a:spcAft>
                <a:spcPts val="0"/>
              </a:spcAft>
              <a:buNone/>
            </a:pPr>
            <a:r>
              <a:rPr b="0" i="0" lang="en-US" sz="1600" u="none" cap="none" strike="noStrike">
                <a:solidFill>
                  <a:srgbClr val="434343"/>
                </a:solidFill>
                <a:latin typeface="Poppins"/>
                <a:ea typeface="Poppins"/>
                <a:cs typeface="Poppins"/>
                <a:sym typeface="Poppins"/>
              </a:rPr>
              <a:t>Co-op students: 1, 2 and 3 in Years 3 to 5.</a:t>
            </a:r>
            <a:endParaRPr sz="1600"/>
          </a:p>
        </p:txBody>
      </p:sp>
      <p:sp>
        <p:nvSpPr>
          <p:cNvPr id="291" name="Google Shape;291;p9"/>
          <p:cNvSpPr txBox="1"/>
          <p:nvPr/>
        </p:nvSpPr>
        <p:spPr>
          <a:xfrm>
            <a:off x="822960" y="8503920"/>
            <a:ext cx="16642080" cy="8229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434343"/>
                </a:solidFill>
                <a:latin typeface="Poppins"/>
                <a:ea typeface="Poppins"/>
                <a:cs typeface="Poppins"/>
                <a:sym typeface="Poppins"/>
              </a:rPr>
              <a:t>Highlighted: first revenue, the $192K low, and first profit. That low plus a 25% cushion sets the $240K total. Each quarter of Years 1 and 2: $7,500 developer, $1,500 marketing, $1,500 legal and insurance, plus hosting. Nobody else is paid until the angel round funds Year 3.</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sp>
        <p:nvSpPr>
          <p:cNvPr id="297" name="Google Shape;297;p10"/>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How we’d fund it</a:t>
            </a:r>
            <a:endParaRPr/>
          </a:p>
        </p:txBody>
      </p:sp>
      <p:sp>
        <p:nvSpPr>
          <p:cNvPr id="298" name="Google Shape;298;p10"/>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10</a:t>
            </a:r>
            <a:endParaRPr/>
          </a:p>
        </p:txBody>
      </p:sp>
      <p:sp>
        <p:nvSpPr>
          <p:cNvPr id="299" name="Google Shape;299;p10"/>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We’d start on grants, as Beli did. </a:t>
            </a:r>
            <a:r>
              <a:rPr b="0" i="0" lang="en-US" sz="4400" u="none" cap="none" strike="noStrike">
                <a:solidFill>
                  <a:srgbClr val="595959"/>
                </a:solidFill>
                <a:latin typeface="Poppins"/>
                <a:ea typeface="Poppins"/>
                <a:cs typeface="Poppins"/>
                <a:sym typeface="Poppins"/>
              </a:rPr>
              <a:t>In our model, one angel round of about $166K gets us to profit.</a:t>
            </a:r>
            <a:endParaRPr/>
          </a:p>
        </p:txBody>
      </p:sp>
      <p:sp>
        <p:nvSpPr>
          <p:cNvPr id="300" name="Google Shape;300;p10"/>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Beli: Wikipedia (Harvard grants); CB Insights ($5.3M, Nov 2023); Boston Globe, Nov 2025 (users). IDEA Gap Fund: Northeastern Global News. Amounts are from our Gate 2 model.</a:t>
            </a:r>
            <a:endParaRPr/>
          </a:p>
        </p:txBody>
      </p:sp>
      <p:sp>
        <p:nvSpPr>
          <p:cNvPr id="301" name="Google Shape;301;p10"/>
          <p:cNvSpPr txBox="1"/>
          <p:nvPr/>
        </p:nvSpPr>
        <p:spPr>
          <a:xfrm>
            <a:off x="576072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When</a:t>
            </a:r>
            <a:endParaRPr/>
          </a:p>
        </p:txBody>
      </p:sp>
      <p:sp>
        <p:nvSpPr>
          <p:cNvPr id="302" name="Google Shape;302;p10"/>
          <p:cNvSpPr txBox="1"/>
          <p:nvPr/>
        </p:nvSpPr>
        <p:spPr>
          <a:xfrm>
            <a:off x="10058400" y="3657600"/>
            <a:ext cx="740664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we'd show to get it</a:t>
            </a:r>
            <a:endParaRPr/>
          </a:p>
        </p:txBody>
      </p:sp>
      <p:sp>
        <p:nvSpPr>
          <p:cNvPr id="303" name="Google Shape;303;p10"/>
          <p:cNvSpPr/>
          <p:nvPr/>
        </p:nvSpPr>
        <p:spPr>
          <a:xfrm>
            <a:off x="822960" y="4133088"/>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4" name="Google Shape;304;p10"/>
          <p:cNvSpPr txBox="1"/>
          <p:nvPr/>
        </p:nvSpPr>
        <p:spPr>
          <a:xfrm>
            <a:off x="822960" y="434340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Grants and competitions, about $74K</a:t>
            </a:r>
            <a:endParaRPr/>
          </a:p>
        </p:txBody>
      </p:sp>
      <p:sp>
        <p:nvSpPr>
          <p:cNvPr id="305" name="Google Shape;305;p10"/>
          <p:cNvSpPr txBox="1"/>
          <p:nvPr/>
        </p:nvSpPr>
        <p:spPr>
          <a:xfrm>
            <a:off x="576072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Years 1 and 2</a:t>
            </a:r>
            <a:endParaRPr/>
          </a:p>
        </p:txBody>
      </p:sp>
      <p:sp>
        <p:nvSpPr>
          <p:cNvPr id="306" name="Google Shape;306;p10"/>
          <p:cNvSpPr txBox="1"/>
          <p:nvPr/>
        </p:nvSpPr>
        <p:spPr>
          <a:xfrm>
            <a:off x="10058400" y="434340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IDEA Gap Fund and Boston pitch competitions. If we fall short, or the round slips, we cover the gap ourselves.</a:t>
            </a:r>
            <a:endParaRPr/>
          </a:p>
        </p:txBody>
      </p:sp>
      <p:sp>
        <p:nvSpPr>
          <p:cNvPr id="307" name="Google Shape;307;p10"/>
          <p:cNvSpPr/>
          <p:nvPr/>
        </p:nvSpPr>
        <p:spPr>
          <a:xfrm>
            <a:off x="822960" y="57607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8" name="Google Shape;308;p10"/>
          <p:cNvSpPr txBox="1"/>
          <p:nvPr/>
        </p:nvSpPr>
        <p:spPr>
          <a:xfrm>
            <a:off x="822960" y="5989320"/>
            <a:ext cx="4754880" cy="10058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One angel round, about $166K</a:t>
            </a:r>
            <a:endParaRPr/>
          </a:p>
        </p:txBody>
      </p:sp>
      <p:sp>
        <p:nvSpPr>
          <p:cNvPr id="309" name="Google Shape;309;p10"/>
          <p:cNvSpPr txBox="1"/>
          <p:nvPr/>
        </p:nvSpPr>
        <p:spPr>
          <a:xfrm>
            <a:off x="5760720" y="598932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End of Year 2</a:t>
            </a:r>
            <a:endParaRPr/>
          </a:p>
        </p:txBody>
      </p:sp>
      <p:sp>
        <p:nvSpPr>
          <p:cNvPr id="310" name="Google Shape;310;p10"/>
          <p:cNvSpPr txBox="1"/>
          <p:nvPr/>
        </p:nvSpPr>
        <p:spPr>
          <a:xfrm>
            <a:off x="10058400" y="5989320"/>
            <a:ext cx="7406640" cy="13716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31K Boston users, restaurants paying for four quarters, and receipt-proven visits.</a:t>
            </a:r>
            <a:endParaRPr/>
          </a:p>
        </p:txBody>
      </p:sp>
      <p:sp>
        <p:nvSpPr>
          <p:cNvPr id="311" name="Google Shape;311;p10"/>
          <p:cNvSpPr/>
          <p:nvPr/>
        </p:nvSpPr>
        <p:spPr>
          <a:xfrm>
            <a:off x="822960" y="736092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2" name="Google Shape;312;p10"/>
          <p:cNvSpPr txBox="1"/>
          <p:nvPr/>
        </p:nvSpPr>
        <p:spPr>
          <a:xfrm>
            <a:off x="822960" y="768096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434343"/>
                </a:solidFill>
                <a:latin typeface="Poppins"/>
                <a:ea typeface="Poppins"/>
                <a:cs typeface="Poppins"/>
                <a:sym typeface="Poppins"/>
              </a:rPr>
              <a:t>$74K in grants plus $166K from angels: $240K in all. At $356K of Year 5 revenue we're too small for venture funds, so the angels' way out is a sale to a bigger platform or a card company, as Resy sold to American Express.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11"/>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Appendix</a:t>
            </a:r>
            <a:endParaRPr/>
          </a:p>
        </p:txBody>
      </p:sp>
      <p:sp>
        <p:nvSpPr>
          <p:cNvPr id="319" name="Google Shape;319;p11"/>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0" name="Google Shape;320;p11"/>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Two sides pay, and every price starts from a real company’s number. </a:t>
            </a:r>
            <a:r>
              <a:rPr b="0" i="0" lang="en-US" sz="4400" u="none" cap="none" strike="noStrike">
                <a:solidFill>
                  <a:srgbClr val="595959"/>
                </a:solidFill>
                <a:latin typeface="Poppins"/>
                <a:ea typeface="Poppins"/>
                <a:cs typeface="Poppins"/>
                <a:sym typeface="Poppins"/>
              </a:rPr>
              <a:t>How many we sell is our guess.</a:t>
            </a:r>
            <a:endParaRPr/>
          </a:p>
        </p:txBody>
      </p:sp>
      <p:sp>
        <p:nvSpPr>
          <p:cNvPr id="321" name="Google Shape;321;p11"/>
          <p:cNvSpPr txBox="1"/>
          <p:nvPr/>
        </p:nvSpPr>
        <p:spPr>
          <a:xfrm>
            <a:off x="822960" y="9555480"/>
            <a:ext cx="1664208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400" u="none" cap="none" strike="noStrike">
                <a:solidFill>
                  <a:srgbClr val="595959"/>
                </a:solidFill>
                <a:latin typeface="Roboto Mono"/>
                <a:ea typeface="Roboto Mono"/>
                <a:cs typeface="Roboto Mono"/>
                <a:sym typeface="Roboto Mono"/>
              </a:rPr>
              <a:t>OpenTable pricing via Eat App, 2026. TechCrunch, Aug 2024 (Placer.ai). Kakaku.com results, Nov 2025 (Tabelog).</a:t>
            </a:r>
            <a:endParaRPr/>
          </a:p>
        </p:txBody>
      </p:sp>
      <p:sp>
        <p:nvSpPr>
          <p:cNvPr id="341" name="Google Shape;341;p11"/>
          <p:cNvSpPr txBox="1"/>
          <p:nvPr/>
        </p:nvSpPr>
        <p:spPr>
          <a:xfrm>
            <a:off x="822960" y="3657600"/>
            <a:ext cx="393192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Stream</a:t>
            </a:r>
            <a:endParaRPr/>
          </a:p>
        </p:txBody>
      </p:sp>
      <p:sp>
        <p:nvSpPr>
          <p:cNvPr id="322" name="Google Shape;322;p11"/>
          <p:cNvSpPr txBox="1"/>
          <p:nvPr/>
        </p:nvSpPr>
        <p:spPr>
          <a:xfrm>
            <a:off x="4937760" y="3657600"/>
            <a:ext cx="173736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Year 5</a:t>
            </a:r>
            <a:endParaRPr/>
          </a:p>
        </p:txBody>
      </p:sp>
      <p:sp>
        <p:nvSpPr>
          <p:cNvPr id="323" name="Google Shape;323;p11"/>
          <p:cNvSpPr txBox="1"/>
          <p:nvPr/>
        </p:nvSpPr>
        <p:spPr>
          <a:xfrm>
            <a:off x="6949440" y="3657600"/>
            <a:ext cx="10515600" cy="3657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they pay for and why</a:t>
            </a:r>
            <a:endParaRPr/>
          </a:p>
        </p:txBody>
      </p:sp>
      <p:sp>
        <p:nvSpPr>
          <p:cNvPr id="324" name="Google Shape;324;p11"/>
          <p:cNvSpPr/>
          <p:nvPr/>
        </p:nvSpPr>
        <p:spPr>
          <a:xfrm>
            <a:off x="822960" y="4151376"/>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5" name="Google Shape;325;p11"/>
          <p:cNvSpPr txBox="1"/>
          <p:nvPr/>
        </p:nvSpPr>
        <p:spPr>
          <a:xfrm>
            <a:off x="822960" y="434340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Businesses</a:t>
            </a:r>
            <a:endParaRPr/>
          </a:p>
        </p:txBody>
      </p:sp>
      <p:sp>
        <p:nvSpPr>
          <p:cNvPr id="326" name="Google Shape;326;p11"/>
          <p:cNvSpPr txBox="1"/>
          <p:nvPr/>
        </p:nvSpPr>
        <p:spPr>
          <a:xfrm>
            <a:off x="4937760" y="434340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$288K</a:t>
            </a:r>
            <a:endParaRPr/>
          </a:p>
        </p:txBody>
      </p:sp>
      <p:sp>
        <p:nvSpPr>
          <p:cNvPr id="327" name="Google Shape;327;p11"/>
          <p:cNvSpPr txBox="1"/>
          <p:nvPr/>
        </p:nvSpPr>
        <p:spPr>
          <a:xfrm>
            <a:off x="6949440" y="434340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Diners we send ($156K), tables booked ($54K) and area insights for chains ($78K). They pay for customers, not for ads. About $0.90 a diner sits under OpenTable’s $1.00 to $1.50, bookings are a quarter of Tabelog’s rate, and chains pay a quarter of Placer.ai’s.</a:t>
            </a:r>
            <a:endParaRPr/>
          </a:p>
        </p:txBody>
      </p:sp>
      <p:sp>
        <p:nvSpPr>
          <p:cNvPr id="328" name="Google Shape;328;p11"/>
          <p:cNvSpPr/>
          <p:nvPr/>
        </p:nvSpPr>
        <p:spPr>
          <a:xfrm>
            <a:off x="822960" y="61722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9" name="Google Shape;329;p11"/>
          <p:cNvSpPr txBox="1"/>
          <p:nvPr/>
        </p:nvSpPr>
        <p:spPr>
          <a:xfrm>
            <a:off x="822960" y="6355080"/>
            <a:ext cx="393192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Users</a:t>
            </a:r>
            <a:endParaRPr/>
          </a:p>
        </p:txBody>
      </p:sp>
      <p:sp>
        <p:nvSpPr>
          <p:cNvPr id="330" name="Google Shape;330;p11"/>
          <p:cNvSpPr txBox="1"/>
          <p:nvPr/>
        </p:nvSpPr>
        <p:spPr>
          <a:xfrm>
            <a:off x="4937760" y="6355080"/>
            <a:ext cx="1737360" cy="5486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400" u="none" cap="none" strike="noStrike">
                <a:solidFill>
                  <a:srgbClr val="000000"/>
                </a:solidFill>
                <a:latin typeface="Poppins"/>
                <a:ea typeface="Poppins"/>
                <a:cs typeface="Poppins"/>
                <a:sym typeface="Poppins"/>
              </a:rPr>
              <a:t>$67K</a:t>
            </a:r>
            <a:endParaRPr/>
          </a:p>
        </p:txBody>
      </p:sp>
      <p:sp>
        <p:nvSpPr>
          <p:cNvPr id="331" name="Google Shape;331;p11"/>
          <p:cNvSpPr txBox="1"/>
          <p:nvPr/>
        </p:nvSpPr>
        <p:spPr>
          <a:xfrm>
            <a:off x="6949440" y="6355080"/>
            <a:ext cx="10515600" cy="146304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2200" u="none" cap="none" strike="noStrike">
                <a:solidFill>
                  <a:srgbClr val="434343"/>
                </a:solidFill>
                <a:latin typeface="Poppins"/>
                <a:ea typeface="Poppins"/>
                <a:cs typeface="Poppins"/>
                <a:sym typeface="Poppins"/>
              </a:rPr>
              <a:t>The optional $5 a month membership: extras on top of a free app, such as taste match with friends. About 0.3% pay, the same share as Tabelog’s users.</a:t>
            </a:r>
            <a:endParaRPr/>
          </a:p>
        </p:txBody>
      </p:sp>
      <p:sp>
        <p:nvSpPr>
          <p:cNvPr id="332" name="Google Shape;332;p11"/>
          <p:cNvSpPr/>
          <p:nvPr/>
        </p:nvSpPr>
        <p:spPr>
          <a:xfrm>
            <a:off x="822960" y="7772400"/>
            <a:ext cx="16642080" cy="10972"/>
          </a:xfrm>
          <a:prstGeom prst="rect">
            <a:avLst/>
          </a:prstGeom>
          <a:solidFill>
            <a:srgbClr val="D9D9D9"/>
          </a:solidFill>
          <a:ln>
            <a:noFill/>
          </a:ln>
          <a:effectLst>
            <a:outerShdw blurRad="40000" rotWithShape="0" dir="5400000" dist="23000">
              <a:srgbClr val="000000">
                <a:alpha val="34902"/>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2"/>
          <p:cNvSpPr txBox="1"/>
          <p:nvPr/>
        </p:nvSpPr>
        <p:spPr>
          <a:xfrm>
            <a:off x="822960" y="685800"/>
            <a:ext cx="1097280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1800" u="none" cap="none" strike="noStrike">
                <a:solidFill>
                  <a:srgbClr val="6F6B34"/>
                </a:solidFill>
                <a:latin typeface="Poppins"/>
                <a:ea typeface="Poppins"/>
                <a:cs typeface="Poppins"/>
                <a:sym typeface="Poppins"/>
              </a:rPr>
              <a:t>In summary</a:t>
            </a:r>
            <a:endParaRPr/>
          </a:p>
        </p:txBody>
      </p:sp>
      <p:sp>
        <p:nvSpPr>
          <p:cNvPr id="114" name="Google Shape;114;p2"/>
          <p:cNvSpPr txBox="1"/>
          <p:nvPr/>
        </p:nvSpPr>
        <p:spPr>
          <a:xfrm>
            <a:off x="16093440" y="685800"/>
            <a:ext cx="1371600" cy="365760"/>
          </a:xfrm>
          <a:prstGeom prst="rect">
            <a:avLst/>
          </a:prstGeom>
          <a:noFill/>
          <a:ln>
            <a:noFill/>
          </a:ln>
        </p:spPr>
        <p:txBody>
          <a:bodyPr anchorCtr="0" anchor="t" bIns="0" lIns="0" spcFirstLastPara="1" rIns="0" wrap="square" tIns="0">
            <a:spAutoFit/>
          </a:bodyPr>
          <a:lstStyle/>
          <a:p>
            <a:pPr indent="0" lvl="0" marL="0" marR="0" rtl="0" algn="r">
              <a:lnSpc>
                <a:spcPct val="110000"/>
              </a:lnSpc>
              <a:spcBef>
                <a:spcPts val="0"/>
              </a:spcBef>
              <a:spcAft>
                <a:spcPts val="0"/>
              </a:spcAft>
              <a:buNone/>
            </a:pPr>
            <a:r>
              <a:rPr b="0" i="0" lang="en-US" sz="1400" u="none" cap="none" strike="noStrike">
                <a:solidFill>
                  <a:srgbClr val="595959"/>
                </a:solidFill>
                <a:latin typeface="Poppins"/>
                <a:ea typeface="Poppins"/>
                <a:cs typeface="Poppins"/>
                <a:sym typeface="Poppins"/>
              </a:rPr>
              <a:t>11</a:t>
            </a:r>
            <a:endParaRPr/>
          </a:p>
        </p:txBody>
      </p:sp>
      <p:sp>
        <p:nvSpPr>
          <p:cNvPr id="115" name="Google Shape;115;p2"/>
          <p:cNvSpPr txBox="1"/>
          <p:nvPr/>
        </p:nvSpPr>
        <p:spPr>
          <a:xfrm>
            <a:off x="822960" y="1234440"/>
            <a:ext cx="15087600" cy="201168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4400" u="none" cap="none" strike="noStrike">
                <a:solidFill>
                  <a:srgbClr val="000000"/>
                </a:solidFill>
                <a:latin typeface="Poppins"/>
                <a:ea typeface="Poppins"/>
                <a:cs typeface="Poppins"/>
                <a:sym typeface="Poppins"/>
              </a:rPr>
              <a:t xml:space="preserve">Picking where to eat takes several apps today. </a:t>
            </a:r>
            <a:r>
              <a:rPr b="0" i="0" lang="en-US" sz="4400" u="none" cap="none" strike="noStrike">
                <a:solidFill>
                  <a:srgbClr val="595959"/>
                </a:solidFill>
                <a:latin typeface="Poppins"/>
                <a:ea typeface="Poppins"/>
                <a:cs typeface="Poppins"/>
                <a:sym typeface="Poppins"/>
              </a:rPr>
              <a:t>We think it can take one.</a:t>
            </a:r>
            <a:endParaRPr/>
          </a:p>
        </p:txBody>
      </p:sp>
      <p:sp>
        <p:nvSpPr>
          <p:cNvPr id="900" name="Google Shape;900;p2"/>
          <p:cNvSpPr txBox="1"/>
          <p:nvPr/>
        </p:nvSpPr>
        <p:spPr>
          <a:xfrm>
            <a:off x="82296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Trust</a:t>
            </a:r>
            <a:endParaRPr/>
          </a:p>
        </p:txBody>
      </p:sp>
      <p:sp>
        <p:nvSpPr>
          <p:cNvPr id="901" name="Google Shape;901;p2"/>
          <p:cNvSpPr txBox="1"/>
          <p:nvPr/>
        </p:nvSpPr>
        <p:spPr>
          <a:xfrm>
            <a:off x="82296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Only diners who proved they ate there count toward our score.</a:t>
            </a:r>
            <a:endParaRPr/>
          </a:p>
        </p:txBody>
      </p:sp>
      <p:sp>
        <p:nvSpPr>
          <p:cNvPr id="902" name="Google Shape;902;p2"/>
          <p:cNvSpPr txBox="1"/>
          <p:nvPr/>
        </p:nvSpPr>
        <p:spPr>
          <a:xfrm>
            <a:off x="649224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Money</a:t>
            </a:r>
            <a:endParaRPr/>
          </a:p>
        </p:txBody>
      </p:sp>
      <p:sp>
        <p:nvSpPr>
          <p:cNvPr id="903" name="Google Shape;903;p2"/>
          <p:cNvSpPr txBox="1"/>
          <p:nvPr/>
        </p:nvSpPr>
        <p:spPr>
          <a:xfrm>
            <a:off x="649224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Restaurants would pay for the diners we send. Users never have to pay.</a:t>
            </a:r>
            <a:endParaRPr/>
          </a:p>
        </p:txBody>
      </p:sp>
      <p:sp>
        <p:nvSpPr>
          <p:cNvPr id="904" name="Google Shape;904;p2"/>
          <p:cNvSpPr txBox="1"/>
          <p:nvPr/>
        </p:nvSpPr>
        <p:spPr>
          <a:xfrm>
            <a:off x="12161520" y="393192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Path</a:t>
            </a:r>
            <a:endParaRPr/>
          </a:p>
        </p:txBody>
      </p:sp>
      <p:sp>
        <p:nvSpPr>
          <p:cNvPr id="905" name="Google Shape;905;p2"/>
          <p:cNvSpPr txBox="1"/>
          <p:nvPr/>
        </p:nvSpPr>
        <p:spPr>
          <a:xfrm>
            <a:off x="12161520" y="4526280"/>
            <a:ext cx="4937760" cy="182880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Grants first, then one angel round. Our model shows profit in Year 5.</a:t>
            </a:r>
            <a:endParaRPr/>
          </a:p>
        </p:txBody>
      </p:sp>
      <p:sp>
        <p:nvSpPr>
          <p:cNvPr id="906" name="Google Shape;906;p2"/>
          <p:cNvSpPr txBox="1"/>
          <p:nvPr/>
        </p:nvSpPr>
        <p:spPr>
          <a:xfrm>
            <a:off x="822960" y="7223760"/>
            <a:ext cx="5120640" cy="41148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1" i="0" lang="en-US" sz="2400" u="none" cap="none" strike="noStrike">
                <a:solidFill>
                  <a:srgbClr val="6F6B34"/>
                </a:solidFill>
                <a:latin typeface="Poppins"/>
                <a:ea typeface="Poppins"/>
                <a:cs typeface="Poppins"/>
                <a:sym typeface="Poppins"/>
              </a:rPr>
              <a:t>What we still need to prove</a:t>
            </a:r>
            <a:endParaRPr/>
          </a:p>
        </p:txBody>
      </p:sp>
      <p:sp>
        <p:nvSpPr>
          <p:cNvPr id="907" name="Google Shape;907;p2"/>
          <p:cNvSpPr txBox="1"/>
          <p:nvPr/>
        </p:nvSpPr>
        <p:spPr>
          <a:xfrm>
            <a:off x="822960" y="7818120"/>
            <a:ext cx="16002000" cy="1280160"/>
          </a:xfrm>
          <a:prstGeom prst="rect">
            <a:avLst/>
          </a:prstGeom>
          <a:noFill/>
          <a:ln>
            <a:noFill/>
          </a:ln>
        </p:spPr>
        <p:txBody>
          <a:bodyPr anchorCtr="0" anchor="t" bIns="0" lIns="0" spcFirstLastPara="1" rIns="0" wrap="square" tIns="0">
            <a:spAutoFit/>
          </a:bodyPr>
          <a:lstStyle/>
          <a:p>
            <a:pPr indent="0" lvl="0" marL="0" marR="0" rtl="0" algn="l">
              <a:lnSpc>
                <a:spcPct val="110000"/>
              </a:lnSpc>
              <a:spcBef>
                <a:spcPts val="0"/>
              </a:spcBef>
              <a:spcAft>
                <a:spcPts val="0"/>
              </a:spcAft>
              <a:buNone/>
            </a:pPr>
            <a:r>
              <a:rPr b="0" i="0" lang="en-US" sz="3000" u="none" cap="none" strike="noStrike">
                <a:solidFill>
                  <a:srgbClr val="000000"/>
                </a:solidFill>
                <a:latin typeface="Poppins"/>
                <a:ea typeface="Poppins"/>
                <a:cs typeface="Poppins"/>
                <a:sym typeface="Poppins"/>
              </a:rPr>
              <a:t>Whether restaurants will pay, and whether people will scan receipts. Next: five owner calls with a free 30-day pilot, and a receipt-scan test with about 10 users.</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