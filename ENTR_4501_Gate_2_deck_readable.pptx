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y="10287000" cx="18288000"/>
  <p:notesSz cx="6858000" cy="9144000"/>
  <p:embeddedFontLst>
    <p:embeddedFont>
      <p:font typeface="Poppins"/>
      <p:regular r:id="rId18"/>
      <p:bold r:id="rId19"/>
      <p:italic r:id="rId20"/>
      <p:boldItalic r:id="rId21"/>
    </p:embeddedFont>
    <p:embeddedFont>
      <p:font typeface="Roboto Mono"/>
      <p:regular r:id="rId22"/>
      <p:bold r:id="rId23"/>
      <p:italic r:id="rId24"/>
      <p:boldItalic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r:id="rId26" roundtripDataSignature="AMtx7mgVIghjQh70tcTpDwPPuhVU0tDXX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97F22518-C55D-4401-A6EB-0ED8D26C8151}">
  <a:tblStyle styleId="{97F22518-C55D-4401-A6EB-0ED8D26C8151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fill>
          <a:solidFill>
            <a:srgbClr val="CFD7E7"/>
          </a:solidFill>
        </a:fill>
      </a:tcStyle>
    </a:band1H>
    <a:band2H>
      <a:tcTxStyle/>
    </a:band2H>
    <a:band1V>
      <a:tcTxStyle/>
      <a:tcStyle>
        <a:fill>
          <a:solidFill>
            <a:srgbClr val="CFD7E7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Poppins-italic.fntdata"/><Relationship Id="rId22" Type="http://schemas.openxmlformats.org/officeDocument/2006/relationships/font" Target="fonts/RobotoMono-regular.fntdata"/><Relationship Id="rId21" Type="http://schemas.openxmlformats.org/officeDocument/2006/relationships/font" Target="fonts/Poppins-boldItalic.fntdata"/><Relationship Id="rId24" Type="http://schemas.openxmlformats.org/officeDocument/2006/relationships/font" Target="fonts/RobotoMono-italic.fntdata"/><Relationship Id="rId23" Type="http://schemas.openxmlformats.org/officeDocument/2006/relationships/font" Target="fonts/RobotoMono-bold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26" Type="http://customschemas.google.com/relationships/presentationmetadata" Target="metadata"/><Relationship Id="rId25" Type="http://schemas.openxmlformats.org/officeDocument/2006/relationships/font" Target="fonts/RobotoMono-boldItalic.fntdata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font" Target="fonts/Poppins-bold.fntdata"/><Relationship Id="rId18" Type="http://schemas.openxmlformats.org/officeDocument/2006/relationships/font" Target="fonts/Poppins-regular.fnt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2" name="Google Shape;82;p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/>
              <a:t>We’re building a free app that tells you where to eat in Boston. We’re starting at Northeastern.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/>
              <a:t>It’s for students and young professionals who want a great meal but can’t trust the ratings. Right now you check Google Maps, then Yelp, then Instagram, then TikTok, then Beli, and you still end up guessing.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/>
              <a:t>Our app puts the reviews, the posts, the hours and booking for a place on one page. And our score only counts people who proved they ate there.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/>
              <a:t>We don’t have a name yet. Here’s why we think it’s worth building.</a:t>
            </a:r>
          </a:p>
        </p:txBody>
      </p:sp>
      <p:sp>
        <p:nvSpPr>
          <p:cNvPr id="83" name="Google Shape;83;p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10" name="Google Shape;110;p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/>
              <a:t>We talked to 35 students and young professionals this fall. Almost all of them described the same routine.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/>
              <a:t>They open Google Maps to see what’s nearby. Then Instagram or TikTok to see the food. Then they ask a friend if it’s good. Then they go, and it’s still a miss.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/>
              <a:t>Two things came up again and again. Nobody has one place to save where they want to go. And they want one app they can trust.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/>
              <a:t>There’s plenty of information out there. Knowing which of it to trust is the hard part.</a:t>
            </a:r>
          </a:p>
        </p:txBody>
      </p:sp>
      <p:sp>
        <p:nvSpPr>
          <p:cNvPr id="111" name="Google Shape;111;p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34" name="Google Shape;134;p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/>
              <a:t>The app does three things: find, compare and keep.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/>
              <a:t>Find: what’s open near you, filtered by diet, price and distance, plus new places people are talking about.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/>
              <a:t>Compare: every rating and post for a place on one page, next to our own score. Our score only counts diners who scanned a receipt, and nobody can pay to rank higher.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/>
              <a:t>Keep: your history, your lists, and booking a table.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/>
              <a:t>All of it is free. You asked whether people would pay for a dietary filter. We think they shouldn’t. A halal or nut-free search is what sends a restaurant the diner it pays for, so it stays free.</a:t>
            </a:r>
          </a:p>
        </p:txBody>
      </p:sp>
      <p:sp>
        <p:nvSpPr>
          <p:cNvPr id="135" name="Google Shape;135;p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53" name="Google Shape;153;p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/>
              <a:t>These are four screens from our concept. Every score and person on them is made up.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/>
              <a:t>One, start nearby. You open the app and see what’s open around you.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/>
              <a:t>Two, let it pick. You get one best bet that’s open, close, in your budget and fits your diet, and you see which friends have been.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/>
              <a:t>Three, see why. Three picks for the occasion, each with a reason.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/>
              <a:t>Four, check every rating. Our verified score sits next to Google, Yelp, Beli, Reddit and TikTok, and creators’ paid posts are flagged.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/>
              <a:t>Next we put this in front of students on campus.</a:t>
            </a:r>
          </a:p>
        </p:txBody>
      </p:sp>
      <p:sp>
        <p:nvSpPr>
          <p:cNvPr id="154" name="Google Shape;154;p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2" name="Google Shape;172;p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/>
              <a:t>Start with the smallest number. Boston has 162,000 college students, and we want 12,000 of them in Year 1.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/>
              <a:t>Zoom out and there are about 19 million college students in the US. That’s who we can reach, one campus at a time. The bigger pool is 77.8 million people between 18 and 34.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/>
              <a:t>By Year 5 we want 540,000 active users. That’s 2.8% of US college students, inside the 2 to 5% range we talked about in class.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/>
              <a:t>On the other side, Boston has 3,350 licensed places to eat. Those are the businesses that will pay us.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/>
              <a:t>People ask why not Beli. Beli ranks where you’ve been. We tell you where to go right now, with scores people proved.</a:t>
            </a:r>
          </a:p>
        </p:txBody>
      </p:sp>
      <p:sp>
        <p:nvSpPr>
          <p:cNvPr id="173" name="Google Shape;173;p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97" name="Google Shape;197;p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/>
              <a:t>How do we get our first users? One friend at a time.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/>
              <a:t>The first ten are people we interviewed, plus our friends. They test the prototype this semester, and what we tell them is: help us build it.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/>
              <a:t>The first hundred are Northeastern students they invite, plus clubs and group chats. Now the pitch is every rating for a place, in one app.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/>
              <a:t>The first thousand come from other Boston campuses, through student ambassadors and food posts. One app instead of five tabs.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/>
              <a:t>It’s the same loop every time. A friend tells you, you download, you save a place, you invite someone. About 80% of Beli’s users arrived that way, and it’s how we get to 12,000 by the end of Year 1.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/>
              <a:t>Users never pay. Restaurants do, and that’s next.</a:t>
            </a:r>
          </a:p>
        </p:txBody>
      </p:sp>
      <p:sp>
        <p:nvSpPr>
          <p:cNvPr id="198" name="Google Shape;198;p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2" name="Google Shape;222;p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/>
              <a:t>Here’s how we make money. Restaurants pay for the diners we send them, not for ads.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/>
              <a:t>Today a restaurant pays for ads and boosted posts before it knows if anyone will walk in. We flip that. It pays about 90 cents, and only after a receipt shows the diner came. OpenTable charges $1 to $1.50 a diner.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/>
              <a:t>Booking sites pay per table. And from Year 3, chains pay $6,000 a year per neighborhood to see what people there eat. All of that adds up to $288,000 in Year 5.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/>
              <a:t>On the user side the app is free. About 3 in 1,000 pay $5 a month for extras, and that’s another $67,000.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/>
              <a:t>So $356,000 in Year 5. Nothing anyone pays changes a score or a ranking.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/>
              <a:t>We haven’t talked to restaurant owners yet. Five owner calls are next, each with a free 30-day pilot and a report on the diners we sent.</a:t>
            </a:r>
          </a:p>
        </p:txBody>
      </p:sp>
      <p:sp>
        <p:nvSpPr>
          <p:cNvPr id="223" name="Google Shape;223;p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5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7" name="Google Shape;247;p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/>
              <a:t>Before we built our numbers, we looked at the apps closest to us. None of them made money early.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/>
              <a:t>OpenTable took nine years to turn a profit and lost $57 million getting there. Resy ran on $45 million of investor money and then sold. Beli has 1.1 million monthly users, mostly through friends, with five people and almost no revenue.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/>
              <a:t>So we made three choices. No salaries, and co-op students before hires. Costs low enough that we only need about $240,000, starting with grants. And Beli as our yardstick: a quarter of its size, almost no ads, and restaurants paying from Year 2.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/>
              <a:t>The trade-off is a smaller team, and it only works if restaurants sign up.</a:t>
            </a:r>
          </a:p>
        </p:txBody>
      </p:sp>
      <p:sp>
        <p:nvSpPr>
          <p:cNvPr id="248" name="Google Shape;248;p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72" name="Google Shape;272;p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/>
              <a:t>These are our numbers. Look at the three highlighted ones.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/>
              <a:t>Years 1 and 2 are flat on purpose, about $11,000 a quarter. That’s a contract developer at $7,500, $1,500 for marketing, $1,500 for legal and insurance, and a little hosting. Nobody else gets paid until restaurants do.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/>
              <a:t>The first highlight is Year 2, when the first revenue comes in. From Year 3, co-op students join as our users grow.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/>
              <a:t>The second is the low point, about $192,000 down in Year 4. That’s why we’re raising $240,000: the low point plus a 25% cushion.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/>
              <a:t>The third is Year 5, our first profitable year, at about $72,000.</a:t>
            </a:r>
          </a:p>
        </p:txBody>
      </p:sp>
      <p:sp>
        <p:nvSpPr>
          <p:cNvPr id="273" name="Google Shape;273;p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10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94" name="Google Shape;294;p10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/>
              <a:t>Last piece: how we pay for it.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/>
              <a:t>We start with grants, the way Beli did. Northeastern’s IDEA Gap Fund and pitch competitions around Boston, about $74,000, cover Years 1 and 2. If we fall short, we cover the gap ourselves.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/>
              <a:t>At the end of Year 2 we raise one angel round, about $166,000. What we’ll show them is about 31,000 Boston users, a year of restaurants paying for diners we sent, and visits proven by receipts. We’d look for angels through IDEA, competition judges and our own networks.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/>
              <a:t>Together that’s the $240,000. At $356,000 of revenue in Year 5 we’re too small for venture funds, so the angels’ way out is a sale to a bigger platform or a card company, the way Resy sold to American Express.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/>
              <a:t>Thank you. We’re happy to take questions.</a:t>
            </a:r>
          </a:p>
        </p:txBody>
      </p:sp>
      <p:sp>
        <p:nvSpPr>
          <p:cNvPr id="295" name="Google Shape;295;p10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1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15" name="Google Shape;315;p1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/>
              <a:t>This one is for questions. It shows where each price comes from.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/>
              <a:t>Businesses pay $288,000 in Year 5: $156,000 for diners we send, $54,000 for tables booked and $78,000 for area insights for chains. About 90 cents a diner sits under OpenTable’s $1 to $1.50. Bookings are a quarter of Tabelog’s rate, and chains pay a quarter of what Placer.ai charges.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/>
              <a:t>Users pay $67,000 for the optional $5 a month membership. About 0.3% sign up, the same share as Tabelog’s users.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/>
              <a:t>Every price starts from a real company’s number. How many we sell is our guess.</a:t>
            </a:r>
          </a:p>
        </p:txBody>
      </p:sp>
      <p:sp>
        <p:nvSpPr>
          <p:cNvPr id="316" name="Google Shape;316;p1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1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1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4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14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1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1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1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5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15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1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1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1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6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16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1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1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1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17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17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1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1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18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18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18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18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1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1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1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9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1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1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1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0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20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20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2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2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2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1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21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21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2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2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2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2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22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2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2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2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3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23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2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2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2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2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"/>
          <p:cNvSpPr txBox="1"/>
          <p:nvPr/>
        </p:nvSpPr>
        <p:spPr>
          <a:xfrm>
            <a:off x="822960" y="685800"/>
            <a:ext cx="109728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6F6B34"/>
                </a:solidFill>
                <a:latin typeface="Poppins"/>
                <a:ea typeface="Poppins"/>
                <a:cs typeface="Poppins"/>
                <a:sym typeface="Poppins"/>
              </a:rPr>
              <a:t>What we offer</a:t>
            </a:r>
            <a:endParaRPr/>
          </a:p>
        </p:txBody>
      </p:sp>
      <p:sp>
        <p:nvSpPr>
          <p:cNvPr id="86" name="Google Shape;86;p1"/>
          <p:cNvSpPr txBox="1"/>
          <p:nvPr/>
        </p:nvSpPr>
        <p:spPr>
          <a:xfrm>
            <a:off x="16093440" y="685800"/>
            <a:ext cx="1371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95959"/>
                </a:solidFill>
                <a:latin typeface="Poppins"/>
                <a:ea typeface="Poppins"/>
                <a:cs typeface="Poppins"/>
                <a:sym typeface="Poppins"/>
              </a:rPr>
              <a:t>1</a:t>
            </a:r>
            <a:endParaRPr/>
          </a:p>
        </p:txBody>
      </p:sp>
      <p:sp>
        <p:nvSpPr>
          <p:cNvPr id="87" name="Google Shape;87;p1"/>
          <p:cNvSpPr txBox="1"/>
          <p:nvPr/>
        </p:nvSpPr>
        <p:spPr>
          <a:xfrm>
            <a:off x="822960" y="1234440"/>
            <a:ext cx="15087600" cy="2011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44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A free app that recommends where to eat and go out, </a:t>
            </a:r>
            <a:r>
              <a:rPr b="0" i="0" lang="en-US" sz="4400" u="none" cap="none" strike="noStrike">
                <a:solidFill>
                  <a:srgbClr val="595959"/>
                </a:solidFill>
                <a:latin typeface="Poppins"/>
                <a:ea typeface="Poppins"/>
                <a:cs typeface="Poppins"/>
                <a:sym typeface="Poppins"/>
              </a:rPr>
              <a:t>all in one simple-to-use platform.</a:t>
            </a:r>
            <a:endParaRPr/>
          </a:p>
        </p:txBody>
      </p:sp>
      <p:sp>
        <p:nvSpPr>
          <p:cNvPr id="88" name="Google Shape;88;p1"/>
          <p:cNvSpPr txBox="1"/>
          <p:nvPr/>
        </p:nvSpPr>
        <p:spPr>
          <a:xfrm>
            <a:off x="822960" y="9555480"/>
            <a:ext cx="166420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95959"/>
                </a:solidFill>
                <a:latin typeface="Roboto Mono"/>
                <a:ea typeface="Roboto Mono"/>
                <a:cs typeface="Roboto Mono"/>
                <a:sym typeface="Roboto Mono"/>
              </a:rPr>
              <a:t>Our value proposition. The app doesn't have a name yet.</a:t>
            </a:r>
            <a:endParaRPr/>
          </a:p>
        </p:txBody>
      </p:sp>
      <p:sp>
        <p:nvSpPr>
          <p:cNvPr id="89" name="Google Shape;89;p1"/>
          <p:cNvSpPr/>
          <p:nvPr/>
        </p:nvSpPr>
        <p:spPr>
          <a:xfrm>
            <a:off x="822960" y="3739896"/>
            <a:ext cx="16642080" cy="10972"/>
          </a:xfrm>
          <a:prstGeom prst="rect">
            <a:avLst/>
          </a:prstGeom>
          <a:solidFill>
            <a:srgbClr val="D9D9D9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1"/>
          <p:cNvSpPr txBox="1"/>
          <p:nvPr/>
        </p:nvSpPr>
        <p:spPr>
          <a:xfrm>
            <a:off x="822960" y="3886200"/>
            <a:ext cx="27432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6F6B34"/>
                </a:solidFill>
                <a:latin typeface="Poppins"/>
                <a:ea typeface="Poppins"/>
                <a:cs typeface="Poppins"/>
                <a:sym typeface="Poppins"/>
              </a:rPr>
              <a:t>For</a:t>
            </a:r>
            <a:endParaRPr/>
          </a:p>
        </p:txBody>
      </p:sp>
      <p:sp>
        <p:nvSpPr>
          <p:cNvPr id="91" name="Google Shape;91;p1"/>
          <p:cNvSpPr txBox="1"/>
          <p:nvPr/>
        </p:nvSpPr>
        <p:spPr>
          <a:xfrm>
            <a:off x="3657600" y="3886200"/>
            <a:ext cx="138074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434343"/>
                </a:solidFill>
                <a:latin typeface="Poppins"/>
                <a:ea typeface="Poppins"/>
                <a:cs typeface="Poppins"/>
                <a:sym typeface="Poppins"/>
              </a:rPr>
              <a:t>students and young professionals in Boston, starting at Northeastern</a:t>
            </a:r>
            <a:endParaRPr/>
          </a:p>
        </p:txBody>
      </p:sp>
      <p:sp>
        <p:nvSpPr>
          <p:cNvPr id="92" name="Google Shape;92;p1"/>
          <p:cNvSpPr/>
          <p:nvPr/>
        </p:nvSpPr>
        <p:spPr>
          <a:xfrm>
            <a:off x="822960" y="4526280"/>
            <a:ext cx="16642080" cy="10972"/>
          </a:xfrm>
          <a:prstGeom prst="rect">
            <a:avLst/>
          </a:prstGeom>
          <a:solidFill>
            <a:srgbClr val="D9D9D9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1"/>
          <p:cNvSpPr txBox="1"/>
          <p:nvPr/>
        </p:nvSpPr>
        <p:spPr>
          <a:xfrm>
            <a:off x="822960" y="4672584"/>
            <a:ext cx="27432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6F6B34"/>
                </a:solidFill>
                <a:latin typeface="Poppins"/>
                <a:ea typeface="Poppins"/>
                <a:cs typeface="Poppins"/>
                <a:sym typeface="Poppins"/>
              </a:rPr>
              <a:t>Who</a:t>
            </a:r>
            <a:endParaRPr/>
          </a:p>
        </p:txBody>
      </p:sp>
      <p:sp>
        <p:nvSpPr>
          <p:cNvPr id="94" name="Google Shape;94;p1"/>
          <p:cNvSpPr txBox="1"/>
          <p:nvPr/>
        </p:nvSpPr>
        <p:spPr>
          <a:xfrm>
            <a:off x="3657600" y="4672584"/>
            <a:ext cx="138074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434343"/>
                </a:solidFill>
                <a:latin typeface="Poppins"/>
                <a:ea typeface="Poppins"/>
                <a:cs typeface="Poppins"/>
                <a:sym typeface="Poppins"/>
              </a:rPr>
              <a:t>want great places to eat but can't trust the ratings</a:t>
            </a:r>
            <a:endParaRPr/>
          </a:p>
        </p:txBody>
      </p:sp>
      <p:sp>
        <p:nvSpPr>
          <p:cNvPr id="95" name="Google Shape;95;p1"/>
          <p:cNvSpPr/>
          <p:nvPr/>
        </p:nvSpPr>
        <p:spPr>
          <a:xfrm>
            <a:off x="822960" y="5312664"/>
            <a:ext cx="16642080" cy="10972"/>
          </a:xfrm>
          <a:prstGeom prst="rect">
            <a:avLst/>
          </a:prstGeom>
          <a:solidFill>
            <a:srgbClr val="D9D9D9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1"/>
          <p:cNvSpPr txBox="1"/>
          <p:nvPr/>
        </p:nvSpPr>
        <p:spPr>
          <a:xfrm>
            <a:off x="822960" y="5458968"/>
            <a:ext cx="27432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6F6B34"/>
                </a:solidFill>
                <a:latin typeface="Poppins"/>
                <a:ea typeface="Poppins"/>
                <a:cs typeface="Poppins"/>
                <a:sym typeface="Poppins"/>
              </a:rPr>
              <a:t>Our app is</a:t>
            </a:r>
            <a:endParaRPr/>
          </a:p>
        </p:txBody>
      </p:sp>
      <p:sp>
        <p:nvSpPr>
          <p:cNvPr id="97" name="Google Shape;97;p1"/>
          <p:cNvSpPr txBox="1"/>
          <p:nvPr/>
        </p:nvSpPr>
        <p:spPr>
          <a:xfrm>
            <a:off x="3657600" y="5458968"/>
            <a:ext cx="138074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434343"/>
                </a:solidFill>
                <a:latin typeface="Poppins"/>
                <a:ea typeface="Poppins"/>
                <a:cs typeface="Poppins"/>
                <a:sym typeface="Poppins"/>
              </a:rPr>
              <a:t>a free restaurant guide</a:t>
            </a:r>
            <a:endParaRPr/>
          </a:p>
        </p:txBody>
      </p:sp>
      <p:sp>
        <p:nvSpPr>
          <p:cNvPr id="98" name="Google Shape;98;p1"/>
          <p:cNvSpPr/>
          <p:nvPr/>
        </p:nvSpPr>
        <p:spPr>
          <a:xfrm>
            <a:off x="822960" y="6099048"/>
            <a:ext cx="16642080" cy="10972"/>
          </a:xfrm>
          <a:prstGeom prst="rect">
            <a:avLst/>
          </a:prstGeom>
          <a:solidFill>
            <a:srgbClr val="D9D9D9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1"/>
          <p:cNvSpPr txBox="1"/>
          <p:nvPr/>
        </p:nvSpPr>
        <p:spPr>
          <a:xfrm>
            <a:off x="822960" y="6245352"/>
            <a:ext cx="27432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6F6B34"/>
                </a:solidFill>
                <a:latin typeface="Poppins"/>
                <a:ea typeface="Poppins"/>
                <a:cs typeface="Poppins"/>
                <a:sym typeface="Poppins"/>
              </a:rPr>
              <a:t>That</a:t>
            </a:r>
            <a:endParaRPr/>
          </a:p>
        </p:txBody>
      </p:sp>
      <p:sp>
        <p:nvSpPr>
          <p:cNvPr id="100" name="Google Shape;100;p1"/>
          <p:cNvSpPr txBox="1"/>
          <p:nvPr/>
        </p:nvSpPr>
        <p:spPr>
          <a:xfrm>
            <a:off x="3657600" y="6245352"/>
            <a:ext cx="138074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434343"/>
                </a:solidFill>
                <a:latin typeface="Poppins"/>
                <a:ea typeface="Poppins"/>
                <a:cs typeface="Poppins"/>
                <a:sym typeface="Poppins"/>
              </a:rPr>
              <a:t>puts reviews, posts, hours and booking for each place on one page</a:t>
            </a:r>
            <a:endParaRPr/>
          </a:p>
        </p:txBody>
      </p:sp>
      <p:sp>
        <p:nvSpPr>
          <p:cNvPr id="101" name="Google Shape;101;p1"/>
          <p:cNvSpPr/>
          <p:nvPr/>
        </p:nvSpPr>
        <p:spPr>
          <a:xfrm>
            <a:off x="822960" y="6885431"/>
            <a:ext cx="16642080" cy="10972"/>
          </a:xfrm>
          <a:prstGeom prst="rect">
            <a:avLst/>
          </a:prstGeom>
          <a:solidFill>
            <a:srgbClr val="D9D9D9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1"/>
          <p:cNvSpPr txBox="1"/>
          <p:nvPr/>
        </p:nvSpPr>
        <p:spPr>
          <a:xfrm>
            <a:off x="822960" y="7031736"/>
            <a:ext cx="27432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6F6B34"/>
                </a:solidFill>
                <a:latin typeface="Poppins"/>
                <a:ea typeface="Poppins"/>
                <a:cs typeface="Poppins"/>
                <a:sym typeface="Poppins"/>
              </a:rPr>
              <a:t>Unlike</a:t>
            </a:r>
            <a:endParaRPr/>
          </a:p>
        </p:txBody>
      </p:sp>
      <p:sp>
        <p:nvSpPr>
          <p:cNvPr id="103" name="Google Shape;103;p1"/>
          <p:cNvSpPr txBox="1"/>
          <p:nvPr/>
        </p:nvSpPr>
        <p:spPr>
          <a:xfrm>
            <a:off x="3657600" y="7031736"/>
            <a:ext cx="138074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434343"/>
                </a:solidFill>
                <a:latin typeface="Poppins"/>
                <a:ea typeface="Poppins"/>
                <a:cs typeface="Poppins"/>
                <a:sym typeface="Poppins"/>
              </a:rPr>
              <a:t>checking Google Maps, Yelp, Instagram, TikTok and Beli one by one</a:t>
            </a:r>
            <a:endParaRPr/>
          </a:p>
        </p:txBody>
      </p:sp>
      <p:sp>
        <p:nvSpPr>
          <p:cNvPr id="104" name="Google Shape;104;p1"/>
          <p:cNvSpPr/>
          <p:nvPr/>
        </p:nvSpPr>
        <p:spPr>
          <a:xfrm>
            <a:off x="822960" y="7671816"/>
            <a:ext cx="16642080" cy="10972"/>
          </a:xfrm>
          <a:prstGeom prst="rect">
            <a:avLst/>
          </a:prstGeom>
          <a:solidFill>
            <a:srgbClr val="D9D9D9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1"/>
          <p:cNvSpPr txBox="1"/>
          <p:nvPr/>
        </p:nvSpPr>
        <p:spPr>
          <a:xfrm>
            <a:off x="822960" y="7818120"/>
            <a:ext cx="27432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6F6B34"/>
                </a:solidFill>
                <a:latin typeface="Poppins"/>
                <a:ea typeface="Poppins"/>
                <a:cs typeface="Poppins"/>
                <a:sym typeface="Poppins"/>
              </a:rPr>
              <a:t>Ours</a:t>
            </a:r>
            <a:endParaRPr/>
          </a:p>
        </p:txBody>
      </p:sp>
      <p:sp>
        <p:nvSpPr>
          <p:cNvPr id="106" name="Google Shape;106;p1"/>
          <p:cNvSpPr txBox="1"/>
          <p:nvPr/>
        </p:nvSpPr>
        <p:spPr>
          <a:xfrm>
            <a:off x="3657600" y="7818120"/>
            <a:ext cx="138074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only counts reviews from people who proved they ate there</a:t>
            </a:r>
            <a:endParaRPr/>
          </a:p>
        </p:txBody>
      </p:sp>
      <p:sp>
        <p:nvSpPr>
          <p:cNvPr id="107" name="Google Shape;107;p1"/>
          <p:cNvSpPr/>
          <p:nvPr/>
        </p:nvSpPr>
        <p:spPr>
          <a:xfrm>
            <a:off x="822960" y="8458200"/>
            <a:ext cx="16642080" cy="10972"/>
          </a:xfrm>
          <a:prstGeom prst="rect">
            <a:avLst/>
          </a:prstGeom>
          <a:solidFill>
            <a:srgbClr val="D9D9D9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"/>
          <p:cNvSpPr txBox="1"/>
          <p:nvPr/>
        </p:nvSpPr>
        <p:spPr>
          <a:xfrm>
            <a:off x="822960" y="685800"/>
            <a:ext cx="109728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6F6B34"/>
                </a:solidFill>
                <a:latin typeface="Poppins"/>
                <a:ea typeface="Poppins"/>
                <a:cs typeface="Poppins"/>
                <a:sym typeface="Poppins"/>
              </a:rPr>
              <a:t>What we heard</a:t>
            </a:r>
            <a:endParaRPr/>
          </a:p>
        </p:txBody>
      </p:sp>
      <p:sp>
        <p:nvSpPr>
          <p:cNvPr id="114" name="Google Shape;114;p2"/>
          <p:cNvSpPr txBox="1"/>
          <p:nvPr/>
        </p:nvSpPr>
        <p:spPr>
          <a:xfrm>
            <a:off x="16093440" y="685800"/>
            <a:ext cx="1371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95959"/>
                </a:solidFill>
                <a:latin typeface="Poppins"/>
                <a:ea typeface="Poppins"/>
                <a:cs typeface="Poppins"/>
                <a:sym typeface="Poppins"/>
              </a:rPr>
              <a:t>2</a:t>
            </a:r>
            <a:endParaRPr/>
          </a:p>
        </p:txBody>
      </p:sp>
      <p:sp>
        <p:nvSpPr>
          <p:cNvPr id="115" name="Google Shape;115;p2"/>
          <p:cNvSpPr txBox="1"/>
          <p:nvPr/>
        </p:nvSpPr>
        <p:spPr>
          <a:xfrm>
            <a:off x="822960" y="1234440"/>
            <a:ext cx="15087600" cy="2011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44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Finding one good place to eat takes multiple apps, </a:t>
            </a:r>
            <a:r>
              <a:rPr b="0" i="0" lang="en-US" sz="4400" u="none" cap="none" strike="noStrike">
                <a:solidFill>
                  <a:srgbClr val="595959"/>
                </a:solidFill>
                <a:latin typeface="Poppins"/>
                <a:ea typeface="Poppins"/>
                <a:cs typeface="Poppins"/>
                <a:sym typeface="Poppins"/>
              </a:rPr>
              <a:t>and people still get it wrong.</a:t>
            </a:r>
            <a:endParaRPr/>
          </a:p>
        </p:txBody>
      </p:sp>
      <p:sp>
        <p:nvSpPr>
          <p:cNvPr id="116" name="Google Shape;116;p2"/>
          <p:cNvSpPr txBox="1"/>
          <p:nvPr/>
        </p:nvSpPr>
        <p:spPr>
          <a:xfrm>
            <a:off x="822960" y="9555480"/>
            <a:ext cx="166420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95959"/>
                </a:solidFill>
                <a:latin typeface="Roboto Mono"/>
                <a:ea typeface="Roboto Mono"/>
                <a:cs typeface="Roboto Mono"/>
                <a:sym typeface="Roboto Mono"/>
              </a:rPr>
              <a:t>From 35 interviews with students and young professionals, Sep to Oct 2026.</a:t>
            </a:r>
            <a:endParaRPr/>
          </a:p>
        </p:txBody>
      </p:sp>
      <p:sp>
        <p:nvSpPr>
          <p:cNvPr id="117" name="Google Shape;117;p2"/>
          <p:cNvSpPr/>
          <p:nvPr/>
        </p:nvSpPr>
        <p:spPr>
          <a:xfrm>
            <a:off x="822960" y="5074920"/>
            <a:ext cx="16642080" cy="10972"/>
          </a:xfrm>
          <a:prstGeom prst="rect">
            <a:avLst/>
          </a:prstGeom>
          <a:solidFill>
            <a:srgbClr val="6F6B34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2"/>
          <p:cNvSpPr txBox="1"/>
          <p:nvPr/>
        </p:nvSpPr>
        <p:spPr>
          <a:xfrm>
            <a:off x="822960" y="3749039"/>
            <a:ext cx="3840480" cy="1188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600" u="none" cap="none" strike="noStrike">
                <a:solidFill>
                  <a:srgbClr val="6F6B34"/>
                </a:solidFill>
                <a:latin typeface="Poppins"/>
                <a:ea typeface="Poppins"/>
                <a:cs typeface="Poppins"/>
                <a:sym typeface="Poppins"/>
              </a:rPr>
              <a:t>1</a:t>
            </a:r>
            <a:endParaRPr/>
          </a:p>
        </p:txBody>
      </p:sp>
      <p:sp>
        <p:nvSpPr>
          <p:cNvPr id="119" name="Google Shape;119;p2"/>
          <p:cNvSpPr txBox="1"/>
          <p:nvPr/>
        </p:nvSpPr>
        <p:spPr>
          <a:xfrm>
            <a:off x="822960" y="5349240"/>
            <a:ext cx="3931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Google Maps</a:t>
            </a:r>
            <a:endParaRPr sz="2400"/>
          </a:p>
        </p:txBody>
      </p:sp>
      <p:sp>
        <p:nvSpPr>
          <p:cNvPr id="120" name="Google Shape;120;p2"/>
          <p:cNvSpPr txBox="1"/>
          <p:nvPr/>
        </p:nvSpPr>
        <p:spPr>
          <a:xfrm>
            <a:off x="822960" y="5989320"/>
            <a:ext cx="3931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434343"/>
                </a:solidFill>
                <a:latin typeface="Poppins"/>
                <a:ea typeface="Poppins"/>
                <a:cs typeface="Poppins"/>
                <a:sym typeface="Poppins"/>
              </a:rPr>
              <a:t>to see what's nearby</a:t>
            </a:r>
            <a:endParaRPr sz="2400"/>
          </a:p>
        </p:txBody>
      </p:sp>
      <p:sp>
        <p:nvSpPr>
          <p:cNvPr id="121" name="Google Shape;121;p2"/>
          <p:cNvSpPr txBox="1"/>
          <p:nvPr/>
        </p:nvSpPr>
        <p:spPr>
          <a:xfrm>
            <a:off x="5074920" y="3749039"/>
            <a:ext cx="3840480" cy="1188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600" u="none" cap="none" strike="noStrike">
                <a:solidFill>
                  <a:srgbClr val="6F6B34"/>
                </a:solidFill>
                <a:latin typeface="Poppins"/>
                <a:ea typeface="Poppins"/>
                <a:cs typeface="Poppins"/>
                <a:sym typeface="Poppins"/>
              </a:rPr>
              <a:t>2</a:t>
            </a:r>
            <a:endParaRPr/>
          </a:p>
        </p:txBody>
      </p:sp>
      <p:sp>
        <p:nvSpPr>
          <p:cNvPr id="122" name="Google Shape;122;p2"/>
          <p:cNvSpPr txBox="1"/>
          <p:nvPr/>
        </p:nvSpPr>
        <p:spPr>
          <a:xfrm>
            <a:off x="5074920" y="5349240"/>
            <a:ext cx="3931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Instagram or TikTok</a:t>
            </a:r>
            <a:endParaRPr sz="2400"/>
          </a:p>
        </p:txBody>
      </p:sp>
      <p:sp>
        <p:nvSpPr>
          <p:cNvPr id="123" name="Google Shape;123;p2"/>
          <p:cNvSpPr txBox="1"/>
          <p:nvPr/>
        </p:nvSpPr>
        <p:spPr>
          <a:xfrm>
            <a:off x="5074920" y="5989320"/>
            <a:ext cx="3931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434343"/>
                </a:solidFill>
                <a:latin typeface="Poppins"/>
                <a:ea typeface="Poppins"/>
                <a:cs typeface="Poppins"/>
                <a:sym typeface="Poppins"/>
              </a:rPr>
              <a:t>to see the food</a:t>
            </a:r>
            <a:endParaRPr sz="2400"/>
          </a:p>
        </p:txBody>
      </p:sp>
      <p:sp>
        <p:nvSpPr>
          <p:cNvPr id="124" name="Google Shape;124;p2"/>
          <p:cNvSpPr txBox="1"/>
          <p:nvPr/>
        </p:nvSpPr>
        <p:spPr>
          <a:xfrm>
            <a:off x="9326880" y="3749039"/>
            <a:ext cx="3840480" cy="1188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600" u="none" cap="none" strike="noStrike">
                <a:solidFill>
                  <a:srgbClr val="6F6B34"/>
                </a:solidFill>
                <a:latin typeface="Poppins"/>
                <a:ea typeface="Poppins"/>
                <a:cs typeface="Poppins"/>
                <a:sym typeface="Poppins"/>
              </a:rPr>
              <a:t>3</a:t>
            </a:r>
            <a:endParaRPr/>
          </a:p>
        </p:txBody>
      </p:sp>
      <p:sp>
        <p:nvSpPr>
          <p:cNvPr id="125" name="Google Shape;125;p2"/>
          <p:cNvSpPr txBox="1"/>
          <p:nvPr/>
        </p:nvSpPr>
        <p:spPr>
          <a:xfrm>
            <a:off x="9326880" y="5349240"/>
            <a:ext cx="3931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A friend</a:t>
            </a:r>
            <a:endParaRPr sz="2400"/>
          </a:p>
        </p:txBody>
      </p:sp>
      <p:sp>
        <p:nvSpPr>
          <p:cNvPr id="126" name="Google Shape;126;p2"/>
          <p:cNvSpPr txBox="1"/>
          <p:nvPr/>
        </p:nvSpPr>
        <p:spPr>
          <a:xfrm>
            <a:off x="9326880" y="5989320"/>
            <a:ext cx="3931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434343"/>
                </a:solidFill>
                <a:latin typeface="Poppins"/>
                <a:ea typeface="Poppins"/>
                <a:cs typeface="Poppins"/>
                <a:sym typeface="Poppins"/>
              </a:rPr>
              <a:t>to check it's good</a:t>
            </a:r>
            <a:endParaRPr sz="2400"/>
          </a:p>
        </p:txBody>
      </p:sp>
      <p:sp>
        <p:nvSpPr>
          <p:cNvPr id="127" name="Google Shape;127;p2"/>
          <p:cNvSpPr txBox="1"/>
          <p:nvPr/>
        </p:nvSpPr>
        <p:spPr>
          <a:xfrm>
            <a:off x="13578840" y="3749039"/>
            <a:ext cx="3840480" cy="1188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6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4</a:t>
            </a:r>
            <a:endParaRPr/>
          </a:p>
        </p:txBody>
      </p:sp>
      <p:sp>
        <p:nvSpPr>
          <p:cNvPr id="128" name="Google Shape;128;p2"/>
          <p:cNvSpPr txBox="1"/>
          <p:nvPr/>
        </p:nvSpPr>
        <p:spPr>
          <a:xfrm>
            <a:off x="13578840" y="5349240"/>
            <a:ext cx="3931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Then they go</a:t>
            </a:r>
            <a:endParaRPr sz="2400"/>
          </a:p>
        </p:txBody>
      </p:sp>
      <p:sp>
        <p:nvSpPr>
          <p:cNvPr id="129" name="Google Shape;129;p2"/>
          <p:cNvSpPr txBox="1"/>
          <p:nvPr/>
        </p:nvSpPr>
        <p:spPr>
          <a:xfrm>
            <a:off x="13578840" y="5989320"/>
            <a:ext cx="3931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and it's still a miss</a:t>
            </a:r>
            <a:endParaRPr sz="2400"/>
          </a:p>
        </p:txBody>
      </p:sp>
      <p:sp>
        <p:nvSpPr>
          <p:cNvPr id="130" name="Google Shape;130;p2"/>
          <p:cNvSpPr txBox="1"/>
          <p:nvPr/>
        </p:nvSpPr>
        <p:spPr>
          <a:xfrm>
            <a:off x="822960" y="7589520"/>
            <a:ext cx="166422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Nobody had one place to save where they want to go.</a:t>
            </a:r>
            <a:endParaRPr sz="2400"/>
          </a:p>
        </p:txBody>
      </p:sp>
      <p:sp>
        <p:nvSpPr>
          <p:cNvPr id="131" name="Google Shape;131;p2"/>
          <p:cNvSpPr txBox="1"/>
          <p:nvPr/>
        </p:nvSpPr>
        <p:spPr>
          <a:xfrm>
            <a:off x="822960" y="8275320"/>
            <a:ext cx="166422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434343"/>
                </a:solidFill>
                <a:latin typeface="Poppins"/>
                <a:ea typeface="Poppins"/>
                <a:cs typeface="Poppins"/>
                <a:sym typeface="Poppins"/>
              </a:rPr>
              <a:t>They want one app they can trust.</a:t>
            </a:r>
            <a:endParaRPr sz="24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3"/>
          <p:cNvSpPr txBox="1"/>
          <p:nvPr/>
        </p:nvSpPr>
        <p:spPr>
          <a:xfrm>
            <a:off x="822960" y="685800"/>
            <a:ext cx="109728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6F6B34"/>
                </a:solidFill>
                <a:latin typeface="Poppins"/>
                <a:ea typeface="Poppins"/>
                <a:cs typeface="Poppins"/>
                <a:sym typeface="Poppins"/>
              </a:rPr>
              <a:t>What's in the app</a:t>
            </a:r>
            <a:endParaRPr/>
          </a:p>
        </p:txBody>
      </p:sp>
      <p:sp>
        <p:nvSpPr>
          <p:cNvPr id="138" name="Google Shape;138;p3"/>
          <p:cNvSpPr txBox="1"/>
          <p:nvPr/>
        </p:nvSpPr>
        <p:spPr>
          <a:xfrm>
            <a:off x="16093440" y="685800"/>
            <a:ext cx="1371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95959"/>
                </a:solidFill>
                <a:latin typeface="Poppins"/>
                <a:ea typeface="Poppins"/>
                <a:cs typeface="Poppins"/>
                <a:sym typeface="Poppins"/>
              </a:rPr>
              <a:t>3</a:t>
            </a:r>
            <a:endParaRPr/>
          </a:p>
        </p:txBody>
      </p:sp>
      <p:sp>
        <p:nvSpPr>
          <p:cNvPr id="139" name="Google Shape;139;p3"/>
          <p:cNvSpPr txBox="1"/>
          <p:nvPr/>
        </p:nvSpPr>
        <p:spPr>
          <a:xfrm>
            <a:off x="822960" y="1208965"/>
            <a:ext cx="15087600" cy="67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44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Everything about where to eat, in one app.</a:t>
            </a:r>
            <a:endParaRPr/>
          </a:p>
        </p:txBody>
      </p:sp>
      <p:sp>
        <p:nvSpPr>
          <p:cNvPr id="140" name="Google Shape;140;p3"/>
          <p:cNvSpPr txBox="1"/>
          <p:nvPr/>
        </p:nvSpPr>
        <p:spPr>
          <a:xfrm>
            <a:off x="822960" y="9555480"/>
            <a:ext cx="166420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95959"/>
                </a:solidFill>
                <a:latin typeface="Roboto Mono"/>
                <a:ea typeface="Roboto Mono"/>
                <a:cs typeface="Roboto Mono"/>
                <a:sym typeface="Roboto Mono"/>
              </a:rPr>
              <a:t>The core app is free. If another app won't share its ratings, we link out to it.</a:t>
            </a:r>
            <a:endParaRPr/>
          </a:p>
        </p:txBody>
      </p:sp>
      <p:sp>
        <p:nvSpPr>
          <p:cNvPr id="141" name="Google Shape;141;p3"/>
          <p:cNvSpPr txBox="1"/>
          <p:nvPr/>
        </p:nvSpPr>
        <p:spPr>
          <a:xfrm>
            <a:off x="822960" y="3840480"/>
            <a:ext cx="51207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6F6B34"/>
                </a:solidFill>
                <a:latin typeface="Poppins"/>
                <a:ea typeface="Poppins"/>
                <a:cs typeface="Poppins"/>
                <a:sym typeface="Poppins"/>
              </a:rPr>
              <a:t>Find</a:t>
            </a:r>
            <a:endParaRPr sz="2400"/>
          </a:p>
        </p:txBody>
      </p:sp>
      <p:sp>
        <p:nvSpPr>
          <p:cNvPr id="142" name="Google Shape;142;p3"/>
          <p:cNvSpPr/>
          <p:nvPr/>
        </p:nvSpPr>
        <p:spPr>
          <a:xfrm>
            <a:off x="822960" y="4343400"/>
            <a:ext cx="5120640" cy="10972"/>
          </a:xfrm>
          <a:prstGeom prst="rect">
            <a:avLst/>
          </a:prstGeom>
          <a:solidFill>
            <a:srgbClr val="6F6B34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3"/>
          <p:cNvSpPr txBox="1"/>
          <p:nvPr/>
        </p:nvSpPr>
        <p:spPr>
          <a:xfrm>
            <a:off x="822960" y="4572000"/>
            <a:ext cx="5120700" cy="20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434343"/>
                </a:solidFill>
                <a:latin typeface="Poppins"/>
                <a:ea typeface="Poppins"/>
                <a:cs typeface="Poppins"/>
                <a:sym typeface="Poppins"/>
              </a:rPr>
              <a:t>What's open near you</a:t>
            </a:r>
            <a:endParaRPr sz="2400"/>
          </a:p>
          <a:p>
            <a:pPr indent="0" lvl="0" marL="0" marR="0" rtl="0" algn="l">
              <a:lnSpc>
                <a:spcPct val="110000"/>
              </a:lnSpc>
              <a:spcBef>
                <a:spcPts val="18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434343"/>
                </a:solidFill>
                <a:latin typeface="Poppins"/>
                <a:ea typeface="Poppins"/>
                <a:cs typeface="Poppins"/>
                <a:sym typeface="Poppins"/>
              </a:rPr>
              <a:t>Filter by diet, price and distance</a:t>
            </a:r>
            <a:endParaRPr sz="2400"/>
          </a:p>
          <a:p>
            <a:pPr indent="0" lvl="0" marL="0" marR="0" rtl="0" algn="l">
              <a:lnSpc>
                <a:spcPct val="110000"/>
              </a:lnSpc>
              <a:spcBef>
                <a:spcPts val="18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434343"/>
                </a:solidFill>
                <a:latin typeface="Poppins"/>
                <a:ea typeface="Poppins"/>
                <a:cs typeface="Poppins"/>
                <a:sym typeface="Poppins"/>
              </a:rPr>
              <a:t>New places people are talking about</a:t>
            </a:r>
            <a:endParaRPr sz="2400"/>
          </a:p>
        </p:txBody>
      </p:sp>
      <p:sp>
        <p:nvSpPr>
          <p:cNvPr id="144" name="Google Shape;144;p3"/>
          <p:cNvSpPr txBox="1"/>
          <p:nvPr/>
        </p:nvSpPr>
        <p:spPr>
          <a:xfrm>
            <a:off x="6492240" y="3840480"/>
            <a:ext cx="51207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6F6B34"/>
                </a:solidFill>
                <a:latin typeface="Poppins"/>
                <a:ea typeface="Poppins"/>
                <a:cs typeface="Poppins"/>
                <a:sym typeface="Poppins"/>
              </a:rPr>
              <a:t>Compare</a:t>
            </a:r>
            <a:endParaRPr sz="2400"/>
          </a:p>
        </p:txBody>
      </p:sp>
      <p:sp>
        <p:nvSpPr>
          <p:cNvPr id="145" name="Google Shape;145;p3"/>
          <p:cNvSpPr/>
          <p:nvPr/>
        </p:nvSpPr>
        <p:spPr>
          <a:xfrm>
            <a:off x="6492240" y="4343400"/>
            <a:ext cx="5120640" cy="10972"/>
          </a:xfrm>
          <a:prstGeom prst="rect">
            <a:avLst/>
          </a:prstGeom>
          <a:solidFill>
            <a:srgbClr val="6F6B34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3"/>
          <p:cNvSpPr txBox="1"/>
          <p:nvPr/>
        </p:nvSpPr>
        <p:spPr>
          <a:xfrm>
            <a:off x="6492240" y="4572000"/>
            <a:ext cx="5120700" cy="245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434343"/>
                </a:solidFill>
                <a:latin typeface="Poppins"/>
                <a:ea typeface="Poppins"/>
                <a:cs typeface="Poppins"/>
                <a:sym typeface="Poppins"/>
              </a:rPr>
              <a:t>Every rating and post on one page</a:t>
            </a:r>
            <a:endParaRPr sz="2400"/>
          </a:p>
          <a:p>
            <a:pPr indent="0" lvl="0" marL="0" marR="0" rtl="0" algn="l">
              <a:lnSpc>
                <a:spcPct val="110000"/>
              </a:lnSpc>
              <a:spcBef>
                <a:spcPts val="18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434343"/>
                </a:solidFill>
                <a:latin typeface="Poppins"/>
                <a:ea typeface="Poppins"/>
                <a:cs typeface="Poppins"/>
                <a:sym typeface="Poppins"/>
              </a:rPr>
              <a:t>Our score only counts diners who scanned a receipt</a:t>
            </a:r>
            <a:endParaRPr sz="2400"/>
          </a:p>
          <a:p>
            <a:pPr indent="0" lvl="0" marL="0" marR="0" rtl="0" algn="l">
              <a:lnSpc>
                <a:spcPct val="110000"/>
              </a:lnSpc>
              <a:spcBef>
                <a:spcPts val="18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434343"/>
                </a:solidFill>
                <a:latin typeface="Poppins"/>
                <a:ea typeface="Poppins"/>
                <a:cs typeface="Poppins"/>
                <a:sym typeface="Poppins"/>
              </a:rPr>
              <a:t>Nobody pays to rank higher</a:t>
            </a:r>
            <a:endParaRPr sz="2400"/>
          </a:p>
        </p:txBody>
      </p:sp>
      <p:sp>
        <p:nvSpPr>
          <p:cNvPr id="147" name="Google Shape;147;p3"/>
          <p:cNvSpPr txBox="1"/>
          <p:nvPr/>
        </p:nvSpPr>
        <p:spPr>
          <a:xfrm>
            <a:off x="12161520" y="3840480"/>
            <a:ext cx="51207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6F6B34"/>
                </a:solidFill>
                <a:latin typeface="Poppins"/>
                <a:ea typeface="Poppins"/>
                <a:cs typeface="Poppins"/>
                <a:sym typeface="Poppins"/>
              </a:rPr>
              <a:t>Keep</a:t>
            </a:r>
            <a:endParaRPr sz="2400"/>
          </a:p>
        </p:txBody>
      </p:sp>
      <p:sp>
        <p:nvSpPr>
          <p:cNvPr id="148" name="Google Shape;148;p3"/>
          <p:cNvSpPr/>
          <p:nvPr/>
        </p:nvSpPr>
        <p:spPr>
          <a:xfrm>
            <a:off x="12161520" y="4343400"/>
            <a:ext cx="5120640" cy="10972"/>
          </a:xfrm>
          <a:prstGeom prst="rect">
            <a:avLst/>
          </a:prstGeom>
          <a:solidFill>
            <a:srgbClr val="6F6B34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3"/>
          <p:cNvSpPr txBox="1"/>
          <p:nvPr/>
        </p:nvSpPr>
        <p:spPr>
          <a:xfrm>
            <a:off x="12161520" y="4572000"/>
            <a:ext cx="5120700" cy="20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434343"/>
                </a:solidFill>
                <a:latin typeface="Poppins"/>
                <a:ea typeface="Poppins"/>
                <a:cs typeface="Poppins"/>
                <a:sym typeface="Poppins"/>
              </a:rPr>
              <a:t>Your history and lists</a:t>
            </a:r>
            <a:endParaRPr sz="2400"/>
          </a:p>
          <a:p>
            <a:pPr indent="0" lvl="0" marL="0" marR="0" rtl="0" algn="l">
              <a:lnSpc>
                <a:spcPct val="110000"/>
              </a:lnSpc>
              <a:spcBef>
                <a:spcPts val="18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434343"/>
                </a:solidFill>
                <a:latin typeface="Poppins"/>
                <a:ea typeface="Poppins"/>
                <a:cs typeface="Poppins"/>
                <a:sym typeface="Poppins"/>
              </a:rPr>
              <a:t>Scan a receipt, get a verified badge</a:t>
            </a:r>
            <a:endParaRPr sz="2400"/>
          </a:p>
          <a:p>
            <a:pPr indent="0" lvl="0" marL="0" marR="0" rtl="0" algn="l">
              <a:lnSpc>
                <a:spcPct val="110000"/>
              </a:lnSpc>
              <a:spcBef>
                <a:spcPts val="18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434343"/>
                </a:solidFill>
                <a:latin typeface="Poppins"/>
                <a:ea typeface="Poppins"/>
                <a:cs typeface="Poppins"/>
                <a:sym typeface="Poppins"/>
              </a:rPr>
              <a:t>Book a table</a:t>
            </a:r>
            <a:endParaRPr sz="2400"/>
          </a:p>
        </p:txBody>
      </p:sp>
      <p:sp>
        <p:nvSpPr>
          <p:cNvPr id="150" name="Google Shape;150;p3"/>
          <p:cNvSpPr txBox="1"/>
          <p:nvPr/>
        </p:nvSpPr>
        <p:spPr>
          <a:xfrm>
            <a:off x="822960" y="8458200"/>
            <a:ext cx="166420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434343"/>
                </a:solidFill>
                <a:latin typeface="Poppins"/>
                <a:ea typeface="Poppins"/>
                <a:cs typeface="Poppins"/>
                <a:sym typeface="Poppins"/>
              </a:rPr>
              <a:t>Dietary filters stay free: a halal or nut-free search is what sends a restaurant the diner it pays for. Nobody pays for placement.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4"/>
          <p:cNvSpPr txBox="1"/>
          <p:nvPr/>
        </p:nvSpPr>
        <p:spPr>
          <a:xfrm>
            <a:off x="16093440" y="685800"/>
            <a:ext cx="1371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95959"/>
                </a:solidFill>
                <a:latin typeface="Poppins"/>
                <a:ea typeface="Poppins"/>
                <a:cs typeface="Poppins"/>
                <a:sym typeface="Poppins"/>
              </a:rPr>
              <a:t>4</a:t>
            </a:r>
            <a:endParaRPr/>
          </a:p>
        </p:txBody>
      </p:sp>
      <p:sp>
        <p:nvSpPr>
          <p:cNvPr id="157" name="Google Shape;157;p4"/>
          <p:cNvSpPr txBox="1"/>
          <p:nvPr/>
        </p:nvSpPr>
        <p:spPr>
          <a:xfrm>
            <a:off x="822960" y="9555480"/>
            <a:ext cx="166420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95959"/>
                </a:solidFill>
                <a:latin typeface="Roboto Mono"/>
                <a:ea typeface="Roboto Mono"/>
                <a:cs typeface="Roboto Mono"/>
                <a:sym typeface="Roboto Mono"/>
              </a:rPr>
              <a:t>Concept screens. Every score and person is made up. Photos: Unsplash; Daderot, Wikimedia Commons (CC0).</a:t>
            </a:r>
            <a:endParaRPr/>
          </a:p>
        </p:txBody>
      </p:sp>
      <p:pic>
        <p:nvPicPr>
          <p:cNvPr descr="phone-1.png" id="158" name="Google Shape;158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2950" y="685800"/>
            <a:ext cx="3617965" cy="7463324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4"/>
          <p:cNvSpPr txBox="1"/>
          <p:nvPr/>
        </p:nvSpPr>
        <p:spPr>
          <a:xfrm>
            <a:off x="845750" y="8321040"/>
            <a:ext cx="38406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6F6B34"/>
                </a:solidFill>
                <a:latin typeface="Poppins"/>
                <a:ea typeface="Poppins"/>
                <a:cs typeface="Poppins"/>
                <a:sym typeface="Poppins"/>
              </a:rPr>
              <a:t>1  Start nearby</a:t>
            </a:r>
            <a:endParaRPr/>
          </a:p>
        </p:txBody>
      </p:sp>
      <p:sp>
        <p:nvSpPr>
          <p:cNvPr id="160" name="Google Shape;160;p4"/>
          <p:cNvSpPr txBox="1"/>
          <p:nvPr/>
        </p:nvSpPr>
        <p:spPr>
          <a:xfrm>
            <a:off x="845750" y="8770852"/>
            <a:ext cx="37491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434343"/>
                </a:solidFill>
                <a:latin typeface="Poppins"/>
                <a:ea typeface="Poppins"/>
                <a:cs typeface="Poppins"/>
                <a:sym typeface="Poppins"/>
              </a:rPr>
              <a:t>What's open around you.</a:t>
            </a:r>
            <a:endParaRPr/>
          </a:p>
        </p:txBody>
      </p:sp>
      <p:pic>
        <p:nvPicPr>
          <p:cNvPr descr="phone-2.png" id="161" name="Google Shape;161;p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074925" y="685785"/>
            <a:ext cx="3617975" cy="7463313"/>
          </a:xfrm>
          <a:prstGeom prst="rect">
            <a:avLst/>
          </a:prstGeom>
          <a:noFill/>
          <a:ln>
            <a:noFill/>
          </a:ln>
        </p:spPr>
      </p:pic>
      <p:sp>
        <p:nvSpPr>
          <p:cNvPr id="162" name="Google Shape;162;p4"/>
          <p:cNvSpPr txBox="1"/>
          <p:nvPr/>
        </p:nvSpPr>
        <p:spPr>
          <a:xfrm>
            <a:off x="5097716" y="8321040"/>
            <a:ext cx="38406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6F6B34"/>
                </a:solidFill>
                <a:latin typeface="Poppins"/>
                <a:ea typeface="Poppins"/>
                <a:cs typeface="Poppins"/>
                <a:sym typeface="Poppins"/>
              </a:rPr>
              <a:t>2  Let it pick</a:t>
            </a:r>
            <a:endParaRPr/>
          </a:p>
        </p:txBody>
      </p:sp>
      <p:sp>
        <p:nvSpPr>
          <p:cNvPr id="163" name="Google Shape;163;p4"/>
          <p:cNvSpPr txBox="1"/>
          <p:nvPr/>
        </p:nvSpPr>
        <p:spPr>
          <a:xfrm>
            <a:off x="5097716" y="8770852"/>
            <a:ext cx="37491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434343"/>
                </a:solidFill>
                <a:latin typeface="Poppins"/>
                <a:ea typeface="Poppins"/>
                <a:cs typeface="Poppins"/>
                <a:sym typeface="Poppins"/>
              </a:rPr>
              <a:t>One best bet for your budget and diet.</a:t>
            </a:r>
            <a:endParaRPr/>
          </a:p>
        </p:txBody>
      </p:sp>
      <p:pic>
        <p:nvPicPr>
          <p:cNvPr descr="phone-3.png" id="164" name="Google Shape;164;p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9326875" y="685785"/>
            <a:ext cx="3617975" cy="7463313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4"/>
          <p:cNvSpPr txBox="1"/>
          <p:nvPr/>
        </p:nvSpPr>
        <p:spPr>
          <a:xfrm>
            <a:off x="9349683" y="8321040"/>
            <a:ext cx="38406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6F6B34"/>
                </a:solidFill>
                <a:latin typeface="Poppins"/>
                <a:ea typeface="Poppins"/>
                <a:cs typeface="Poppins"/>
                <a:sym typeface="Poppins"/>
              </a:rPr>
              <a:t>3  See why</a:t>
            </a:r>
            <a:endParaRPr/>
          </a:p>
        </p:txBody>
      </p:sp>
      <p:sp>
        <p:nvSpPr>
          <p:cNvPr id="166" name="Google Shape;166;p4"/>
          <p:cNvSpPr txBox="1"/>
          <p:nvPr/>
        </p:nvSpPr>
        <p:spPr>
          <a:xfrm>
            <a:off x="9349683" y="8770852"/>
            <a:ext cx="37491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434343"/>
                </a:solidFill>
                <a:latin typeface="Poppins"/>
                <a:ea typeface="Poppins"/>
                <a:cs typeface="Poppins"/>
                <a:sym typeface="Poppins"/>
              </a:rPr>
              <a:t>Three picks, each with a reason.</a:t>
            </a:r>
            <a:endParaRPr/>
          </a:p>
        </p:txBody>
      </p:sp>
      <p:pic>
        <p:nvPicPr>
          <p:cNvPr descr="phone-4.png" id="167" name="Google Shape;167;p4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3578850" y="685785"/>
            <a:ext cx="3617975" cy="7463313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4"/>
          <p:cNvSpPr txBox="1"/>
          <p:nvPr/>
        </p:nvSpPr>
        <p:spPr>
          <a:xfrm>
            <a:off x="13601649" y="8321040"/>
            <a:ext cx="38406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6F6B34"/>
                </a:solidFill>
                <a:latin typeface="Poppins"/>
                <a:ea typeface="Poppins"/>
                <a:cs typeface="Poppins"/>
                <a:sym typeface="Poppins"/>
              </a:rPr>
              <a:t>4  Check every rating</a:t>
            </a:r>
            <a:endParaRPr/>
          </a:p>
        </p:txBody>
      </p:sp>
      <p:sp>
        <p:nvSpPr>
          <p:cNvPr id="169" name="Google Shape;169;p4"/>
          <p:cNvSpPr txBox="1"/>
          <p:nvPr/>
        </p:nvSpPr>
        <p:spPr>
          <a:xfrm>
            <a:off x="13601649" y="8770852"/>
            <a:ext cx="37491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434343"/>
                </a:solidFill>
                <a:latin typeface="Poppins"/>
                <a:ea typeface="Poppins"/>
                <a:cs typeface="Poppins"/>
                <a:sym typeface="Poppins"/>
              </a:rPr>
              <a:t>Our verified score next to everyone else's, with creators' paid posts flagged.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5"/>
          <p:cNvSpPr txBox="1"/>
          <p:nvPr/>
        </p:nvSpPr>
        <p:spPr>
          <a:xfrm>
            <a:off x="822960" y="685800"/>
            <a:ext cx="109728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6F6B34"/>
                </a:solidFill>
                <a:latin typeface="Poppins"/>
                <a:ea typeface="Poppins"/>
                <a:cs typeface="Poppins"/>
                <a:sym typeface="Poppins"/>
              </a:rPr>
              <a:t>How big it is</a:t>
            </a:r>
            <a:endParaRPr/>
          </a:p>
        </p:txBody>
      </p:sp>
      <p:sp>
        <p:nvSpPr>
          <p:cNvPr id="176" name="Google Shape;176;p5"/>
          <p:cNvSpPr txBox="1"/>
          <p:nvPr/>
        </p:nvSpPr>
        <p:spPr>
          <a:xfrm>
            <a:off x="16093440" y="685800"/>
            <a:ext cx="1371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95959"/>
                </a:solidFill>
                <a:latin typeface="Poppins"/>
                <a:ea typeface="Poppins"/>
                <a:cs typeface="Poppins"/>
                <a:sym typeface="Poppins"/>
              </a:rPr>
              <a:t>5</a:t>
            </a:r>
            <a:endParaRPr/>
          </a:p>
        </p:txBody>
      </p:sp>
      <p:sp>
        <p:nvSpPr>
          <p:cNvPr id="177" name="Google Shape;177;p5"/>
          <p:cNvSpPr txBox="1"/>
          <p:nvPr/>
        </p:nvSpPr>
        <p:spPr>
          <a:xfrm>
            <a:off x="822960" y="1234440"/>
            <a:ext cx="15087600" cy="2011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44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We start with Boston's 162,000 students. </a:t>
            </a:r>
            <a:r>
              <a:rPr b="0" i="0" lang="en-US" sz="4400" u="none" cap="none" strike="noStrike">
                <a:solidFill>
                  <a:srgbClr val="595959"/>
                </a:solidFill>
                <a:latin typeface="Poppins"/>
                <a:ea typeface="Poppins"/>
                <a:cs typeface="Poppins"/>
                <a:sym typeface="Poppins"/>
              </a:rPr>
              <a:t>About 19 million US students could use it.</a:t>
            </a:r>
            <a:endParaRPr/>
          </a:p>
        </p:txBody>
      </p:sp>
      <p:sp>
        <p:nvSpPr>
          <p:cNvPr id="178" name="Google Shape;178;p5"/>
          <p:cNvSpPr txBox="1"/>
          <p:nvPr/>
        </p:nvSpPr>
        <p:spPr>
          <a:xfrm>
            <a:off x="822960" y="9555480"/>
            <a:ext cx="166420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95959"/>
                </a:solidFill>
                <a:latin typeface="Roboto Mono"/>
                <a:ea typeface="Roboto Mono"/>
                <a:cs typeface="Roboto Mono"/>
                <a:sym typeface="Roboto Mono"/>
              </a:rPr>
              <a:t>US Census Bureau, 2024 estimates. NCES Digest of Education Statistics 2024, fall 2023 enrollment. City of Boston Student Housing Report 2025 and license data, Oct 2026.</a:t>
            </a:r>
            <a:endParaRPr/>
          </a:p>
        </p:txBody>
      </p:sp>
      <p:sp>
        <p:nvSpPr>
          <p:cNvPr id="179" name="Google Shape;179;p5"/>
          <p:cNvSpPr txBox="1"/>
          <p:nvPr/>
        </p:nvSpPr>
        <p:spPr>
          <a:xfrm>
            <a:off x="822960" y="3749039"/>
            <a:ext cx="51206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6F6B34"/>
                </a:solidFill>
                <a:latin typeface="Poppins"/>
                <a:ea typeface="Poppins"/>
                <a:cs typeface="Poppins"/>
                <a:sym typeface="Poppins"/>
              </a:rPr>
              <a:t>Where we start</a:t>
            </a:r>
            <a:endParaRPr/>
          </a:p>
        </p:txBody>
      </p:sp>
      <p:sp>
        <p:nvSpPr>
          <p:cNvPr id="180" name="Google Shape;180;p5"/>
          <p:cNvSpPr txBox="1"/>
          <p:nvPr/>
        </p:nvSpPr>
        <p:spPr>
          <a:xfrm>
            <a:off x="822960" y="4160520"/>
            <a:ext cx="512064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2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162K</a:t>
            </a:r>
            <a:endParaRPr/>
          </a:p>
        </p:txBody>
      </p:sp>
      <p:sp>
        <p:nvSpPr>
          <p:cNvPr id="181" name="Google Shape;181;p5"/>
          <p:cNvSpPr txBox="1"/>
          <p:nvPr/>
        </p:nvSpPr>
        <p:spPr>
          <a:xfrm>
            <a:off x="822960" y="5760720"/>
            <a:ext cx="4937700" cy="77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434343"/>
                </a:solidFill>
                <a:latin typeface="Poppins"/>
                <a:ea typeface="Poppins"/>
                <a:cs typeface="Poppins"/>
                <a:sym typeface="Poppins"/>
              </a:rPr>
              <a:t>Boston college students. Year 1 is 12K of them.</a:t>
            </a:r>
            <a:endParaRPr sz="2400"/>
          </a:p>
        </p:txBody>
      </p:sp>
      <p:sp>
        <p:nvSpPr>
          <p:cNvPr id="182" name="Google Shape;182;p5"/>
          <p:cNvSpPr txBox="1"/>
          <p:nvPr/>
        </p:nvSpPr>
        <p:spPr>
          <a:xfrm>
            <a:off x="6492240" y="3749039"/>
            <a:ext cx="51206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6F6B34"/>
                </a:solidFill>
                <a:latin typeface="Poppins"/>
                <a:ea typeface="Poppins"/>
                <a:cs typeface="Poppins"/>
                <a:sym typeface="Poppins"/>
              </a:rPr>
              <a:t>Our users by Year 5</a:t>
            </a:r>
            <a:endParaRPr/>
          </a:p>
        </p:txBody>
      </p:sp>
      <p:sp>
        <p:nvSpPr>
          <p:cNvPr id="183" name="Google Shape;183;p5"/>
          <p:cNvSpPr txBox="1"/>
          <p:nvPr/>
        </p:nvSpPr>
        <p:spPr>
          <a:xfrm>
            <a:off x="6492240" y="4160520"/>
            <a:ext cx="512064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2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540K</a:t>
            </a:r>
            <a:endParaRPr/>
          </a:p>
        </p:txBody>
      </p:sp>
      <p:sp>
        <p:nvSpPr>
          <p:cNvPr id="184" name="Google Shape;184;p5"/>
          <p:cNvSpPr txBox="1"/>
          <p:nvPr/>
        </p:nvSpPr>
        <p:spPr>
          <a:xfrm>
            <a:off x="6492240" y="5760720"/>
            <a:ext cx="49377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434343"/>
                </a:solidFill>
                <a:latin typeface="Poppins"/>
                <a:ea typeface="Poppins"/>
                <a:cs typeface="Poppins"/>
                <a:sym typeface="Poppins"/>
              </a:rPr>
              <a:t>2.8% of US college students</a:t>
            </a:r>
            <a:endParaRPr sz="2400"/>
          </a:p>
        </p:txBody>
      </p:sp>
      <p:sp>
        <p:nvSpPr>
          <p:cNvPr id="185" name="Google Shape;185;p5"/>
          <p:cNvSpPr txBox="1"/>
          <p:nvPr/>
        </p:nvSpPr>
        <p:spPr>
          <a:xfrm>
            <a:off x="12161520" y="3749039"/>
            <a:ext cx="51206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6F6B34"/>
                </a:solidFill>
                <a:latin typeface="Poppins"/>
                <a:ea typeface="Poppins"/>
                <a:cs typeface="Poppins"/>
                <a:sym typeface="Poppins"/>
              </a:rPr>
              <a:t>Restaurants we can sign</a:t>
            </a:r>
            <a:endParaRPr/>
          </a:p>
        </p:txBody>
      </p:sp>
      <p:sp>
        <p:nvSpPr>
          <p:cNvPr id="186" name="Google Shape;186;p5"/>
          <p:cNvSpPr txBox="1"/>
          <p:nvPr/>
        </p:nvSpPr>
        <p:spPr>
          <a:xfrm>
            <a:off x="12161520" y="4160520"/>
            <a:ext cx="512064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2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3,350</a:t>
            </a:r>
            <a:endParaRPr/>
          </a:p>
        </p:txBody>
      </p:sp>
      <p:sp>
        <p:nvSpPr>
          <p:cNvPr id="187" name="Google Shape;187;p5"/>
          <p:cNvSpPr txBox="1"/>
          <p:nvPr/>
        </p:nvSpPr>
        <p:spPr>
          <a:xfrm>
            <a:off x="12161520" y="5760720"/>
            <a:ext cx="49377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434343"/>
                </a:solidFill>
                <a:latin typeface="Poppins"/>
                <a:ea typeface="Poppins"/>
                <a:cs typeface="Poppins"/>
                <a:sym typeface="Poppins"/>
              </a:rPr>
              <a:t>Licensed places to eat in Boston</a:t>
            </a:r>
            <a:endParaRPr sz="2400"/>
          </a:p>
        </p:txBody>
      </p:sp>
      <p:sp>
        <p:nvSpPr>
          <p:cNvPr id="188" name="Google Shape;188;p5"/>
          <p:cNvSpPr/>
          <p:nvPr/>
        </p:nvSpPr>
        <p:spPr>
          <a:xfrm>
            <a:off x="822960" y="6858000"/>
            <a:ext cx="16642080" cy="10972"/>
          </a:xfrm>
          <a:prstGeom prst="rect">
            <a:avLst/>
          </a:prstGeom>
          <a:solidFill>
            <a:srgbClr val="D9D9D9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5"/>
          <p:cNvSpPr txBox="1"/>
          <p:nvPr/>
        </p:nvSpPr>
        <p:spPr>
          <a:xfrm>
            <a:off x="822960" y="7040880"/>
            <a:ext cx="27432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6F6B34"/>
                </a:solidFill>
                <a:latin typeface="Poppins"/>
                <a:ea typeface="Poppins"/>
                <a:cs typeface="Poppins"/>
                <a:sym typeface="Poppins"/>
              </a:rPr>
              <a:t>The market</a:t>
            </a:r>
            <a:endParaRPr sz="2400"/>
          </a:p>
        </p:txBody>
      </p:sp>
      <p:sp>
        <p:nvSpPr>
          <p:cNvPr id="190" name="Google Shape;190;p5"/>
          <p:cNvSpPr txBox="1"/>
          <p:nvPr/>
        </p:nvSpPr>
        <p:spPr>
          <a:xfrm>
            <a:off x="3657600" y="7022592"/>
            <a:ext cx="13807500" cy="77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434343"/>
                </a:solidFill>
                <a:latin typeface="Poppins"/>
                <a:ea typeface="Poppins"/>
                <a:cs typeface="Poppins"/>
                <a:sym typeface="Poppins"/>
              </a:rPr>
              <a:t>77.8M people aged 18 to 34 (TAM), 19M US college students we can reach (SAM), 540K we plan to win (SOM).</a:t>
            </a:r>
            <a:endParaRPr sz="2400"/>
          </a:p>
        </p:txBody>
      </p:sp>
      <p:sp>
        <p:nvSpPr>
          <p:cNvPr id="191" name="Google Shape;191;p5"/>
          <p:cNvSpPr txBox="1"/>
          <p:nvPr/>
        </p:nvSpPr>
        <p:spPr>
          <a:xfrm>
            <a:off x="822935" y="8046720"/>
            <a:ext cx="27432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6F6B34"/>
                </a:solidFill>
                <a:latin typeface="Poppins"/>
                <a:ea typeface="Poppins"/>
                <a:cs typeface="Poppins"/>
                <a:sym typeface="Poppins"/>
              </a:rPr>
              <a:t>Growth</a:t>
            </a:r>
            <a:endParaRPr sz="2400"/>
          </a:p>
        </p:txBody>
      </p:sp>
      <p:sp>
        <p:nvSpPr>
          <p:cNvPr id="192" name="Google Shape;192;p5"/>
          <p:cNvSpPr txBox="1"/>
          <p:nvPr/>
        </p:nvSpPr>
        <p:spPr>
          <a:xfrm>
            <a:off x="3657575" y="8028432"/>
            <a:ext cx="138075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434343"/>
                </a:solidFill>
                <a:latin typeface="Poppins"/>
                <a:ea typeface="Poppins"/>
                <a:cs typeface="Poppins"/>
                <a:sym typeface="Poppins"/>
              </a:rPr>
              <a:t>Boston first. Other cities from Year 3.</a:t>
            </a:r>
            <a:endParaRPr sz="2400"/>
          </a:p>
        </p:txBody>
      </p:sp>
      <p:sp>
        <p:nvSpPr>
          <p:cNvPr id="193" name="Google Shape;193;p5"/>
          <p:cNvSpPr txBox="1"/>
          <p:nvPr/>
        </p:nvSpPr>
        <p:spPr>
          <a:xfrm>
            <a:off x="822935" y="8686800"/>
            <a:ext cx="27432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6F6B34"/>
                </a:solidFill>
                <a:latin typeface="Poppins"/>
                <a:ea typeface="Poppins"/>
                <a:cs typeface="Poppins"/>
                <a:sym typeface="Poppins"/>
              </a:rPr>
              <a:t>Why not Beli</a:t>
            </a:r>
            <a:endParaRPr sz="2400"/>
          </a:p>
        </p:txBody>
      </p:sp>
      <p:sp>
        <p:nvSpPr>
          <p:cNvPr id="194" name="Google Shape;194;p5"/>
          <p:cNvSpPr txBox="1"/>
          <p:nvPr/>
        </p:nvSpPr>
        <p:spPr>
          <a:xfrm>
            <a:off x="3657575" y="8668512"/>
            <a:ext cx="138075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434343"/>
                </a:solidFill>
                <a:latin typeface="Poppins"/>
                <a:ea typeface="Poppins"/>
                <a:cs typeface="Poppins"/>
                <a:sym typeface="Poppins"/>
              </a:rPr>
              <a:t>Beli ranks where you've been. We tell you where to go now, with scores people proved.</a:t>
            </a:r>
            <a:endParaRPr sz="24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6"/>
          <p:cNvSpPr txBox="1"/>
          <p:nvPr/>
        </p:nvSpPr>
        <p:spPr>
          <a:xfrm>
            <a:off x="822960" y="685800"/>
            <a:ext cx="109728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6F6B34"/>
                </a:solidFill>
                <a:latin typeface="Poppins"/>
                <a:ea typeface="Poppins"/>
                <a:cs typeface="Poppins"/>
                <a:sym typeface="Poppins"/>
              </a:rPr>
              <a:t>How we get users</a:t>
            </a:r>
            <a:endParaRPr/>
          </a:p>
        </p:txBody>
      </p:sp>
      <p:sp>
        <p:nvSpPr>
          <p:cNvPr id="201" name="Google Shape;201;p6"/>
          <p:cNvSpPr txBox="1"/>
          <p:nvPr/>
        </p:nvSpPr>
        <p:spPr>
          <a:xfrm>
            <a:off x="16093440" y="685800"/>
            <a:ext cx="1371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95959"/>
                </a:solidFill>
                <a:latin typeface="Poppins"/>
                <a:ea typeface="Poppins"/>
                <a:cs typeface="Poppins"/>
                <a:sym typeface="Poppins"/>
              </a:rPr>
              <a:t>6</a:t>
            </a:r>
            <a:endParaRPr/>
          </a:p>
        </p:txBody>
      </p:sp>
      <p:sp>
        <p:nvSpPr>
          <p:cNvPr id="202" name="Google Shape;202;p6"/>
          <p:cNvSpPr txBox="1"/>
          <p:nvPr/>
        </p:nvSpPr>
        <p:spPr>
          <a:xfrm>
            <a:off x="822960" y="1234440"/>
            <a:ext cx="15087600" cy="2011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44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Our first 1,000 users come from Boston campuses, starting with ours, </a:t>
            </a:r>
            <a:r>
              <a:rPr b="0" i="0" lang="en-US" sz="4400" u="none" cap="none" strike="noStrike">
                <a:solidFill>
                  <a:srgbClr val="595959"/>
                </a:solidFill>
                <a:latin typeface="Poppins"/>
                <a:ea typeface="Poppins"/>
                <a:cs typeface="Poppins"/>
                <a:sym typeface="Poppins"/>
              </a:rPr>
              <a:t>one friend inviting the next.</a:t>
            </a:r>
            <a:endParaRPr/>
          </a:p>
        </p:txBody>
      </p:sp>
      <p:sp>
        <p:nvSpPr>
          <p:cNvPr id="203" name="Google Shape;203;p6"/>
          <p:cNvSpPr txBox="1"/>
          <p:nvPr/>
        </p:nvSpPr>
        <p:spPr>
          <a:xfrm>
            <a:off x="822960" y="9555480"/>
            <a:ext cx="166420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95959"/>
                </a:solidFill>
                <a:latin typeface="Roboto Mono"/>
                <a:ea typeface="Roboto Mono"/>
                <a:cs typeface="Roboto Mono"/>
                <a:sym typeface="Roboto Mono"/>
              </a:rPr>
              <a:t>Beli referrals: Wall Street Journal, May 2025. User targets are from our Gate 2 model.</a:t>
            </a:r>
            <a:endParaRPr/>
          </a:p>
        </p:txBody>
      </p:sp>
      <p:sp>
        <p:nvSpPr>
          <p:cNvPr id="204" name="Google Shape;204;p6"/>
          <p:cNvSpPr txBox="1"/>
          <p:nvPr/>
        </p:nvSpPr>
        <p:spPr>
          <a:xfrm>
            <a:off x="3657600" y="3657600"/>
            <a:ext cx="6583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6F6B34"/>
                </a:solidFill>
                <a:latin typeface="Poppins"/>
                <a:ea typeface="Poppins"/>
                <a:cs typeface="Poppins"/>
                <a:sym typeface="Poppins"/>
              </a:rPr>
              <a:t>Who they are and where we find them</a:t>
            </a:r>
            <a:endParaRPr sz="2400"/>
          </a:p>
        </p:txBody>
      </p:sp>
      <p:sp>
        <p:nvSpPr>
          <p:cNvPr id="205" name="Google Shape;205;p6"/>
          <p:cNvSpPr txBox="1"/>
          <p:nvPr/>
        </p:nvSpPr>
        <p:spPr>
          <a:xfrm>
            <a:off x="10607040" y="3657600"/>
            <a:ext cx="6858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6F6B34"/>
                </a:solidFill>
                <a:latin typeface="Poppins"/>
                <a:ea typeface="Poppins"/>
                <a:cs typeface="Poppins"/>
                <a:sym typeface="Poppins"/>
              </a:rPr>
              <a:t>What we tell them</a:t>
            </a:r>
            <a:endParaRPr sz="2400"/>
          </a:p>
        </p:txBody>
      </p:sp>
      <p:sp>
        <p:nvSpPr>
          <p:cNvPr id="206" name="Google Shape;206;p6"/>
          <p:cNvSpPr/>
          <p:nvPr/>
        </p:nvSpPr>
        <p:spPr>
          <a:xfrm>
            <a:off x="822960" y="4133088"/>
            <a:ext cx="16642080" cy="10972"/>
          </a:xfrm>
          <a:prstGeom prst="rect">
            <a:avLst/>
          </a:prstGeom>
          <a:solidFill>
            <a:srgbClr val="D9D9D9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6"/>
          <p:cNvSpPr txBox="1"/>
          <p:nvPr/>
        </p:nvSpPr>
        <p:spPr>
          <a:xfrm>
            <a:off x="822960" y="4297680"/>
            <a:ext cx="26517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First 10</a:t>
            </a:r>
            <a:endParaRPr sz="2400"/>
          </a:p>
        </p:txBody>
      </p:sp>
      <p:sp>
        <p:nvSpPr>
          <p:cNvPr id="208" name="Google Shape;208;p6"/>
          <p:cNvSpPr txBox="1"/>
          <p:nvPr/>
        </p:nvSpPr>
        <p:spPr>
          <a:xfrm>
            <a:off x="3657600" y="4297680"/>
            <a:ext cx="6583800" cy="77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434343"/>
                </a:solidFill>
                <a:latin typeface="Poppins"/>
                <a:ea typeface="Poppins"/>
                <a:cs typeface="Poppins"/>
                <a:sym typeface="Poppins"/>
              </a:rPr>
              <a:t>People we interviewed and our friends test the prototype.</a:t>
            </a:r>
            <a:endParaRPr sz="2400"/>
          </a:p>
        </p:txBody>
      </p:sp>
      <p:sp>
        <p:nvSpPr>
          <p:cNvPr id="209" name="Google Shape;209;p6"/>
          <p:cNvSpPr txBox="1"/>
          <p:nvPr/>
        </p:nvSpPr>
        <p:spPr>
          <a:xfrm>
            <a:off x="10607040" y="4297680"/>
            <a:ext cx="6858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Help us build it.</a:t>
            </a:r>
            <a:endParaRPr sz="2400"/>
          </a:p>
        </p:txBody>
      </p:sp>
      <p:sp>
        <p:nvSpPr>
          <p:cNvPr id="210" name="Google Shape;210;p6"/>
          <p:cNvSpPr/>
          <p:nvPr/>
        </p:nvSpPr>
        <p:spPr>
          <a:xfrm>
            <a:off x="822960" y="5458968"/>
            <a:ext cx="16642080" cy="10972"/>
          </a:xfrm>
          <a:prstGeom prst="rect">
            <a:avLst/>
          </a:prstGeom>
          <a:solidFill>
            <a:srgbClr val="D9D9D9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6"/>
          <p:cNvSpPr txBox="1"/>
          <p:nvPr/>
        </p:nvSpPr>
        <p:spPr>
          <a:xfrm>
            <a:off x="822960" y="5623560"/>
            <a:ext cx="26517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First 100</a:t>
            </a:r>
            <a:endParaRPr sz="2400"/>
          </a:p>
        </p:txBody>
      </p:sp>
      <p:sp>
        <p:nvSpPr>
          <p:cNvPr id="212" name="Google Shape;212;p6"/>
          <p:cNvSpPr txBox="1"/>
          <p:nvPr/>
        </p:nvSpPr>
        <p:spPr>
          <a:xfrm>
            <a:off x="3657600" y="5623560"/>
            <a:ext cx="6583800" cy="77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434343"/>
                </a:solidFill>
                <a:latin typeface="Poppins"/>
                <a:ea typeface="Poppins"/>
                <a:cs typeface="Poppins"/>
                <a:sym typeface="Poppins"/>
              </a:rPr>
              <a:t>Northeastern students they invite, plus clubs and group chats.</a:t>
            </a:r>
            <a:endParaRPr sz="2400"/>
          </a:p>
        </p:txBody>
      </p:sp>
      <p:sp>
        <p:nvSpPr>
          <p:cNvPr id="213" name="Google Shape;213;p6"/>
          <p:cNvSpPr txBox="1"/>
          <p:nvPr/>
        </p:nvSpPr>
        <p:spPr>
          <a:xfrm>
            <a:off x="10607040" y="5623560"/>
            <a:ext cx="6858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Every rating for a place, in one app.</a:t>
            </a:r>
            <a:endParaRPr sz="2400"/>
          </a:p>
        </p:txBody>
      </p:sp>
      <p:sp>
        <p:nvSpPr>
          <p:cNvPr id="214" name="Google Shape;214;p6"/>
          <p:cNvSpPr/>
          <p:nvPr/>
        </p:nvSpPr>
        <p:spPr>
          <a:xfrm>
            <a:off x="822960" y="6784848"/>
            <a:ext cx="16642080" cy="10972"/>
          </a:xfrm>
          <a:prstGeom prst="rect">
            <a:avLst/>
          </a:prstGeom>
          <a:solidFill>
            <a:srgbClr val="D9D9D9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6"/>
          <p:cNvSpPr txBox="1"/>
          <p:nvPr/>
        </p:nvSpPr>
        <p:spPr>
          <a:xfrm>
            <a:off x="822960" y="6949440"/>
            <a:ext cx="26517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First 1,000</a:t>
            </a:r>
            <a:endParaRPr sz="2400"/>
          </a:p>
        </p:txBody>
      </p:sp>
      <p:sp>
        <p:nvSpPr>
          <p:cNvPr id="216" name="Google Shape;216;p6"/>
          <p:cNvSpPr txBox="1"/>
          <p:nvPr/>
        </p:nvSpPr>
        <p:spPr>
          <a:xfrm>
            <a:off x="3657600" y="6949440"/>
            <a:ext cx="6583800" cy="77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434343"/>
                </a:solidFill>
                <a:latin typeface="Poppins"/>
                <a:ea typeface="Poppins"/>
                <a:cs typeface="Poppins"/>
                <a:sym typeface="Poppins"/>
              </a:rPr>
              <a:t>Other Boston campuses, through student ambassadors and food posts.</a:t>
            </a:r>
            <a:endParaRPr sz="2400"/>
          </a:p>
        </p:txBody>
      </p:sp>
      <p:sp>
        <p:nvSpPr>
          <p:cNvPr id="217" name="Google Shape;217;p6"/>
          <p:cNvSpPr txBox="1"/>
          <p:nvPr/>
        </p:nvSpPr>
        <p:spPr>
          <a:xfrm>
            <a:off x="10607040" y="6949440"/>
            <a:ext cx="6858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One app instead of five tabs.</a:t>
            </a:r>
            <a:endParaRPr sz="2400"/>
          </a:p>
        </p:txBody>
      </p:sp>
      <p:sp>
        <p:nvSpPr>
          <p:cNvPr id="218" name="Google Shape;218;p6"/>
          <p:cNvSpPr/>
          <p:nvPr/>
        </p:nvSpPr>
        <p:spPr>
          <a:xfrm>
            <a:off x="822960" y="8110728"/>
            <a:ext cx="16642080" cy="10972"/>
          </a:xfrm>
          <a:prstGeom prst="rect">
            <a:avLst/>
          </a:prstGeom>
          <a:solidFill>
            <a:srgbClr val="D9D9D9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6"/>
          <p:cNvSpPr txBox="1"/>
          <p:nvPr/>
        </p:nvSpPr>
        <p:spPr>
          <a:xfrm>
            <a:off x="822960" y="8458200"/>
            <a:ext cx="16642200" cy="77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434343"/>
                </a:solidFill>
                <a:latin typeface="Poppins"/>
                <a:ea typeface="Poppins"/>
                <a:cs typeface="Poppins"/>
                <a:sym typeface="Poppins"/>
              </a:rPr>
              <a:t>Friends inviting friends gets us to 12K by the end of Year 1; about 80% of Beli's users arrived that way. Users never have to pay.</a:t>
            </a:r>
            <a:endParaRPr sz="24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7"/>
          <p:cNvSpPr txBox="1"/>
          <p:nvPr/>
        </p:nvSpPr>
        <p:spPr>
          <a:xfrm>
            <a:off x="822960" y="685800"/>
            <a:ext cx="109728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6F6B34"/>
                </a:solidFill>
                <a:latin typeface="Poppins"/>
                <a:ea typeface="Poppins"/>
                <a:cs typeface="Poppins"/>
                <a:sym typeface="Poppins"/>
              </a:rPr>
              <a:t>Why restaurants pay</a:t>
            </a:r>
            <a:endParaRPr/>
          </a:p>
        </p:txBody>
      </p:sp>
      <p:sp>
        <p:nvSpPr>
          <p:cNvPr id="226" name="Google Shape;226;p7"/>
          <p:cNvSpPr txBox="1"/>
          <p:nvPr/>
        </p:nvSpPr>
        <p:spPr>
          <a:xfrm>
            <a:off x="16093440" y="685800"/>
            <a:ext cx="1371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95959"/>
                </a:solidFill>
                <a:latin typeface="Poppins"/>
                <a:ea typeface="Poppins"/>
                <a:cs typeface="Poppins"/>
                <a:sym typeface="Poppins"/>
              </a:rPr>
              <a:t>7</a:t>
            </a:r>
            <a:endParaRPr/>
          </a:p>
        </p:txBody>
      </p:sp>
      <p:sp>
        <p:nvSpPr>
          <p:cNvPr id="227" name="Google Shape;227;p7"/>
          <p:cNvSpPr txBox="1"/>
          <p:nvPr/>
        </p:nvSpPr>
        <p:spPr>
          <a:xfrm>
            <a:off x="822960" y="1208990"/>
            <a:ext cx="15087600" cy="67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44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Restaurants pay for the diners we send, not for ads.</a:t>
            </a:r>
            <a:endParaRPr/>
          </a:p>
        </p:txBody>
      </p:sp>
      <p:sp>
        <p:nvSpPr>
          <p:cNvPr id="228" name="Google Shape;228;p7"/>
          <p:cNvSpPr txBox="1"/>
          <p:nvPr/>
        </p:nvSpPr>
        <p:spPr>
          <a:xfrm>
            <a:off x="822960" y="9555480"/>
            <a:ext cx="166420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95959"/>
                </a:solidFill>
                <a:latin typeface="Roboto Mono"/>
                <a:ea typeface="Roboto Mono"/>
                <a:cs typeface="Roboto Mono"/>
                <a:sym typeface="Roboto Mono"/>
              </a:rPr>
              <a:t>OpenTable pricing via Eat App, 2026. TechCrunch, Aug 2024 (Placer.ai). Together these come to $356K of revenue in Year 5.</a:t>
            </a:r>
            <a:endParaRPr/>
          </a:p>
        </p:txBody>
      </p:sp>
      <p:sp>
        <p:nvSpPr>
          <p:cNvPr id="229" name="Google Shape;229;p7"/>
          <p:cNvSpPr txBox="1"/>
          <p:nvPr/>
        </p:nvSpPr>
        <p:spPr>
          <a:xfrm>
            <a:off x="4206240" y="3657600"/>
            <a:ext cx="50292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6F6B34"/>
                </a:solidFill>
                <a:latin typeface="Poppins"/>
                <a:ea typeface="Poppins"/>
                <a:cs typeface="Poppins"/>
                <a:sym typeface="Poppins"/>
              </a:rPr>
              <a:t>Their problem</a:t>
            </a:r>
            <a:endParaRPr sz="2400"/>
          </a:p>
        </p:txBody>
      </p:sp>
      <p:sp>
        <p:nvSpPr>
          <p:cNvPr id="230" name="Google Shape;230;p7"/>
          <p:cNvSpPr txBox="1"/>
          <p:nvPr/>
        </p:nvSpPr>
        <p:spPr>
          <a:xfrm>
            <a:off x="9509760" y="3657600"/>
            <a:ext cx="566928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6F6B34"/>
                </a:solidFill>
                <a:latin typeface="Poppins"/>
                <a:ea typeface="Poppins"/>
                <a:cs typeface="Poppins"/>
                <a:sym typeface="Poppins"/>
              </a:rPr>
              <a:t>What we charge</a:t>
            </a:r>
            <a:endParaRPr sz="2400"/>
          </a:p>
        </p:txBody>
      </p:sp>
      <p:sp>
        <p:nvSpPr>
          <p:cNvPr id="231" name="Google Shape;231;p7"/>
          <p:cNvSpPr txBox="1"/>
          <p:nvPr/>
        </p:nvSpPr>
        <p:spPr>
          <a:xfrm>
            <a:off x="15453360" y="3657600"/>
            <a:ext cx="201168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6F6B34"/>
                </a:solidFill>
                <a:latin typeface="Poppins"/>
                <a:ea typeface="Poppins"/>
                <a:cs typeface="Poppins"/>
                <a:sym typeface="Poppins"/>
              </a:rPr>
              <a:t>Year 5</a:t>
            </a:r>
            <a:endParaRPr sz="2400"/>
          </a:p>
        </p:txBody>
      </p:sp>
      <p:sp>
        <p:nvSpPr>
          <p:cNvPr id="232" name="Google Shape;232;p7"/>
          <p:cNvSpPr/>
          <p:nvPr/>
        </p:nvSpPr>
        <p:spPr>
          <a:xfrm>
            <a:off x="822960" y="4041648"/>
            <a:ext cx="16642080" cy="10972"/>
          </a:xfrm>
          <a:prstGeom prst="rect">
            <a:avLst/>
          </a:prstGeom>
          <a:solidFill>
            <a:srgbClr val="D9D9D9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7"/>
          <p:cNvSpPr txBox="1"/>
          <p:nvPr/>
        </p:nvSpPr>
        <p:spPr>
          <a:xfrm>
            <a:off x="822960" y="4206240"/>
            <a:ext cx="3200400" cy="77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Restaurants, booking sites, chains</a:t>
            </a:r>
            <a:endParaRPr sz="2400"/>
          </a:p>
        </p:txBody>
      </p:sp>
      <p:sp>
        <p:nvSpPr>
          <p:cNvPr id="234" name="Google Shape;234;p7"/>
          <p:cNvSpPr txBox="1"/>
          <p:nvPr/>
        </p:nvSpPr>
        <p:spPr>
          <a:xfrm>
            <a:off x="4206240" y="4206240"/>
            <a:ext cx="5029200" cy="1323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rgbClr val="434343"/>
                </a:solidFill>
                <a:latin typeface="Poppins"/>
                <a:ea typeface="Poppins"/>
                <a:cs typeface="Poppins"/>
                <a:sym typeface="Poppins"/>
              </a:rPr>
              <a:t>Pay for ads up front and can't tell what worked. Chains guess what a neighborhood eats before signing a lease.</a:t>
            </a:r>
            <a:endParaRPr sz="2200"/>
          </a:p>
        </p:txBody>
      </p:sp>
      <p:sp>
        <p:nvSpPr>
          <p:cNvPr id="235" name="Google Shape;235;p7"/>
          <p:cNvSpPr txBox="1"/>
          <p:nvPr/>
        </p:nvSpPr>
        <p:spPr>
          <a:xfrm>
            <a:off x="9509760" y="4206240"/>
            <a:ext cx="5669280" cy="1323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About $0.90 per new diner we send, once a receipt proves it. Booking sites pay per table. Chains: $6,000 a year per neighborhood</a:t>
            </a:r>
            <a:r>
              <a:rPr lang="en-US" sz="2200">
                <a:latin typeface="Poppins"/>
                <a:ea typeface="Poppins"/>
                <a:cs typeface="Poppins"/>
                <a:sym typeface="Poppins"/>
              </a:rPr>
              <a:t>.</a:t>
            </a:r>
            <a:endParaRPr sz="2200"/>
          </a:p>
        </p:txBody>
      </p:sp>
      <p:sp>
        <p:nvSpPr>
          <p:cNvPr id="236" name="Google Shape;236;p7"/>
          <p:cNvSpPr txBox="1"/>
          <p:nvPr/>
        </p:nvSpPr>
        <p:spPr>
          <a:xfrm>
            <a:off x="15453360" y="4206240"/>
            <a:ext cx="201168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$288K</a:t>
            </a:r>
            <a:endParaRPr sz="2400"/>
          </a:p>
        </p:txBody>
      </p:sp>
      <p:sp>
        <p:nvSpPr>
          <p:cNvPr id="237" name="Google Shape;237;p7"/>
          <p:cNvSpPr/>
          <p:nvPr/>
        </p:nvSpPr>
        <p:spPr>
          <a:xfrm>
            <a:off x="822960" y="6172200"/>
            <a:ext cx="16642080" cy="10972"/>
          </a:xfrm>
          <a:prstGeom prst="rect">
            <a:avLst/>
          </a:prstGeom>
          <a:solidFill>
            <a:srgbClr val="D9D9D9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" name="Google Shape;238;p7"/>
          <p:cNvSpPr txBox="1"/>
          <p:nvPr/>
        </p:nvSpPr>
        <p:spPr>
          <a:xfrm>
            <a:off x="822960" y="6355080"/>
            <a:ext cx="32004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Users</a:t>
            </a:r>
            <a:endParaRPr sz="2400"/>
          </a:p>
        </p:txBody>
      </p:sp>
      <p:sp>
        <p:nvSpPr>
          <p:cNvPr id="239" name="Google Shape;239;p7"/>
          <p:cNvSpPr txBox="1"/>
          <p:nvPr/>
        </p:nvSpPr>
        <p:spPr>
          <a:xfrm>
            <a:off x="4206240" y="6355080"/>
            <a:ext cx="5029200" cy="985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rgbClr val="434343"/>
                </a:solidFill>
                <a:latin typeface="Poppins"/>
                <a:ea typeface="Poppins"/>
                <a:cs typeface="Poppins"/>
                <a:sym typeface="Poppins"/>
              </a:rPr>
              <a:t>The app is free. About 3 in 1,000 pay for extras. What the $5 buys is our first Year 1 test.</a:t>
            </a:r>
            <a:endParaRPr sz="2200"/>
          </a:p>
        </p:txBody>
      </p:sp>
      <p:sp>
        <p:nvSpPr>
          <p:cNvPr id="240" name="Google Shape;240;p7"/>
          <p:cNvSpPr txBox="1"/>
          <p:nvPr/>
        </p:nvSpPr>
        <p:spPr>
          <a:xfrm>
            <a:off x="9509760" y="6355080"/>
            <a:ext cx="566928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An optional $5 a month membership.</a:t>
            </a:r>
            <a:endParaRPr sz="2200"/>
          </a:p>
        </p:txBody>
      </p:sp>
      <p:sp>
        <p:nvSpPr>
          <p:cNvPr id="241" name="Google Shape;241;p7"/>
          <p:cNvSpPr txBox="1"/>
          <p:nvPr/>
        </p:nvSpPr>
        <p:spPr>
          <a:xfrm>
            <a:off x="15453360" y="6355080"/>
            <a:ext cx="201168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$67K</a:t>
            </a:r>
            <a:endParaRPr sz="2400"/>
          </a:p>
        </p:txBody>
      </p:sp>
      <p:sp>
        <p:nvSpPr>
          <p:cNvPr id="242" name="Google Shape;242;p7"/>
          <p:cNvSpPr/>
          <p:nvPr/>
        </p:nvSpPr>
        <p:spPr>
          <a:xfrm>
            <a:off x="822960" y="7909560"/>
            <a:ext cx="16642080" cy="10972"/>
          </a:xfrm>
          <a:prstGeom prst="rect">
            <a:avLst/>
          </a:prstGeom>
          <a:solidFill>
            <a:srgbClr val="D9D9D9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p7"/>
          <p:cNvSpPr txBox="1"/>
          <p:nvPr/>
        </p:nvSpPr>
        <p:spPr>
          <a:xfrm>
            <a:off x="822960" y="8138160"/>
            <a:ext cx="166422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Two sides pay, $356K in Year 5. Paying never changes a score or a ranking.</a:t>
            </a:r>
            <a:endParaRPr sz="2400"/>
          </a:p>
        </p:txBody>
      </p:sp>
      <p:sp>
        <p:nvSpPr>
          <p:cNvPr id="244" name="Google Shape;244;p7"/>
          <p:cNvSpPr txBox="1"/>
          <p:nvPr/>
        </p:nvSpPr>
        <p:spPr>
          <a:xfrm>
            <a:off x="822960" y="8732520"/>
            <a:ext cx="166422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434343"/>
                </a:solidFill>
                <a:latin typeface="Poppins"/>
                <a:ea typeface="Poppins"/>
                <a:cs typeface="Poppins"/>
                <a:sym typeface="Poppins"/>
              </a:rPr>
              <a:t>Next: five owner calls, each offered a free 30-day pilot and a report of the diners we sent.</a:t>
            </a:r>
            <a:endParaRPr sz="24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9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8"/>
          <p:cNvSpPr txBox="1"/>
          <p:nvPr/>
        </p:nvSpPr>
        <p:spPr>
          <a:xfrm>
            <a:off x="822960" y="685800"/>
            <a:ext cx="109728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6F6B34"/>
                </a:solidFill>
                <a:latin typeface="Poppins"/>
                <a:ea typeface="Poppins"/>
                <a:cs typeface="Poppins"/>
                <a:sym typeface="Poppins"/>
              </a:rPr>
              <a:t>What we learned</a:t>
            </a:r>
            <a:endParaRPr/>
          </a:p>
        </p:txBody>
      </p:sp>
      <p:sp>
        <p:nvSpPr>
          <p:cNvPr id="251" name="Google Shape;251;p8"/>
          <p:cNvSpPr txBox="1"/>
          <p:nvPr/>
        </p:nvSpPr>
        <p:spPr>
          <a:xfrm>
            <a:off x="16093440" y="685800"/>
            <a:ext cx="1371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95959"/>
                </a:solidFill>
                <a:latin typeface="Poppins"/>
                <a:ea typeface="Poppins"/>
                <a:cs typeface="Poppins"/>
                <a:sym typeface="Poppins"/>
              </a:rPr>
              <a:t>8</a:t>
            </a:r>
            <a:endParaRPr/>
          </a:p>
        </p:txBody>
      </p:sp>
      <p:sp>
        <p:nvSpPr>
          <p:cNvPr id="252" name="Google Shape;252;p8"/>
          <p:cNvSpPr txBox="1"/>
          <p:nvPr/>
        </p:nvSpPr>
        <p:spPr>
          <a:xfrm>
            <a:off x="822960" y="1234440"/>
            <a:ext cx="15087600" cy="2011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44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None of the apps before us made money early, </a:t>
            </a:r>
            <a:r>
              <a:rPr b="0" i="0" lang="en-US" sz="4400" u="none" cap="none" strike="noStrike">
                <a:solidFill>
                  <a:srgbClr val="595959"/>
                </a:solidFill>
                <a:latin typeface="Poppins"/>
                <a:ea typeface="Poppins"/>
                <a:cs typeface="Poppins"/>
                <a:sym typeface="Poppins"/>
              </a:rPr>
              <a:t>so we kept ours lean.</a:t>
            </a:r>
            <a:endParaRPr/>
          </a:p>
        </p:txBody>
      </p:sp>
      <p:sp>
        <p:nvSpPr>
          <p:cNvPr id="253" name="Google Shape;253;p8"/>
          <p:cNvSpPr txBox="1"/>
          <p:nvPr/>
        </p:nvSpPr>
        <p:spPr>
          <a:xfrm>
            <a:off x="822960" y="9555480"/>
            <a:ext cx="166420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95959"/>
                </a:solidFill>
                <a:latin typeface="Roboto Mono"/>
                <a:ea typeface="Roboto Mono"/>
                <a:cs typeface="Roboto Mono"/>
                <a:sym typeface="Roboto Mono"/>
              </a:rPr>
              <a:t>OpenTable Form S-1, 2009. TechCrunch, May 2019 (Resy). Sensor Tower in the Boston Globe, Nov 2025, and Wall Street Journal, May 2025 (Beli). Resy never reported a profit.</a:t>
            </a:r>
            <a:endParaRPr/>
          </a:p>
        </p:txBody>
      </p:sp>
      <p:sp>
        <p:nvSpPr>
          <p:cNvPr id="254" name="Google Shape;254;p8"/>
          <p:cNvSpPr txBox="1"/>
          <p:nvPr/>
        </p:nvSpPr>
        <p:spPr>
          <a:xfrm>
            <a:off x="3657600" y="3657600"/>
            <a:ext cx="6583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6F6B34"/>
                </a:solidFill>
                <a:latin typeface="Poppins"/>
                <a:ea typeface="Poppins"/>
                <a:cs typeface="Poppins"/>
                <a:sym typeface="Poppins"/>
              </a:rPr>
              <a:t>What happened to them</a:t>
            </a:r>
            <a:endParaRPr sz="2400"/>
          </a:p>
        </p:txBody>
      </p:sp>
      <p:sp>
        <p:nvSpPr>
          <p:cNvPr id="255" name="Google Shape;255;p8"/>
          <p:cNvSpPr txBox="1"/>
          <p:nvPr/>
        </p:nvSpPr>
        <p:spPr>
          <a:xfrm>
            <a:off x="10607040" y="3657600"/>
            <a:ext cx="6858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6F6B34"/>
                </a:solidFill>
                <a:latin typeface="Poppins"/>
                <a:ea typeface="Poppins"/>
                <a:cs typeface="Poppins"/>
                <a:sym typeface="Poppins"/>
              </a:rPr>
              <a:t>What we did about it</a:t>
            </a:r>
            <a:endParaRPr sz="2400"/>
          </a:p>
        </p:txBody>
      </p:sp>
      <p:sp>
        <p:nvSpPr>
          <p:cNvPr id="256" name="Google Shape;256;p8"/>
          <p:cNvSpPr/>
          <p:nvPr/>
        </p:nvSpPr>
        <p:spPr>
          <a:xfrm>
            <a:off x="822960" y="4133088"/>
            <a:ext cx="16642080" cy="10972"/>
          </a:xfrm>
          <a:prstGeom prst="rect">
            <a:avLst/>
          </a:prstGeom>
          <a:solidFill>
            <a:srgbClr val="D9D9D9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p8"/>
          <p:cNvSpPr txBox="1"/>
          <p:nvPr/>
        </p:nvSpPr>
        <p:spPr>
          <a:xfrm>
            <a:off x="822960" y="4297680"/>
            <a:ext cx="26517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OpenTable</a:t>
            </a:r>
            <a:endParaRPr sz="2400"/>
          </a:p>
        </p:txBody>
      </p:sp>
      <p:sp>
        <p:nvSpPr>
          <p:cNvPr id="258" name="Google Shape;258;p8"/>
          <p:cNvSpPr txBox="1"/>
          <p:nvPr/>
        </p:nvSpPr>
        <p:spPr>
          <a:xfrm>
            <a:off x="3657600" y="4297680"/>
            <a:ext cx="6583800" cy="77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434343"/>
                </a:solidFill>
                <a:latin typeface="Poppins"/>
                <a:ea typeface="Poppins"/>
                <a:cs typeface="Poppins"/>
                <a:sym typeface="Poppins"/>
              </a:rPr>
              <a:t>Nine years to a profit, $57M lost getting there.</a:t>
            </a:r>
            <a:endParaRPr sz="2400"/>
          </a:p>
        </p:txBody>
      </p:sp>
      <p:sp>
        <p:nvSpPr>
          <p:cNvPr id="259" name="Google Shape;259;p8"/>
          <p:cNvSpPr txBox="1"/>
          <p:nvPr/>
        </p:nvSpPr>
        <p:spPr>
          <a:xfrm>
            <a:off x="10607040" y="4297680"/>
            <a:ext cx="6858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No salaries. Co-op students before hires.</a:t>
            </a:r>
            <a:endParaRPr sz="2400"/>
          </a:p>
        </p:txBody>
      </p:sp>
      <p:sp>
        <p:nvSpPr>
          <p:cNvPr id="260" name="Google Shape;260;p8"/>
          <p:cNvSpPr/>
          <p:nvPr/>
        </p:nvSpPr>
        <p:spPr>
          <a:xfrm>
            <a:off x="822960" y="5458968"/>
            <a:ext cx="16642080" cy="10972"/>
          </a:xfrm>
          <a:prstGeom prst="rect">
            <a:avLst/>
          </a:prstGeom>
          <a:solidFill>
            <a:srgbClr val="D9D9D9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" name="Google Shape;261;p8"/>
          <p:cNvSpPr txBox="1"/>
          <p:nvPr/>
        </p:nvSpPr>
        <p:spPr>
          <a:xfrm>
            <a:off x="822960" y="5623560"/>
            <a:ext cx="26517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Resy</a:t>
            </a:r>
            <a:endParaRPr sz="2400"/>
          </a:p>
        </p:txBody>
      </p:sp>
      <p:sp>
        <p:nvSpPr>
          <p:cNvPr id="262" name="Google Shape;262;p8"/>
          <p:cNvSpPr txBox="1"/>
          <p:nvPr/>
        </p:nvSpPr>
        <p:spPr>
          <a:xfrm>
            <a:off x="3657600" y="5623560"/>
            <a:ext cx="6583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434343"/>
                </a:solidFill>
                <a:latin typeface="Poppins"/>
                <a:ea typeface="Poppins"/>
                <a:cs typeface="Poppins"/>
                <a:sym typeface="Poppins"/>
              </a:rPr>
              <a:t>Ran on $45M of investor money, then sold.</a:t>
            </a:r>
            <a:endParaRPr sz="2400"/>
          </a:p>
        </p:txBody>
      </p:sp>
      <p:sp>
        <p:nvSpPr>
          <p:cNvPr id="263" name="Google Shape;263;p8"/>
          <p:cNvSpPr txBox="1"/>
          <p:nvPr/>
        </p:nvSpPr>
        <p:spPr>
          <a:xfrm>
            <a:off x="10607040" y="5623560"/>
            <a:ext cx="6858000" cy="77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Costs low enough to need $240K, starting with grants.</a:t>
            </a:r>
            <a:endParaRPr sz="2400"/>
          </a:p>
        </p:txBody>
      </p:sp>
      <p:sp>
        <p:nvSpPr>
          <p:cNvPr id="264" name="Google Shape;264;p8"/>
          <p:cNvSpPr/>
          <p:nvPr/>
        </p:nvSpPr>
        <p:spPr>
          <a:xfrm>
            <a:off x="822960" y="6784848"/>
            <a:ext cx="16642080" cy="10972"/>
          </a:xfrm>
          <a:prstGeom prst="rect">
            <a:avLst/>
          </a:prstGeom>
          <a:solidFill>
            <a:srgbClr val="D9D9D9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8"/>
          <p:cNvSpPr txBox="1"/>
          <p:nvPr/>
        </p:nvSpPr>
        <p:spPr>
          <a:xfrm>
            <a:off x="822960" y="6949440"/>
            <a:ext cx="26517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Beli</a:t>
            </a:r>
            <a:endParaRPr sz="2400"/>
          </a:p>
        </p:txBody>
      </p:sp>
      <p:sp>
        <p:nvSpPr>
          <p:cNvPr id="266" name="Google Shape;266;p8"/>
          <p:cNvSpPr txBox="1"/>
          <p:nvPr/>
        </p:nvSpPr>
        <p:spPr>
          <a:xfrm>
            <a:off x="3657600" y="6949440"/>
            <a:ext cx="6583800" cy="77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434343"/>
                </a:solidFill>
                <a:latin typeface="Poppins"/>
                <a:ea typeface="Poppins"/>
                <a:cs typeface="Poppins"/>
                <a:sym typeface="Poppins"/>
              </a:rPr>
              <a:t>1.1M monthly users, mostly through friends, five people, almost no revenue.</a:t>
            </a:r>
            <a:endParaRPr sz="2400"/>
          </a:p>
        </p:txBody>
      </p:sp>
      <p:sp>
        <p:nvSpPr>
          <p:cNvPr id="267" name="Google Shape;267;p8"/>
          <p:cNvSpPr txBox="1"/>
          <p:nvPr/>
        </p:nvSpPr>
        <p:spPr>
          <a:xfrm>
            <a:off x="10607040" y="6949440"/>
            <a:ext cx="6858000" cy="77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A quarter of its size, almost no ads, restaurants paying from Year 2.</a:t>
            </a:r>
            <a:endParaRPr sz="2400"/>
          </a:p>
        </p:txBody>
      </p:sp>
      <p:sp>
        <p:nvSpPr>
          <p:cNvPr id="268" name="Google Shape;268;p8"/>
          <p:cNvSpPr/>
          <p:nvPr/>
        </p:nvSpPr>
        <p:spPr>
          <a:xfrm>
            <a:off x="822960" y="8110728"/>
            <a:ext cx="16642080" cy="10972"/>
          </a:xfrm>
          <a:prstGeom prst="rect">
            <a:avLst/>
          </a:prstGeom>
          <a:solidFill>
            <a:srgbClr val="D9D9D9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" name="Google Shape;269;p8"/>
          <p:cNvSpPr txBox="1"/>
          <p:nvPr/>
        </p:nvSpPr>
        <p:spPr>
          <a:xfrm>
            <a:off x="822960" y="8458200"/>
            <a:ext cx="166420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434343"/>
                </a:solidFill>
                <a:latin typeface="Poppins"/>
                <a:ea typeface="Poppins"/>
                <a:cs typeface="Poppins"/>
                <a:sym typeface="Poppins"/>
              </a:rPr>
              <a:t>The trade-off: a smaller team, and it only works if restaurants sign up.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9"/>
          <p:cNvSpPr txBox="1"/>
          <p:nvPr/>
        </p:nvSpPr>
        <p:spPr>
          <a:xfrm>
            <a:off x="822960" y="685800"/>
            <a:ext cx="109728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6F6B34"/>
                </a:solidFill>
                <a:latin typeface="Poppins"/>
                <a:ea typeface="Poppins"/>
                <a:cs typeface="Poppins"/>
                <a:sym typeface="Poppins"/>
              </a:rPr>
              <a:t>The numbers</a:t>
            </a:r>
            <a:endParaRPr/>
          </a:p>
        </p:txBody>
      </p:sp>
      <p:sp>
        <p:nvSpPr>
          <p:cNvPr id="276" name="Google Shape;276;p9"/>
          <p:cNvSpPr txBox="1"/>
          <p:nvPr/>
        </p:nvSpPr>
        <p:spPr>
          <a:xfrm>
            <a:off x="16093440" y="685800"/>
            <a:ext cx="1371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95959"/>
                </a:solidFill>
                <a:latin typeface="Poppins"/>
                <a:ea typeface="Poppins"/>
                <a:cs typeface="Poppins"/>
                <a:sym typeface="Poppins"/>
              </a:rPr>
              <a:t>9</a:t>
            </a:r>
            <a:endParaRPr/>
          </a:p>
        </p:txBody>
      </p:sp>
      <p:sp>
        <p:nvSpPr>
          <p:cNvPr id="277" name="Google Shape;277;p9"/>
          <p:cNvSpPr txBox="1"/>
          <p:nvPr/>
        </p:nvSpPr>
        <p:spPr>
          <a:xfrm>
            <a:off x="822960" y="1234440"/>
            <a:ext cx="15087600" cy="2011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44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We spend about $11K a quarter for two years. </a:t>
            </a:r>
            <a:r>
              <a:rPr b="0" i="0" lang="en-US" sz="4400" u="none" cap="none" strike="noStrike">
                <a:solidFill>
                  <a:srgbClr val="595959"/>
                </a:solidFill>
                <a:latin typeface="Poppins"/>
                <a:ea typeface="Poppins"/>
                <a:cs typeface="Poppins"/>
                <a:sym typeface="Poppins"/>
              </a:rPr>
              <a:t>Year 5 is our first profit.</a:t>
            </a:r>
            <a:endParaRPr/>
          </a:p>
        </p:txBody>
      </p:sp>
      <p:sp>
        <p:nvSpPr>
          <p:cNvPr id="278" name="Google Shape;278;p9"/>
          <p:cNvSpPr txBox="1"/>
          <p:nvPr/>
        </p:nvSpPr>
        <p:spPr>
          <a:xfrm>
            <a:off x="822960" y="9555480"/>
            <a:ext cx="166420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95959"/>
                </a:solidFill>
                <a:latin typeface="Roboto Mono"/>
                <a:ea typeface="Roboto Mono"/>
                <a:cs typeface="Roboto Mono"/>
                <a:sym typeface="Roboto Mono"/>
              </a:rPr>
              <a:t>$K. Years 1 and 2 by quarter, years 3 to 5 by year. From our Gate 2 model; assumptions and sources are in the workbook.</a:t>
            </a:r>
            <a:endParaRPr/>
          </a:p>
        </p:txBody>
      </p:sp>
      <p:graphicFrame>
        <p:nvGraphicFramePr>
          <p:cNvPr id="279" name="Google Shape;279;p9"/>
          <p:cNvGraphicFramePr/>
          <p:nvPr/>
        </p:nvGraphicFramePr>
        <p:xfrm>
          <a:off x="822960" y="361188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{97F22518-C55D-4401-A6EB-0ED8D26C8151}</a:tableStyleId>
              </a:tblPr>
              <a:tblGrid>
                <a:gridCol w="2420000"/>
                <a:gridCol w="1346859"/>
                <a:gridCol w="1346859"/>
                <a:gridCol w="1346859"/>
                <a:gridCol w="1346859"/>
                <a:gridCol w="1346859"/>
                <a:gridCol w="1346859"/>
                <a:gridCol w="1346859"/>
                <a:gridCol w="1346859"/>
                <a:gridCol w="1143000"/>
                <a:gridCol w="1143000"/>
                <a:gridCol w="1143000"/>
              </a:tblGrid>
              <a:tr h="5120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 u="none" cap="none" strike="noStrike">
                          <a:solidFill>
                            <a:srgbClr val="6F6B34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$K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 u="none" cap="none" strike="noStrike">
                          <a:solidFill>
                            <a:srgbClr val="6F6B34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Q1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 u="none" cap="none" strike="noStrike">
                          <a:solidFill>
                            <a:srgbClr val="6F6B34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Q2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 u="none" cap="none" strike="noStrike">
                          <a:solidFill>
                            <a:srgbClr val="6F6B34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Q3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 u="none" cap="none" strike="noStrike">
                          <a:solidFill>
                            <a:srgbClr val="6F6B34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Q4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 u="none" cap="none" strike="noStrike">
                          <a:solidFill>
                            <a:srgbClr val="6F6B34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Q5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 u="none" cap="none" strike="noStrike">
                          <a:solidFill>
                            <a:srgbClr val="6F6B34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Q6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 u="none" cap="none" strike="noStrike">
                          <a:solidFill>
                            <a:srgbClr val="6F6B34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Q7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 u="none" cap="none" strike="noStrike">
                          <a:solidFill>
                            <a:srgbClr val="6F6B34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Q8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 u="none" cap="none" strike="noStrike">
                          <a:solidFill>
                            <a:srgbClr val="6F6B34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Yr 3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 u="none" cap="none" strike="noStrike">
                          <a:solidFill>
                            <a:srgbClr val="6F6B34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Yr 4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 u="none" cap="none" strike="noStrike">
                          <a:solidFill>
                            <a:srgbClr val="6F6B34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Yr 5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</a:tr>
              <a:tr h="5120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800" u="none" cap="none" strike="noStrike">
                          <a:solidFill>
                            <a:srgbClr val="434343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Active users (K)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800" u="none" cap="none" strike="noStrike">
                          <a:solidFill>
                            <a:srgbClr val="70707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0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800" u="none" cap="none" strike="noStrike">
                          <a:solidFill>
                            <a:srgbClr val="70707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1.8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800" u="none" cap="none" strike="noStrike">
                          <a:solidFill>
                            <a:srgbClr val="70707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5.4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800" u="none" cap="none" strike="noStrike">
                          <a:solidFill>
                            <a:srgbClr val="70707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12.0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800" u="none" cap="none" strike="noStrike">
                          <a:solidFill>
                            <a:srgbClr val="70707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15.2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800" u="none" cap="none" strike="noStrike">
                          <a:solidFill>
                            <a:srgbClr val="70707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19.3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800" u="none" cap="none" strike="noStrike">
                          <a:solidFill>
                            <a:srgbClr val="70707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24.5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800" u="none" cap="none" strike="noStrike">
                          <a:solidFill>
                            <a:srgbClr val="70707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31.1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800" u="none" cap="none" strike="noStrike">
                          <a:solidFill>
                            <a:srgbClr val="70707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80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4F3E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800" u="none" cap="none" strike="noStrike">
                          <a:solidFill>
                            <a:srgbClr val="70707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208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4F3E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800" u="none" cap="none" strike="noStrike">
                          <a:solidFill>
                            <a:srgbClr val="70707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540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4F3EC"/>
                    </a:solidFill>
                  </a:tcPr>
                </a:tc>
              </a:tr>
              <a:tr h="5120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 u="none" cap="none" strike="noStrike">
                          <a:solidFill>
                            <a:srgbClr val="00000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Revenue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 u="none" cap="none" strike="noStrike">
                          <a:solidFill>
                            <a:srgbClr val="70707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0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 u="none" cap="none" strike="noStrike">
                          <a:solidFill>
                            <a:srgbClr val="70707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0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 u="none" cap="none" strike="noStrike">
                          <a:solidFill>
                            <a:srgbClr val="70707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0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 u="none" cap="none" strike="noStrike">
                          <a:solidFill>
                            <a:srgbClr val="70707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0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2000" u="none" cap="none" strike="noStrike">
                          <a:solidFill>
                            <a:srgbClr val="00000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2.0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FE6C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 u="none" cap="none" strike="noStrike">
                          <a:solidFill>
                            <a:srgbClr val="70707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2.6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 u="none" cap="none" strike="noStrike">
                          <a:solidFill>
                            <a:srgbClr val="70707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3.3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 u="none" cap="none" strike="noStrike">
                          <a:solidFill>
                            <a:srgbClr val="70707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4.2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 u="none" cap="none" strike="noStrike">
                          <a:solidFill>
                            <a:srgbClr val="70707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50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4F3E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 u="none" cap="none" strike="noStrike">
                          <a:solidFill>
                            <a:srgbClr val="70707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140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4F3E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 u="none" cap="none" strike="noStrike">
                          <a:solidFill>
                            <a:srgbClr val="70707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356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4F3EC"/>
                    </a:solidFill>
                  </a:tcPr>
                </a:tc>
              </a:tr>
              <a:tr h="5120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800" u="none" cap="none" strike="noStrike">
                          <a:solidFill>
                            <a:srgbClr val="434343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Spending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800" u="none" cap="none" strike="noStrike">
                          <a:solidFill>
                            <a:srgbClr val="70707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10.6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800" u="none" cap="none" strike="noStrike">
                          <a:solidFill>
                            <a:srgbClr val="70707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10.6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800" u="none" cap="none" strike="noStrike">
                          <a:solidFill>
                            <a:srgbClr val="70707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10.6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800" u="none" cap="none" strike="noStrike">
                          <a:solidFill>
                            <a:srgbClr val="70707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10.7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800" u="none" cap="none" strike="noStrike">
                          <a:solidFill>
                            <a:srgbClr val="70707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10.9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800" u="none" cap="none" strike="noStrike">
                          <a:solidFill>
                            <a:srgbClr val="70707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10.9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800" u="none" cap="none" strike="noStrike">
                          <a:solidFill>
                            <a:srgbClr val="70707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11.0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800" u="none" cap="none" strike="noStrike">
                          <a:solidFill>
                            <a:srgbClr val="70707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11.1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800" u="none" cap="none" strike="noStrike">
                          <a:solidFill>
                            <a:srgbClr val="70707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117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4F3E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800" u="none" cap="none" strike="noStrike">
                          <a:solidFill>
                            <a:srgbClr val="70707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191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4F3E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800" u="none" cap="none" strike="noStrike">
                          <a:solidFill>
                            <a:srgbClr val="70707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283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4F3EC"/>
                    </a:solidFill>
                  </a:tcPr>
                </a:tc>
              </a:tr>
              <a:tr h="5120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 u="none" cap="none" strike="noStrike">
                          <a:solidFill>
                            <a:srgbClr val="00000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Profit or loss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 u="none" cap="none" strike="noStrike">
                          <a:solidFill>
                            <a:srgbClr val="70707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(10.6)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 u="none" cap="none" strike="noStrike">
                          <a:solidFill>
                            <a:srgbClr val="70707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(10.6)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 u="none" cap="none" strike="noStrike">
                          <a:solidFill>
                            <a:srgbClr val="70707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(10.6)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 u="none" cap="none" strike="noStrike">
                          <a:solidFill>
                            <a:srgbClr val="70707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(10.7)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 u="none" cap="none" strike="noStrike">
                          <a:solidFill>
                            <a:srgbClr val="70707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(8.8)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 u="none" cap="none" strike="noStrike">
                          <a:solidFill>
                            <a:srgbClr val="70707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(8.3)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 u="none" cap="none" strike="noStrike">
                          <a:solidFill>
                            <a:srgbClr val="70707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(7.7)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 u="none" cap="none" strike="noStrike">
                          <a:solidFill>
                            <a:srgbClr val="70707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(7.0)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 u="none" cap="none" strike="noStrike">
                          <a:solidFill>
                            <a:srgbClr val="70707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(67)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4F3E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 u="none" cap="none" strike="noStrike">
                          <a:solidFill>
                            <a:srgbClr val="70707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(51)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4F3E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2000" u="none" cap="none" strike="noStrike">
                          <a:solidFill>
                            <a:srgbClr val="00000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72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FE6C4"/>
                    </a:solidFill>
                  </a:tcPr>
                </a:tc>
              </a:tr>
              <a:tr h="5120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800" u="none" cap="none" strike="noStrike">
                          <a:solidFill>
                            <a:srgbClr val="434343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Cumulative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800" u="none" cap="none" strike="noStrike">
                          <a:solidFill>
                            <a:srgbClr val="70707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(11)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800" u="none" cap="none" strike="noStrike">
                          <a:solidFill>
                            <a:srgbClr val="70707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(21)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800" u="none" cap="none" strike="noStrike">
                          <a:solidFill>
                            <a:srgbClr val="70707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(32)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800" u="none" cap="none" strike="noStrike">
                          <a:solidFill>
                            <a:srgbClr val="70707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(43)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800" u="none" cap="none" strike="noStrike">
                          <a:solidFill>
                            <a:srgbClr val="70707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(51)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800" u="none" cap="none" strike="noStrike">
                          <a:solidFill>
                            <a:srgbClr val="70707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(60)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800" u="none" cap="none" strike="noStrike">
                          <a:solidFill>
                            <a:srgbClr val="70707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(67)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800" u="none" cap="none" strike="noStrike">
                          <a:solidFill>
                            <a:srgbClr val="70707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(74)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800" u="none" cap="none" strike="noStrike">
                          <a:solidFill>
                            <a:srgbClr val="70707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(141)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4F3E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2000" u="none" cap="none" strike="noStrike">
                          <a:solidFill>
                            <a:srgbClr val="00000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(192)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FE6C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800" u="none" cap="none" strike="noStrike">
                          <a:solidFill>
                            <a:srgbClr val="70707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(120)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4F3EC"/>
                    </a:solidFill>
                  </a:tcPr>
                </a:tc>
              </a:tr>
            </a:tbl>
          </a:graphicData>
        </a:graphic>
      </p:graphicFrame>
      <p:sp>
        <p:nvSpPr>
          <p:cNvPr id="280" name="Google Shape;280;p9"/>
          <p:cNvSpPr/>
          <p:nvPr/>
        </p:nvSpPr>
        <p:spPr>
          <a:xfrm>
            <a:off x="822960" y="4123944"/>
            <a:ext cx="16623792" cy="13716"/>
          </a:xfrm>
          <a:prstGeom prst="rect">
            <a:avLst/>
          </a:prstGeom>
          <a:solidFill>
            <a:srgbClr val="6F6B34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" name="Google Shape;281;p9"/>
          <p:cNvSpPr txBox="1"/>
          <p:nvPr/>
        </p:nvSpPr>
        <p:spPr>
          <a:xfrm>
            <a:off x="877835" y="6995160"/>
            <a:ext cx="28347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6F6B34"/>
                </a:solidFill>
                <a:latin typeface="Poppins"/>
                <a:ea typeface="Poppins"/>
                <a:cs typeface="Poppins"/>
                <a:sym typeface="Poppins"/>
              </a:rPr>
              <a:t>What happens</a:t>
            </a:r>
            <a:endParaRPr sz="1800"/>
          </a:p>
        </p:txBody>
      </p:sp>
      <p:sp>
        <p:nvSpPr>
          <p:cNvPr id="282" name="Google Shape;282;p9"/>
          <p:cNvSpPr txBox="1"/>
          <p:nvPr/>
        </p:nvSpPr>
        <p:spPr>
          <a:xfrm>
            <a:off x="3242960" y="6995160"/>
            <a:ext cx="1273709" cy="662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434343"/>
                </a:solidFill>
                <a:latin typeface="Poppins"/>
                <a:ea typeface="Poppins"/>
                <a:cs typeface="Poppins"/>
                <a:sym typeface="Poppins"/>
              </a:rPr>
              <a:t>Build the app</a:t>
            </a:r>
            <a:endParaRPr sz="1600"/>
          </a:p>
        </p:txBody>
      </p:sp>
      <p:sp>
        <p:nvSpPr>
          <p:cNvPr id="283" name="Google Shape;283;p9"/>
          <p:cNvSpPr txBox="1"/>
          <p:nvPr/>
        </p:nvSpPr>
        <p:spPr>
          <a:xfrm>
            <a:off x="4589819" y="6995160"/>
            <a:ext cx="1273709" cy="100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434343"/>
                </a:solidFill>
                <a:latin typeface="Poppins"/>
                <a:ea typeface="Poppins"/>
                <a:cs typeface="Poppins"/>
                <a:sym typeface="Poppins"/>
              </a:rPr>
              <a:t>Launch in Boston</a:t>
            </a:r>
            <a:endParaRPr sz="1600"/>
          </a:p>
        </p:txBody>
      </p:sp>
      <p:sp>
        <p:nvSpPr>
          <p:cNvPr id="284" name="Google Shape;284;p9"/>
          <p:cNvSpPr txBox="1"/>
          <p:nvPr/>
        </p:nvSpPr>
        <p:spPr>
          <a:xfrm>
            <a:off x="5936678" y="6995160"/>
            <a:ext cx="1273709" cy="100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434343"/>
                </a:solidFill>
                <a:latin typeface="Poppins"/>
                <a:ea typeface="Poppins"/>
                <a:cs typeface="Poppins"/>
                <a:sym typeface="Poppins"/>
              </a:rPr>
              <a:t>Grow by referral</a:t>
            </a:r>
            <a:endParaRPr sz="1600"/>
          </a:p>
        </p:txBody>
      </p:sp>
      <p:sp>
        <p:nvSpPr>
          <p:cNvPr id="285" name="Google Shape;285;p9"/>
          <p:cNvSpPr txBox="1"/>
          <p:nvPr/>
        </p:nvSpPr>
        <p:spPr>
          <a:xfrm>
            <a:off x="7283537" y="6995160"/>
            <a:ext cx="1273709" cy="662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434343"/>
                </a:solidFill>
                <a:latin typeface="Poppins"/>
                <a:ea typeface="Poppins"/>
                <a:cs typeface="Poppins"/>
                <a:sym typeface="Poppins"/>
              </a:rPr>
              <a:t>12K users</a:t>
            </a:r>
            <a:endParaRPr sz="1600"/>
          </a:p>
        </p:txBody>
      </p:sp>
      <p:sp>
        <p:nvSpPr>
          <p:cNvPr id="286" name="Google Shape;286;p9"/>
          <p:cNvSpPr txBox="1"/>
          <p:nvPr/>
        </p:nvSpPr>
        <p:spPr>
          <a:xfrm>
            <a:off x="8630396" y="6995160"/>
            <a:ext cx="1273709" cy="100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434343"/>
                </a:solidFill>
                <a:latin typeface="Poppins"/>
                <a:ea typeface="Poppins"/>
                <a:cs typeface="Poppins"/>
                <a:sym typeface="Poppins"/>
              </a:rPr>
              <a:t>First revenue</a:t>
            </a:r>
            <a:endParaRPr sz="1600"/>
          </a:p>
        </p:txBody>
      </p:sp>
      <p:sp>
        <p:nvSpPr>
          <p:cNvPr id="287" name="Google Shape;287;p9"/>
          <p:cNvSpPr txBox="1"/>
          <p:nvPr/>
        </p:nvSpPr>
        <p:spPr>
          <a:xfrm>
            <a:off x="9977255" y="6995160"/>
            <a:ext cx="1273709" cy="100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434343"/>
                </a:solidFill>
                <a:latin typeface="Poppins"/>
                <a:ea typeface="Poppins"/>
                <a:cs typeface="Poppins"/>
                <a:sym typeface="Poppins"/>
              </a:rPr>
              <a:t>More restaurants</a:t>
            </a:r>
            <a:endParaRPr sz="1600"/>
          </a:p>
        </p:txBody>
      </p:sp>
      <p:sp>
        <p:nvSpPr>
          <p:cNvPr id="288" name="Google Shape;288;p9"/>
          <p:cNvSpPr txBox="1"/>
          <p:nvPr/>
        </p:nvSpPr>
        <p:spPr>
          <a:xfrm>
            <a:off x="11324114" y="6995160"/>
            <a:ext cx="1273709" cy="662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434343"/>
                </a:solidFill>
                <a:latin typeface="Poppins"/>
                <a:ea typeface="Poppins"/>
                <a:cs typeface="Poppins"/>
                <a:sym typeface="Poppins"/>
              </a:rPr>
              <a:t>Pitch chains</a:t>
            </a:r>
            <a:endParaRPr sz="1600"/>
          </a:p>
        </p:txBody>
      </p:sp>
      <p:sp>
        <p:nvSpPr>
          <p:cNvPr id="289" name="Google Shape;289;p9"/>
          <p:cNvSpPr txBox="1"/>
          <p:nvPr/>
        </p:nvSpPr>
        <p:spPr>
          <a:xfrm>
            <a:off x="12670973" y="6995160"/>
            <a:ext cx="1273709" cy="100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434343"/>
                </a:solidFill>
                <a:latin typeface="Poppins"/>
                <a:ea typeface="Poppins"/>
                <a:cs typeface="Poppins"/>
                <a:sym typeface="Poppins"/>
              </a:rPr>
              <a:t>Hire co-op for yr 3</a:t>
            </a:r>
            <a:endParaRPr sz="1600"/>
          </a:p>
        </p:txBody>
      </p:sp>
      <p:sp>
        <p:nvSpPr>
          <p:cNvPr id="290" name="Google Shape;290;p9"/>
          <p:cNvSpPr txBox="1"/>
          <p:nvPr/>
        </p:nvSpPr>
        <p:spPr>
          <a:xfrm>
            <a:off x="14017832" y="6995160"/>
            <a:ext cx="3355850" cy="662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434343"/>
                </a:solidFill>
                <a:latin typeface="Poppins"/>
                <a:ea typeface="Poppins"/>
                <a:cs typeface="Poppins"/>
                <a:sym typeface="Poppins"/>
              </a:rPr>
              <a:t>Co-op students: 1, 2 and 3 in Years 3 to 5.</a:t>
            </a:r>
            <a:endParaRPr sz="1600"/>
          </a:p>
        </p:txBody>
      </p:sp>
      <p:sp>
        <p:nvSpPr>
          <p:cNvPr id="291" name="Google Shape;291;p9"/>
          <p:cNvSpPr txBox="1"/>
          <p:nvPr/>
        </p:nvSpPr>
        <p:spPr>
          <a:xfrm>
            <a:off x="822960" y="8503920"/>
            <a:ext cx="166420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434343"/>
                </a:solidFill>
                <a:latin typeface="Poppins"/>
                <a:ea typeface="Poppins"/>
                <a:cs typeface="Poppins"/>
                <a:sym typeface="Poppins"/>
              </a:rPr>
              <a:t>Highlighted: first revenue, the $192K low, and first profit. That low plus a 25% cushion sets the $240K total. Each quarter of Years 1 and 2: $7,500 developer, $1,500 marketing, $1,500 legal and insurance, plus hosting. Nobody else is paid until the angel round funds Year 3.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10"/>
          <p:cNvSpPr txBox="1"/>
          <p:nvPr/>
        </p:nvSpPr>
        <p:spPr>
          <a:xfrm>
            <a:off x="822960" y="685800"/>
            <a:ext cx="109728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6F6B34"/>
                </a:solidFill>
                <a:latin typeface="Poppins"/>
                <a:ea typeface="Poppins"/>
                <a:cs typeface="Poppins"/>
                <a:sym typeface="Poppins"/>
              </a:rPr>
              <a:t>How we'd raise it</a:t>
            </a:r>
            <a:endParaRPr/>
          </a:p>
        </p:txBody>
      </p:sp>
      <p:sp>
        <p:nvSpPr>
          <p:cNvPr id="298" name="Google Shape;298;p10"/>
          <p:cNvSpPr txBox="1"/>
          <p:nvPr/>
        </p:nvSpPr>
        <p:spPr>
          <a:xfrm>
            <a:off x="16093440" y="685800"/>
            <a:ext cx="1371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95959"/>
                </a:solidFill>
                <a:latin typeface="Poppins"/>
                <a:ea typeface="Poppins"/>
                <a:cs typeface="Poppins"/>
                <a:sym typeface="Poppins"/>
              </a:rPr>
              <a:t>10</a:t>
            </a:r>
            <a:endParaRPr/>
          </a:p>
        </p:txBody>
      </p:sp>
      <p:sp>
        <p:nvSpPr>
          <p:cNvPr id="299" name="Google Shape;299;p10"/>
          <p:cNvSpPr txBox="1"/>
          <p:nvPr/>
        </p:nvSpPr>
        <p:spPr>
          <a:xfrm>
            <a:off x="822960" y="1234440"/>
            <a:ext cx="15087600" cy="2011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44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We'd start on grants, as Beli did. </a:t>
            </a:r>
            <a:r>
              <a:rPr b="0" i="0" lang="en-US" sz="4400" u="none" cap="none" strike="noStrike">
                <a:solidFill>
                  <a:srgbClr val="595959"/>
                </a:solidFill>
                <a:latin typeface="Poppins"/>
                <a:ea typeface="Poppins"/>
                <a:cs typeface="Poppins"/>
                <a:sym typeface="Poppins"/>
              </a:rPr>
              <a:t>One angel round of about $166K takes us to profit.</a:t>
            </a:r>
            <a:endParaRPr/>
          </a:p>
        </p:txBody>
      </p:sp>
      <p:sp>
        <p:nvSpPr>
          <p:cNvPr id="300" name="Google Shape;300;p10"/>
          <p:cNvSpPr txBox="1"/>
          <p:nvPr/>
        </p:nvSpPr>
        <p:spPr>
          <a:xfrm>
            <a:off x="822960" y="9555480"/>
            <a:ext cx="166420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95959"/>
                </a:solidFill>
                <a:latin typeface="Roboto Mono"/>
                <a:ea typeface="Roboto Mono"/>
                <a:cs typeface="Roboto Mono"/>
                <a:sym typeface="Roboto Mono"/>
              </a:rPr>
              <a:t>Beli: Wikipedia (Harvard grants); CB Insights ($5.3M, Nov 2023); Boston Globe, Nov 2025 (users). IDEA Gap Fund: Northeastern Global News. Amounts are from our Gate 2 model.</a:t>
            </a:r>
            <a:endParaRPr/>
          </a:p>
        </p:txBody>
      </p:sp>
      <p:sp>
        <p:nvSpPr>
          <p:cNvPr id="301" name="Google Shape;301;p10"/>
          <p:cNvSpPr txBox="1"/>
          <p:nvPr/>
        </p:nvSpPr>
        <p:spPr>
          <a:xfrm>
            <a:off x="5760720" y="3657600"/>
            <a:ext cx="39319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6F6B34"/>
                </a:solidFill>
                <a:latin typeface="Poppins"/>
                <a:ea typeface="Poppins"/>
                <a:cs typeface="Poppins"/>
                <a:sym typeface="Poppins"/>
              </a:rPr>
              <a:t>When</a:t>
            </a:r>
            <a:endParaRPr/>
          </a:p>
        </p:txBody>
      </p:sp>
      <p:sp>
        <p:nvSpPr>
          <p:cNvPr id="302" name="Google Shape;302;p10"/>
          <p:cNvSpPr txBox="1"/>
          <p:nvPr/>
        </p:nvSpPr>
        <p:spPr>
          <a:xfrm>
            <a:off x="10058400" y="3657600"/>
            <a:ext cx="74066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6F6B34"/>
                </a:solidFill>
                <a:latin typeface="Poppins"/>
                <a:ea typeface="Poppins"/>
                <a:cs typeface="Poppins"/>
                <a:sym typeface="Poppins"/>
              </a:rPr>
              <a:t>What we'd show to get it</a:t>
            </a:r>
            <a:endParaRPr/>
          </a:p>
        </p:txBody>
      </p:sp>
      <p:sp>
        <p:nvSpPr>
          <p:cNvPr id="303" name="Google Shape;303;p10"/>
          <p:cNvSpPr/>
          <p:nvPr/>
        </p:nvSpPr>
        <p:spPr>
          <a:xfrm>
            <a:off x="822960" y="4133088"/>
            <a:ext cx="16642080" cy="10972"/>
          </a:xfrm>
          <a:prstGeom prst="rect">
            <a:avLst/>
          </a:prstGeom>
          <a:solidFill>
            <a:srgbClr val="D9D9D9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4" name="Google Shape;304;p10"/>
          <p:cNvSpPr txBox="1"/>
          <p:nvPr/>
        </p:nvSpPr>
        <p:spPr>
          <a:xfrm>
            <a:off x="822960" y="4343400"/>
            <a:ext cx="475488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Grants and competitions, about $74K</a:t>
            </a:r>
            <a:endParaRPr/>
          </a:p>
        </p:txBody>
      </p:sp>
      <p:sp>
        <p:nvSpPr>
          <p:cNvPr id="305" name="Google Shape;305;p10"/>
          <p:cNvSpPr txBox="1"/>
          <p:nvPr/>
        </p:nvSpPr>
        <p:spPr>
          <a:xfrm>
            <a:off x="5760720" y="4343400"/>
            <a:ext cx="39319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rgbClr val="434343"/>
                </a:solidFill>
                <a:latin typeface="Poppins"/>
                <a:ea typeface="Poppins"/>
                <a:cs typeface="Poppins"/>
                <a:sym typeface="Poppins"/>
              </a:rPr>
              <a:t>Years 1 and 2</a:t>
            </a:r>
            <a:endParaRPr/>
          </a:p>
        </p:txBody>
      </p:sp>
      <p:sp>
        <p:nvSpPr>
          <p:cNvPr id="306" name="Google Shape;306;p10"/>
          <p:cNvSpPr txBox="1"/>
          <p:nvPr/>
        </p:nvSpPr>
        <p:spPr>
          <a:xfrm>
            <a:off x="10058400" y="4343400"/>
            <a:ext cx="740664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rgbClr val="434343"/>
                </a:solidFill>
                <a:latin typeface="Poppins"/>
                <a:ea typeface="Poppins"/>
                <a:cs typeface="Poppins"/>
                <a:sym typeface="Poppins"/>
              </a:rPr>
              <a:t>IDEA Gap Fund and Boston pitch competitions. If we fall short, or the round slips, we cover the gap ourselves.</a:t>
            </a:r>
            <a:endParaRPr/>
          </a:p>
        </p:txBody>
      </p:sp>
      <p:sp>
        <p:nvSpPr>
          <p:cNvPr id="307" name="Google Shape;307;p10"/>
          <p:cNvSpPr/>
          <p:nvPr/>
        </p:nvSpPr>
        <p:spPr>
          <a:xfrm>
            <a:off x="822960" y="5760720"/>
            <a:ext cx="16642080" cy="10972"/>
          </a:xfrm>
          <a:prstGeom prst="rect">
            <a:avLst/>
          </a:prstGeom>
          <a:solidFill>
            <a:srgbClr val="D9D9D9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8" name="Google Shape;308;p10"/>
          <p:cNvSpPr txBox="1"/>
          <p:nvPr/>
        </p:nvSpPr>
        <p:spPr>
          <a:xfrm>
            <a:off x="822960" y="5989320"/>
            <a:ext cx="475488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One angel round, about $166K</a:t>
            </a:r>
            <a:endParaRPr/>
          </a:p>
        </p:txBody>
      </p:sp>
      <p:sp>
        <p:nvSpPr>
          <p:cNvPr id="309" name="Google Shape;309;p10"/>
          <p:cNvSpPr txBox="1"/>
          <p:nvPr/>
        </p:nvSpPr>
        <p:spPr>
          <a:xfrm>
            <a:off x="5760720" y="5989320"/>
            <a:ext cx="39319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rgbClr val="434343"/>
                </a:solidFill>
                <a:latin typeface="Poppins"/>
                <a:ea typeface="Poppins"/>
                <a:cs typeface="Poppins"/>
                <a:sym typeface="Poppins"/>
              </a:rPr>
              <a:t>End of Year 2</a:t>
            </a:r>
            <a:endParaRPr/>
          </a:p>
        </p:txBody>
      </p:sp>
      <p:sp>
        <p:nvSpPr>
          <p:cNvPr id="310" name="Google Shape;310;p10"/>
          <p:cNvSpPr txBox="1"/>
          <p:nvPr/>
        </p:nvSpPr>
        <p:spPr>
          <a:xfrm>
            <a:off x="10058400" y="5989320"/>
            <a:ext cx="740664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rgbClr val="434343"/>
                </a:solidFill>
                <a:latin typeface="Poppins"/>
                <a:ea typeface="Poppins"/>
                <a:cs typeface="Poppins"/>
                <a:sym typeface="Poppins"/>
              </a:rPr>
              <a:t>31K Boston users, restaurants paying for four quarters, and receipt-proven visits.</a:t>
            </a:r>
            <a:endParaRPr/>
          </a:p>
        </p:txBody>
      </p:sp>
      <p:sp>
        <p:nvSpPr>
          <p:cNvPr id="311" name="Google Shape;311;p10"/>
          <p:cNvSpPr/>
          <p:nvPr/>
        </p:nvSpPr>
        <p:spPr>
          <a:xfrm>
            <a:off x="822960" y="7360920"/>
            <a:ext cx="16642080" cy="10972"/>
          </a:xfrm>
          <a:prstGeom prst="rect">
            <a:avLst/>
          </a:prstGeom>
          <a:solidFill>
            <a:srgbClr val="D9D9D9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2" name="Google Shape;312;p10"/>
          <p:cNvSpPr txBox="1"/>
          <p:nvPr/>
        </p:nvSpPr>
        <p:spPr>
          <a:xfrm>
            <a:off x="822960" y="7680960"/>
            <a:ext cx="166420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434343"/>
                </a:solidFill>
                <a:latin typeface="Poppins"/>
                <a:ea typeface="Poppins"/>
                <a:cs typeface="Poppins"/>
                <a:sym typeface="Poppins"/>
              </a:rPr>
              <a:t>$74K in grants plus $166K from angels: $240K in all. At $356K of Year 5 revenue we're too small for venture funds, so the angels' way out is a sale to a bigger platform or a card company, as Resy sold to American Express.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7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p11"/>
          <p:cNvSpPr txBox="1"/>
          <p:nvPr/>
        </p:nvSpPr>
        <p:spPr>
          <a:xfrm>
            <a:off x="822960" y="685800"/>
            <a:ext cx="109728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6F6B34"/>
                </a:solidFill>
                <a:latin typeface="Poppins"/>
                <a:ea typeface="Poppins"/>
                <a:cs typeface="Poppins"/>
                <a:sym typeface="Poppins"/>
              </a:rPr>
              <a:t>Appendix</a:t>
            </a:r>
            <a:endParaRPr/>
          </a:p>
        </p:txBody>
      </p:sp>
      <p:sp>
        <p:nvSpPr>
          <p:cNvPr id="319" name="Google Shape;319;p11"/>
          <p:cNvSpPr txBox="1"/>
          <p:nvPr/>
        </p:nvSpPr>
        <p:spPr>
          <a:xfrm>
            <a:off x="16093440" y="685800"/>
            <a:ext cx="1371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0" name="Google Shape;320;p11"/>
          <p:cNvSpPr txBox="1"/>
          <p:nvPr/>
        </p:nvSpPr>
        <p:spPr>
          <a:xfrm>
            <a:off x="822960" y="1234440"/>
            <a:ext cx="15087600" cy="2011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44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Two sides pay, and every price starts from a real company’s number. </a:t>
            </a:r>
            <a:r>
              <a:rPr b="0" i="0" lang="en-US" sz="4400" u="none" cap="none" strike="noStrike">
                <a:solidFill>
                  <a:srgbClr val="595959"/>
                </a:solidFill>
                <a:latin typeface="Poppins"/>
                <a:ea typeface="Poppins"/>
                <a:cs typeface="Poppins"/>
                <a:sym typeface="Poppins"/>
              </a:rPr>
              <a:t>How many we sell is our guess.</a:t>
            </a:r>
            <a:endParaRPr/>
          </a:p>
        </p:txBody>
      </p:sp>
      <p:sp>
        <p:nvSpPr>
          <p:cNvPr id="321" name="Google Shape;321;p11"/>
          <p:cNvSpPr txBox="1"/>
          <p:nvPr/>
        </p:nvSpPr>
        <p:spPr>
          <a:xfrm>
            <a:off x="822960" y="9555480"/>
            <a:ext cx="166420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95959"/>
                </a:solidFill>
                <a:latin typeface="Roboto Mono"/>
                <a:ea typeface="Roboto Mono"/>
                <a:cs typeface="Roboto Mono"/>
                <a:sym typeface="Roboto Mono"/>
              </a:rPr>
              <a:t>OpenTable pricing via Eat App, 2026. TechCrunch, Aug 2024 (Placer.ai). Kakaku.com results, Nov 2025 (Tabelog).</a:t>
            </a:r>
            <a:endParaRPr/>
          </a:p>
        </p:txBody>
      </p:sp>
      <p:sp>
        <p:nvSpPr>
          <p:cNvPr id="341" name="Google Shape;341;p11"/>
          <p:cNvSpPr txBox="1"/>
          <p:nvPr/>
        </p:nvSpPr>
        <p:spPr>
          <a:xfrm>
            <a:off x="822960" y="3657600"/>
            <a:ext cx="39319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6F6B34"/>
                </a:solidFill>
                <a:latin typeface="Poppins"/>
                <a:ea typeface="Poppins"/>
                <a:cs typeface="Poppins"/>
                <a:sym typeface="Poppins"/>
              </a:rPr>
              <a:t>Stream</a:t>
            </a:r>
            <a:endParaRPr/>
          </a:p>
        </p:txBody>
      </p:sp>
      <p:sp>
        <p:nvSpPr>
          <p:cNvPr id="322" name="Google Shape;322;p11"/>
          <p:cNvSpPr txBox="1"/>
          <p:nvPr/>
        </p:nvSpPr>
        <p:spPr>
          <a:xfrm>
            <a:off x="4937760" y="3657600"/>
            <a:ext cx="17373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6F6B34"/>
                </a:solidFill>
                <a:latin typeface="Poppins"/>
                <a:ea typeface="Poppins"/>
                <a:cs typeface="Poppins"/>
                <a:sym typeface="Poppins"/>
              </a:rPr>
              <a:t>Year 5</a:t>
            </a:r>
            <a:endParaRPr/>
          </a:p>
        </p:txBody>
      </p:sp>
      <p:sp>
        <p:nvSpPr>
          <p:cNvPr id="323" name="Google Shape;323;p11"/>
          <p:cNvSpPr txBox="1"/>
          <p:nvPr/>
        </p:nvSpPr>
        <p:spPr>
          <a:xfrm>
            <a:off x="6949440" y="3657600"/>
            <a:ext cx="10515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6F6B34"/>
                </a:solidFill>
                <a:latin typeface="Poppins"/>
                <a:ea typeface="Poppins"/>
                <a:cs typeface="Poppins"/>
                <a:sym typeface="Poppins"/>
              </a:rPr>
              <a:t>What they pay for and why</a:t>
            </a:r>
            <a:endParaRPr/>
          </a:p>
        </p:txBody>
      </p:sp>
      <p:sp>
        <p:nvSpPr>
          <p:cNvPr id="324" name="Google Shape;324;p11"/>
          <p:cNvSpPr/>
          <p:nvPr/>
        </p:nvSpPr>
        <p:spPr>
          <a:xfrm>
            <a:off x="822960" y="4151376"/>
            <a:ext cx="16642080" cy="10972"/>
          </a:xfrm>
          <a:prstGeom prst="rect">
            <a:avLst/>
          </a:prstGeom>
          <a:solidFill>
            <a:srgbClr val="D9D9D9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11"/>
          <p:cNvSpPr txBox="1"/>
          <p:nvPr/>
        </p:nvSpPr>
        <p:spPr>
          <a:xfrm>
            <a:off x="822960" y="4343400"/>
            <a:ext cx="39319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Businesses</a:t>
            </a:r>
            <a:endParaRPr/>
          </a:p>
        </p:txBody>
      </p:sp>
      <p:sp>
        <p:nvSpPr>
          <p:cNvPr id="326" name="Google Shape;326;p11"/>
          <p:cNvSpPr txBox="1"/>
          <p:nvPr/>
        </p:nvSpPr>
        <p:spPr>
          <a:xfrm>
            <a:off x="4937760" y="4343400"/>
            <a:ext cx="17373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$288K</a:t>
            </a:r>
            <a:endParaRPr/>
          </a:p>
        </p:txBody>
      </p:sp>
      <p:sp>
        <p:nvSpPr>
          <p:cNvPr id="327" name="Google Shape;327;p11"/>
          <p:cNvSpPr txBox="1"/>
          <p:nvPr/>
        </p:nvSpPr>
        <p:spPr>
          <a:xfrm>
            <a:off x="6949440" y="4343400"/>
            <a:ext cx="105156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rgbClr val="434343"/>
                </a:solidFill>
                <a:latin typeface="Poppins"/>
                <a:ea typeface="Poppins"/>
                <a:cs typeface="Poppins"/>
                <a:sym typeface="Poppins"/>
              </a:rPr>
              <a:t>Diners we send ($156K), tables booked ($54K) and area insights for chains ($78K). They pay for customers, not for ads. About $0.90 a diner sits under OpenTable’s $1.00 to $1.50, bookings are a quarter of Tabelog’s rate, and chains pay a quarter of Placer.ai’s.</a:t>
            </a:r>
            <a:endParaRPr/>
          </a:p>
        </p:txBody>
      </p:sp>
      <p:sp>
        <p:nvSpPr>
          <p:cNvPr id="328" name="Google Shape;328;p11"/>
          <p:cNvSpPr/>
          <p:nvPr/>
        </p:nvSpPr>
        <p:spPr>
          <a:xfrm>
            <a:off x="822960" y="6172200"/>
            <a:ext cx="16642080" cy="10972"/>
          </a:xfrm>
          <a:prstGeom prst="rect">
            <a:avLst/>
          </a:prstGeom>
          <a:solidFill>
            <a:srgbClr val="D9D9D9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11"/>
          <p:cNvSpPr txBox="1"/>
          <p:nvPr/>
        </p:nvSpPr>
        <p:spPr>
          <a:xfrm>
            <a:off x="822960" y="6355080"/>
            <a:ext cx="39319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Users</a:t>
            </a:r>
            <a:endParaRPr/>
          </a:p>
        </p:txBody>
      </p:sp>
      <p:sp>
        <p:nvSpPr>
          <p:cNvPr id="330" name="Google Shape;330;p11"/>
          <p:cNvSpPr txBox="1"/>
          <p:nvPr/>
        </p:nvSpPr>
        <p:spPr>
          <a:xfrm>
            <a:off x="4937760" y="6355080"/>
            <a:ext cx="17373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$67K</a:t>
            </a:r>
            <a:endParaRPr/>
          </a:p>
        </p:txBody>
      </p:sp>
      <p:sp>
        <p:nvSpPr>
          <p:cNvPr id="331" name="Google Shape;331;p11"/>
          <p:cNvSpPr txBox="1"/>
          <p:nvPr/>
        </p:nvSpPr>
        <p:spPr>
          <a:xfrm>
            <a:off x="6949440" y="6355080"/>
            <a:ext cx="105156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rgbClr val="434343"/>
                </a:solidFill>
                <a:latin typeface="Poppins"/>
                <a:ea typeface="Poppins"/>
                <a:cs typeface="Poppins"/>
                <a:sym typeface="Poppins"/>
              </a:rPr>
              <a:t>The optional $5 a month membership: extras on top of a free app, such as taste match with friends. About 0.3% pay, the same share as Tabelog’s users.</a:t>
            </a:r>
            <a:endParaRPr/>
          </a:p>
        </p:txBody>
      </p:sp>
      <p:sp>
        <p:nvSpPr>
          <p:cNvPr id="332" name="Google Shape;332;p11"/>
          <p:cNvSpPr/>
          <p:nvPr/>
        </p:nvSpPr>
        <p:spPr>
          <a:xfrm>
            <a:off x="822960" y="7772400"/>
            <a:ext cx="16642080" cy="10972"/>
          </a:xfrm>
          <a:prstGeom prst="rect">
            <a:avLst/>
          </a:prstGeom>
          <a:solidFill>
            <a:srgbClr val="D9D9D9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</cp:coreProperties>
</file>