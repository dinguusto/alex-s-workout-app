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27"/>
    <p:sldId id="264" r:id="rId15"/>
    <p:sldId id="265" r:id="rId16"/>
    <p:sldId id="268" r:id="rId28"/>
    <p:sldId id="266" r:id="rId17"/>
  </p:sldIdLst>
  <p:sldSz cy="10287000" cx="18288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VIghjQh70tcTpDwPPuhVU0tDX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F22518-C55D-4401-A6EB-0ED8D26C8151}">
  <a:tblStyle styleId="{97F22518-C55D-4401-A6EB-0ED8D26C81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  <Relationship Id="rId27" Type="http://schemas.openxmlformats.org/officeDocument/2006/relationships/slide" Target="slides/slide12.xml"/>
  <Relationship Id="rId28" Type="http://schemas.openxmlformats.org/officeDocument/2006/relationships/slide" Target="slides/slide13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We’re building a free app that tells you where to eat in Boston. We’re starting at Northeastern.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It’s for students and young professionals who want a great meal but can’t trust the ratings. Right now you check Google Maps, then Yelp, then Instagram, then TikTok, then Beli, and you still end up guessing.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Our app puts the reviews, the posts, the hours and booking for a place on one page. And our score only counts people who proved they ate there.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We don’t have a name yet. Here’s why we think it’s worth building.</a:t>
            </a:r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We talked to 35 students and young professionals this fall. Almost all of them described the same routine.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They open Google Maps to see what’s nearby. Then Instagram or TikTok to see the food. Then they ask a friend if it’s good. Then they go, and it’s still a miss.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Two things came up again and again. Nobody has one place to save where they want to go. And they want one app they can trust.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There’s plenty of information out there. Knowing which of it to trust is the hard part.</a:t>
            </a:r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app does three things: find, compare and keep.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Find: what’s open near you, filtered by diet, price and distance, plus new places people are talking about.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Compare: every rating and post for a place on one page, next to our own score. Our score only counts diners who scanned a receipt, and nobody can pay to rank higher.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Keep: your history, your lists, and booking a table.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All of it is free. You asked whether people would pay for a dietary filter. We think they shouldn’t. A halal or nut-free search is what sends a restaurant the diner it pays for, so it stays free.</a:t>
            </a:r>
          </a:p>
        </p:txBody>
      </p:sp>
      <p:sp>
        <p:nvSpPr>
          <p:cNvPr id="135" name="Google Shape;13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These are four screens from our concept. Every score and person on them is made up.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One, start nearby. You open the app and see what’s open around you.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Two, let it pick. You get one best bet that’s open, close, in your budget and fits your diet, and you see which friends have been.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Three, see why. Three picks for the occasion, each with a reason.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Four, check every rating. Our verified score sits next to Google, Yelp, Beli, Reddit and TikTok, and creators’ paid posts are flagged.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Next we put this in front of students on campus.</a:t>
            </a:r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Start with the smallest number. Boston has 162,000 college students, and we want 12,000 of them in Year 1.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Zoom out and there are about 19 million college students in the US. That’s who we can reach, one campus at a time. The bigger pool is 77.8 million people between 18 and 34.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By Year 5 we want 540,000 active users. That’s 2.8% of US college students, inside the 2 to 5% range we talked about in class.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On the other side, Boston has 3,350 licensed places to eat. Those are the businesses that will pay us.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People ask why not Beli. Beli ranks where you’ve been. We tell you where to go right now, with scores people proved.</a:t>
            </a:r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How do we get our first users? One friend at a time.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first ten are people we interviewed, plus our friends. They test the prototype this semester, and what we tell them is: help us build it.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first hundred are Northeastern students they invite, plus clubs and group chats. Now the pitch is every rating for a place, in one app.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first thousand come from other Boston campuses, through student ambassadors and food posts. One app instead of five tabs.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It’s the same loop every time. A friend tells you, you download, you save a place, you invite someone. About 80% of Beli’s users arrived that way, and it’s how we get to 12,000 by the end of Year 1.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Users never pay. Restaurants do, and that’s next.</a:t>
            </a:r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Here’s how we make money. Restaurants pay for the diners we send them, not for ads.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Today a restaurant pays for ads and boosted posts before it knows if anyone will walk in. We flip that. It pays about 90 cents, and only after a receipt shows the diner came. OpenTable charges $1 to $1.50 a diner.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Booking sites pay per table. And from Year 3, chains pay $6,000 a year per neighborhood to see what people there eat. All of that adds up to $288,000 in Year 5.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On the user side the app is free. About 3 in 1,000 pay $5 a month for extras, and that’s another $67,000.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So $356,000 in Year 5. Nothing anyone pays changes a score or a ranking.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We haven’t talked to restaurant owners yet. Five owner calls are next, each with a free 30-day pilot and a report on the diners we sent.</a:t>
            </a:r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Before we built our numbers, we looked at the apps closest to us. None of them made money early.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OpenTable took nine years to turn a profit and lost $57 million getting there. Resy ran on $45 million of investor money and then sold. Beli has 1.1 million monthly users, mostly through friends, with five people and almost no revenue.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So we made three choices. No salaries, and co-op students before hires. Costs low enough that we only need about $240,000, starting with grants. And Beli as our yardstick: a quarter of its size, almost no ads, and restaurants paying from Year 2.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trade-off is a smaller team, and it only works if restaurants sign up. Here’s what that means for us.</a:t>
            </a:r>
          </a:p>
        </p:txBody>
      </p:sp>
      <p:sp>
        <p:nvSpPr>
          <p:cNvPr id="248" name="Google Shape;2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Here’s the detail. Look at the three highlighted numbers.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Years 1 and 2 are flat on purpose, about $11,000 a quarter. That’s a contract developer at $7,500, $1,500 for marketing, $1,500 for legal and insurance, and a little hosting. Nobody else gets paid until restaurants do.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first highlight is Year 2, when the first revenue comes in. From Year 3, co-op students join as our users grow.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second is the low point, about $192,000 down in Year 4. That’s why we’re raising $240,000: the low point plus a 25% cushion.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The third is Year 5, our first profitable year, at about $72,000.</a:t>
            </a:r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Last piece: how we pay for it.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We start with grants, the way Beli did. Northeastern’s IDEA Gap Fund and pitch competitions around Boston, about $74,000, cover Years 1 and 2. If we fall short, we cover the gap ourselves.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At the end of Year 2 we raise one angel round, about $166,000. What we’ll show them is about 31,000 Boston users, a year of restaurants paying for diners we sent, and visits proven by receipts. We’d look for angels through IDEA, competition judges and our own networks.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Together that’s the $240,000. At $356,000 of revenue in Year 5 we’re too small for venture funds, so the angels’ way out is a sale to a bigger platform or a card company, the way Resy sold to American Express.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That’s the plan. Let me sum it up.</a:t>
            </a:r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This one is for questions. It shows where each price comes from.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Businesses pay $288,000 in Year 5: $156,000 for diners we send, $54,000 for tables booked and $78,000 for area insights for chains. About 90 cents a diner sits under OpenTable’s $1 to $1.50. Bookings are a quarter of Tabelog’s rate, and chains pay a quarter of what Placer.ai charges.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Users pay $67,000 for the optional $5 a month membership. About 0.3% sign up, the same share as Tabelog’s users.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Every price starts from a real company’s number. How many we sell is our guess.</a:t>
            </a:r>
          </a:p>
        </p:txBody>
      </p:sp>
      <p:sp>
        <p:nvSpPr>
          <p:cNvPr id="316" name="Google Shape;3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So what does that add up to?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Restaurants start paying us in Year 2, and Year 5 is our first profitable year.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Here’s how the numbers get there.</a:t>
            </a:r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To sum up.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Boston students don’t trust the ratings they see, and checking five apps doesn’t fix it.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Trust: we’re building one free app that only counts people who proved they ate there.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Money: restaurants pay for the diners we send, so users never pay.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Path: we start on grants, raise one angel round, and reach a profit in Year 5.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/>
              <a:t>Thank you. We’re happy to take questions.</a:t>
            </a:r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Our idea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1234440"/>
            <a:ext cx="1508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One free app for deciding where to eat,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with ratings you can trust.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Our value proposition. The app doesn't have a name yet.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822960" y="3739896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22960" y="38862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657600" y="3886200"/>
            <a:ext cx="1380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students and young professionals in Boston, starting at Northeastern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822960" y="452628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22960" y="4672584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657600" y="4672584"/>
            <a:ext cx="1380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want great places to eat but can't trust the ratings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822960" y="5312664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22960" y="545896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Our app is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3657600" y="5458968"/>
            <a:ext cx="1380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 free restaurant guide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22960" y="609904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22960" y="6245352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That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3657600" y="6245352"/>
            <a:ext cx="1380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puts reviews, posts, hours and booking for each place on one page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22960" y="6885431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22960" y="7031736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Unlike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3657600" y="7031736"/>
            <a:ext cx="1380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checking Google Maps, Yelp, Instagram, TikTok and Beli one by one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822960" y="7671816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22960" y="78181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Ours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3657600" y="7818120"/>
            <a:ext cx="1380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counts reviews from people who proved they ate there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822960" y="845820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A676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What we heard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Finding one good place to eat takes multiple apps, </a:t>
            </a:r>
            <a:r>
              <a:rPr b="0" i="0" lang="en-US" sz="44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and people still get it wrong.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2D12"/>
                </a:solidFill>
                <a:latin typeface="Roboto Mono"/>
                <a:ea typeface="Roboto Mono"/>
                <a:cs typeface="Roboto Mono"/>
                <a:sym typeface="Roboto Mono"/>
              </a:rPr>
              <a:t>From 35 interviews with students and young professionals, Sep to Oct 2026.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822960" y="5074920"/>
            <a:ext cx="16642080" cy="10972"/>
          </a:xfrm>
          <a:prstGeom prst="rect">
            <a:avLst/>
          </a:prstGeom>
          <a:solidFill>
            <a:srgbClr val="2E2D1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22960" y="3749039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22960" y="534924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Maps</a:t>
            </a:r>
            <a:endParaRPr sz="2400"/>
          </a:p>
        </p:txBody>
      </p:sp>
      <p:sp>
        <p:nvSpPr>
          <p:cNvPr id="120" name="Google Shape;120;p2"/>
          <p:cNvSpPr txBox="1"/>
          <p:nvPr/>
        </p:nvSpPr>
        <p:spPr>
          <a:xfrm>
            <a:off x="822960" y="598932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to see what's nearby</a:t>
            </a:r>
            <a:endParaRPr sz="2400"/>
          </a:p>
        </p:txBody>
      </p:sp>
      <p:sp>
        <p:nvSpPr>
          <p:cNvPr id="121" name="Google Shape;121;p2"/>
          <p:cNvSpPr txBox="1"/>
          <p:nvPr/>
        </p:nvSpPr>
        <p:spPr>
          <a:xfrm>
            <a:off x="5074920" y="3749039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074920" y="534924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Instagram or TikTok</a:t>
            </a:r>
            <a:endParaRPr sz="2400"/>
          </a:p>
        </p:txBody>
      </p:sp>
      <p:sp>
        <p:nvSpPr>
          <p:cNvPr id="123" name="Google Shape;123;p2"/>
          <p:cNvSpPr txBox="1"/>
          <p:nvPr/>
        </p:nvSpPr>
        <p:spPr>
          <a:xfrm>
            <a:off x="5074920" y="598932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to see the food</a:t>
            </a:r>
            <a:endParaRPr sz="2400"/>
          </a:p>
        </p:txBody>
      </p:sp>
      <p:sp>
        <p:nvSpPr>
          <p:cNvPr id="124" name="Google Shape;124;p2"/>
          <p:cNvSpPr txBox="1"/>
          <p:nvPr/>
        </p:nvSpPr>
        <p:spPr>
          <a:xfrm>
            <a:off x="9326880" y="3749039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326880" y="534924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friend</a:t>
            </a:r>
            <a:endParaRPr sz="2400"/>
          </a:p>
        </p:txBody>
      </p:sp>
      <p:sp>
        <p:nvSpPr>
          <p:cNvPr id="126" name="Google Shape;126;p2"/>
          <p:cNvSpPr txBox="1"/>
          <p:nvPr/>
        </p:nvSpPr>
        <p:spPr>
          <a:xfrm>
            <a:off x="9326880" y="598932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to check it's good</a:t>
            </a:r>
            <a:endParaRPr sz="2400"/>
          </a:p>
        </p:txBody>
      </p:sp>
      <p:sp>
        <p:nvSpPr>
          <p:cNvPr id="127" name="Google Shape;127;p2"/>
          <p:cNvSpPr txBox="1"/>
          <p:nvPr/>
        </p:nvSpPr>
        <p:spPr>
          <a:xfrm>
            <a:off x="13578840" y="3749039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3578840" y="534924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 they go</a:t>
            </a:r>
            <a:endParaRPr sz="2400"/>
          </a:p>
        </p:txBody>
      </p:sp>
      <p:sp>
        <p:nvSpPr>
          <p:cNvPr id="129" name="Google Shape;129;p2"/>
          <p:cNvSpPr txBox="1"/>
          <p:nvPr/>
        </p:nvSpPr>
        <p:spPr>
          <a:xfrm>
            <a:off x="13578840" y="598932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it's still a miss</a:t>
            </a:r>
            <a:endParaRPr sz="2400"/>
          </a:p>
        </p:txBody>
      </p:sp>
      <p:sp>
        <p:nvSpPr>
          <p:cNvPr id="130" name="Google Shape;130;p2"/>
          <p:cNvSpPr txBox="1"/>
          <p:nvPr/>
        </p:nvSpPr>
        <p:spPr>
          <a:xfrm>
            <a:off x="822960" y="7589520"/>
            <a:ext cx="166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Nobody had one place to save where they want to go.</a:t>
            </a:r>
            <a:endParaRPr sz="2400"/>
          </a:p>
        </p:txBody>
      </p:sp>
      <p:sp>
        <p:nvSpPr>
          <p:cNvPr id="131" name="Google Shape;131;p2"/>
          <p:cNvSpPr txBox="1"/>
          <p:nvPr/>
        </p:nvSpPr>
        <p:spPr>
          <a:xfrm>
            <a:off x="822960" y="8275320"/>
            <a:ext cx="166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They want one app they can trust.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we’re building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22960" y="1208965"/>
            <a:ext cx="1508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One page for every restaurant,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and a score that only counts people who ate there.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The core app is free. If another app won't share its ratings, we link out to it.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22960" y="3840480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Find</a:t>
            </a:r>
            <a:endParaRPr sz="2400"/>
          </a:p>
        </p:txBody>
      </p:sp>
      <p:sp>
        <p:nvSpPr>
          <p:cNvPr id="142" name="Google Shape;142;p3"/>
          <p:cNvSpPr/>
          <p:nvPr/>
        </p:nvSpPr>
        <p:spPr>
          <a:xfrm>
            <a:off x="822960" y="4343400"/>
            <a:ext cx="5120640" cy="10972"/>
          </a:xfrm>
          <a:prstGeom prst="rect">
            <a:avLst/>
          </a:prstGeom>
          <a:solidFill>
            <a:srgbClr val="6F6B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822960" y="4572000"/>
            <a:ext cx="51207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What's open near you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Filter by diet, price and distance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New places people are talking about</a:t>
            </a:r>
            <a:endParaRPr sz="2400"/>
          </a:p>
        </p:txBody>
      </p:sp>
      <p:sp>
        <p:nvSpPr>
          <p:cNvPr id="144" name="Google Shape;144;p3"/>
          <p:cNvSpPr txBox="1"/>
          <p:nvPr/>
        </p:nvSpPr>
        <p:spPr>
          <a:xfrm>
            <a:off x="6492240" y="3840480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Compare</a:t>
            </a:r>
            <a:endParaRPr sz="2400"/>
          </a:p>
        </p:txBody>
      </p:sp>
      <p:sp>
        <p:nvSpPr>
          <p:cNvPr id="145" name="Google Shape;145;p3"/>
          <p:cNvSpPr/>
          <p:nvPr/>
        </p:nvSpPr>
        <p:spPr>
          <a:xfrm>
            <a:off x="6492240" y="4343400"/>
            <a:ext cx="5120640" cy="10972"/>
          </a:xfrm>
          <a:prstGeom prst="rect">
            <a:avLst/>
          </a:prstGeom>
          <a:solidFill>
            <a:srgbClr val="6F6B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492240" y="4572000"/>
            <a:ext cx="51207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Every rating and post on one page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Our score only counts diners who scanned a receipt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Nobody pays to rank higher</a:t>
            </a:r>
            <a:endParaRPr sz="2400"/>
          </a:p>
        </p:txBody>
      </p:sp>
      <p:sp>
        <p:nvSpPr>
          <p:cNvPr id="147" name="Google Shape;147;p3"/>
          <p:cNvSpPr txBox="1"/>
          <p:nvPr/>
        </p:nvSpPr>
        <p:spPr>
          <a:xfrm>
            <a:off x="12161520" y="3840480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Keep</a:t>
            </a:r>
            <a:endParaRPr sz="2400"/>
          </a:p>
        </p:txBody>
      </p:sp>
      <p:sp>
        <p:nvSpPr>
          <p:cNvPr id="148" name="Google Shape;148;p3"/>
          <p:cNvSpPr/>
          <p:nvPr/>
        </p:nvSpPr>
        <p:spPr>
          <a:xfrm>
            <a:off x="12161520" y="4343400"/>
            <a:ext cx="5120640" cy="10972"/>
          </a:xfrm>
          <a:prstGeom prst="rect">
            <a:avLst/>
          </a:prstGeom>
          <a:solidFill>
            <a:srgbClr val="6F6B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12161520" y="4572000"/>
            <a:ext cx="51207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Your history and lists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Scan a receipt, get a verified badge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Book a table</a:t>
            </a:r>
            <a:endParaRPr sz="2400"/>
          </a:p>
        </p:txBody>
      </p:sp>
      <p:sp>
        <p:nvSpPr>
          <p:cNvPr id="150" name="Google Shape;150;p3"/>
          <p:cNvSpPr txBox="1"/>
          <p:nvPr/>
        </p:nvSpPr>
        <p:spPr>
          <a:xfrm>
            <a:off x="822960" y="845820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Dietary filters stay free: a halal or nut-free search is what sends a restaurant the diner it pays for. Nobody pays for placement.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Concept screens. Every score and person is made up. Photos: Unsplash; Daderot, Wikimedia Commons (CC0).</a:t>
            </a:r>
            <a:endParaRPr/>
          </a:p>
        </p:txBody>
      </p:sp>
      <p:pic>
        <p:nvPicPr>
          <p:cNvPr descr="phone-1.png"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685800"/>
            <a:ext cx="3617965" cy="74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845750" y="832104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1  Start nearby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45750" y="8770852"/>
            <a:ext cx="37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What's open around you.</a:t>
            </a:r>
            <a:endParaRPr/>
          </a:p>
        </p:txBody>
      </p:sp>
      <p:pic>
        <p:nvPicPr>
          <p:cNvPr descr="phone-2.png"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5" y="685785"/>
            <a:ext cx="3617975" cy="7463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5097716" y="832104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2  Let it pick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5097716" y="8770852"/>
            <a:ext cx="37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One best bet for your budget and diet.</a:t>
            </a:r>
            <a:endParaRPr/>
          </a:p>
        </p:txBody>
      </p:sp>
      <p:pic>
        <p:nvPicPr>
          <p:cNvPr descr="phone-3.png" id="164" name="Google Shape;16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75" y="685785"/>
            <a:ext cx="3617975" cy="7463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9349683" y="832104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3  See why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9349683" y="8770852"/>
            <a:ext cx="37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Three picks, each with a reason.</a:t>
            </a:r>
            <a:endParaRPr/>
          </a:p>
        </p:txBody>
      </p:sp>
      <p:pic>
        <p:nvPicPr>
          <p:cNvPr descr="phone-4.png" id="167" name="Google Shape;1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78850" y="685785"/>
            <a:ext cx="3617975" cy="7463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 txBox="1"/>
          <p:nvPr/>
        </p:nvSpPr>
        <p:spPr>
          <a:xfrm>
            <a:off x="13601649" y="832104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4  Check every rating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3601649" y="8770852"/>
            <a:ext cx="37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Our verified score next to everyone else's, with creators' paid posts flagged.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Why it matters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start with Boston's 162,000 students.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About 19 million US students could use it.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US Census Bureau, 2024 estimates. NCES Digest of Education Statistics 2024, fall 2023 enrollment. City of Boston Student Housing Report 2025 and license data, Oct 2026.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822960" y="374903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Where we start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822960" y="41605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162K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822960" y="5760720"/>
            <a:ext cx="49377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Boston college students. Year 1 is 12K of them.</a:t>
            </a:r>
            <a:endParaRPr sz="2400"/>
          </a:p>
        </p:txBody>
      </p:sp>
      <p:sp>
        <p:nvSpPr>
          <p:cNvPr id="182" name="Google Shape;182;p5"/>
          <p:cNvSpPr txBox="1"/>
          <p:nvPr/>
        </p:nvSpPr>
        <p:spPr>
          <a:xfrm>
            <a:off x="6492240" y="374903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Our users by Year 5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492240" y="41605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540K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6492240" y="5760720"/>
            <a:ext cx="49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2.8% of US college students</a:t>
            </a:r>
            <a:endParaRPr sz="2400"/>
          </a:p>
        </p:txBody>
      </p:sp>
      <p:sp>
        <p:nvSpPr>
          <p:cNvPr id="185" name="Google Shape;185;p5"/>
          <p:cNvSpPr txBox="1"/>
          <p:nvPr/>
        </p:nvSpPr>
        <p:spPr>
          <a:xfrm>
            <a:off x="12161520" y="374903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Restaurants we can sign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2161520" y="41605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3,350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12161520" y="5760720"/>
            <a:ext cx="49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Licensed places to eat in Boston</a:t>
            </a:r>
            <a:endParaRPr sz="2400"/>
          </a:p>
        </p:txBody>
      </p:sp>
      <p:sp>
        <p:nvSpPr>
          <p:cNvPr id="188" name="Google Shape;188;p5"/>
          <p:cNvSpPr/>
          <p:nvPr/>
        </p:nvSpPr>
        <p:spPr>
          <a:xfrm>
            <a:off x="822960" y="685800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822960" y="70408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The market</a:t>
            </a:r>
            <a:endParaRPr sz="2400"/>
          </a:p>
        </p:txBody>
      </p:sp>
      <p:sp>
        <p:nvSpPr>
          <p:cNvPr id="190" name="Google Shape;190;p5"/>
          <p:cNvSpPr txBox="1"/>
          <p:nvPr/>
        </p:nvSpPr>
        <p:spPr>
          <a:xfrm>
            <a:off x="3657600" y="7022592"/>
            <a:ext cx="138075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77.8M people aged 18 to 34 (TAM), 19M US college students we can reach (SAM), 540K we plan to win (SOM).</a:t>
            </a:r>
            <a:endParaRPr sz="2400"/>
          </a:p>
        </p:txBody>
      </p:sp>
      <p:sp>
        <p:nvSpPr>
          <p:cNvPr id="191" name="Google Shape;191;p5"/>
          <p:cNvSpPr txBox="1"/>
          <p:nvPr/>
        </p:nvSpPr>
        <p:spPr>
          <a:xfrm>
            <a:off x="822935" y="804672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Growth</a:t>
            </a:r>
            <a:endParaRPr sz="2400"/>
          </a:p>
        </p:txBody>
      </p:sp>
      <p:sp>
        <p:nvSpPr>
          <p:cNvPr id="192" name="Google Shape;192;p5"/>
          <p:cNvSpPr txBox="1"/>
          <p:nvPr/>
        </p:nvSpPr>
        <p:spPr>
          <a:xfrm>
            <a:off x="3657575" y="8028432"/>
            <a:ext cx="138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Boston first. Other cities from Year 3.</a:t>
            </a:r>
            <a:endParaRPr sz="2400"/>
          </a:p>
        </p:txBody>
      </p:sp>
      <p:sp>
        <p:nvSpPr>
          <p:cNvPr id="193" name="Google Shape;193;p5"/>
          <p:cNvSpPr txBox="1"/>
          <p:nvPr/>
        </p:nvSpPr>
        <p:spPr>
          <a:xfrm>
            <a:off x="822935" y="86868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Why not Beli</a:t>
            </a:r>
            <a:endParaRPr sz="2400"/>
          </a:p>
        </p:txBody>
      </p:sp>
      <p:sp>
        <p:nvSpPr>
          <p:cNvPr id="194" name="Google Shape;194;p5"/>
          <p:cNvSpPr txBox="1"/>
          <p:nvPr/>
        </p:nvSpPr>
        <p:spPr>
          <a:xfrm>
            <a:off x="3657575" y="8668512"/>
            <a:ext cx="138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Beli ranks where you've been. We tell you where to go now, with scores people proved.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How we win users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first 1,000 users come from Boston campuses, starting with ours,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one friend inviting the next.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Beli referrals: Wall Street Journal, May 2025. User targets are from our Gate 2 model.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3657600" y="3657600"/>
            <a:ext cx="65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Who they are and where we find them</a:t>
            </a:r>
            <a:endParaRPr sz="2400"/>
          </a:p>
        </p:txBody>
      </p:sp>
      <p:sp>
        <p:nvSpPr>
          <p:cNvPr id="205" name="Google Shape;205;p6"/>
          <p:cNvSpPr txBox="1"/>
          <p:nvPr/>
        </p:nvSpPr>
        <p:spPr>
          <a:xfrm>
            <a:off x="10607040" y="3657600"/>
            <a:ext cx="6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we tell them</a:t>
            </a:r>
            <a:endParaRPr sz="2400"/>
          </a:p>
        </p:txBody>
      </p:sp>
      <p:sp>
        <p:nvSpPr>
          <p:cNvPr id="206" name="Google Shape;206;p6"/>
          <p:cNvSpPr/>
          <p:nvPr/>
        </p:nvSpPr>
        <p:spPr>
          <a:xfrm>
            <a:off x="822960" y="413308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822960" y="4297680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 10</a:t>
            </a:r>
            <a:endParaRPr sz="2400"/>
          </a:p>
        </p:txBody>
      </p:sp>
      <p:sp>
        <p:nvSpPr>
          <p:cNvPr id="208" name="Google Shape;208;p6"/>
          <p:cNvSpPr txBox="1"/>
          <p:nvPr/>
        </p:nvSpPr>
        <p:spPr>
          <a:xfrm>
            <a:off x="3657600" y="4297680"/>
            <a:ext cx="658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People we interviewed and our friends test the prototype.</a:t>
            </a:r>
            <a:endParaRPr sz="2400"/>
          </a:p>
        </p:txBody>
      </p:sp>
      <p:sp>
        <p:nvSpPr>
          <p:cNvPr id="209" name="Google Shape;209;p6"/>
          <p:cNvSpPr txBox="1"/>
          <p:nvPr/>
        </p:nvSpPr>
        <p:spPr>
          <a:xfrm>
            <a:off x="10607040" y="4297680"/>
            <a:ext cx="6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 us build it.</a:t>
            </a:r>
            <a:endParaRPr sz="2400"/>
          </a:p>
        </p:txBody>
      </p:sp>
      <p:sp>
        <p:nvSpPr>
          <p:cNvPr id="210" name="Google Shape;210;p6"/>
          <p:cNvSpPr/>
          <p:nvPr/>
        </p:nvSpPr>
        <p:spPr>
          <a:xfrm>
            <a:off x="822960" y="545896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822960" y="5623560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 100</a:t>
            </a:r>
            <a:endParaRPr sz="2400"/>
          </a:p>
        </p:txBody>
      </p:sp>
      <p:sp>
        <p:nvSpPr>
          <p:cNvPr id="212" name="Google Shape;212;p6"/>
          <p:cNvSpPr txBox="1"/>
          <p:nvPr/>
        </p:nvSpPr>
        <p:spPr>
          <a:xfrm>
            <a:off x="3657600" y="5623560"/>
            <a:ext cx="658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Northeastern students they invite, plus clubs and group chats.</a:t>
            </a:r>
            <a:endParaRPr sz="2400"/>
          </a:p>
        </p:txBody>
      </p:sp>
      <p:sp>
        <p:nvSpPr>
          <p:cNvPr id="213" name="Google Shape;213;p6"/>
          <p:cNvSpPr txBox="1"/>
          <p:nvPr/>
        </p:nvSpPr>
        <p:spPr>
          <a:xfrm>
            <a:off x="10607040" y="5623560"/>
            <a:ext cx="6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rating for a place, in one app.</a:t>
            </a:r>
            <a:endParaRPr sz="2400"/>
          </a:p>
        </p:txBody>
      </p:sp>
      <p:sp>
        <p:nvSpPr>
          <p:cNvPr id="214" name="Google Shape;214;p6"/>
          <p:cNvSpPr/>
          <p:nvPr/>
        </p:nvSpPr>
        <p:spPr>
          <a:xfrm>
            <a:off x="822960" y="678484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822960" y="6949440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 1,000</a:t>
            </a:r>
            <a:endParaRPr sz="2400"/>
          </a:p>
        </p:txBody>
      </p:sp>
      <p:sp>
        <p:nvSpPr>
          <p:cNvPr id="216" name="Google Shape;216;p6"/>
          <p:cNvSpPr txBox="1"/>
          <p:nvPr/>
        </p:nvSpPr>
        <p:spPr>
          <a:xfrm>
            <a:off x="3657600" y="6949440"/>
            <a:ext cx="658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Other Boston campuses, through student ambassadors and food posts.</a:t>
            </a:r>
            <a:endParaRPr sz="2400"/>
          </a:p>
        </p:txBody>
      </p:sp>
      <p:sp>
        <p:nvSpPr>
          <p:cNvPr id="217" name="Google Shape;217;p6"/>
          <p:cNvSpPr txBox="1"/>
          <p:nvPr/>
        </p:nvSpPr>
        <p:spPr>
          <a:xfrm>
            <a:off x="10607040" y="6949440"/>
            <a:ext cx="6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app instead of five tabs.</a:t>
            </a:r>
            <a:endParaRPr sz="2400"/>
          </a:p>
        </p:txBody>
      </p:sp>
      <p:sp>
        <p:nvSpPr>
          <p:cNvPr id="218" name="Google Shape;218;p6"/>
          <p:cNvSpPr/>
          <p:nvPr/>
        </p:nvSpPr>
        <p:spPr>
          <a:xfrm>
            <a:off x="822960" y="811072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822960" y="8458200"/>
            <a:ext cx="16642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Friends inviting friends gets us to 12K by the end of Year 1; about 80% of Beli's users arrived that way. Users never have to pay.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How we make money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822960" y="1208990"/>
            <a:ext cx="15087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Restaurants pay for the diners we send, not for ads.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OpenTable pricing via Eat App, 2026. TechCrunch, Aug 2024 (Placer.ai). Together these come to $356K of revenue in Year 5.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4206240" y="3657600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Their problem</a:t>
            </a:r>
            <a:endParaRPr sz="2400"/>
          </a:p>
        </p:txBody>
      </p:sp>
      <p:sp>
        <p:nvSpPr>
          <p:cNvPr id="230" name="Google Shape;230;p7"/>
          <p:cNvSpPr txBox="1"/>
          <p:nvPr/>
        </p:nvSpPr>
        <p:spPr>
          <a:xfrm>
            <a:off x="9509760" y="3657600"/>
            <a:ext cx="566928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we charge</a:t>
            </a:r>
            <a:endParaRPr sz="2400"/>
          </a:p>
        </p:txBody>
      </p:sp>
      <p:sp>
        <p:nvSpPr>
          <p:cNvPr id="231" name="Google Shape;231;p7"/>
          <p:cNvSpPr txBox="1"/>
          <p:nvPr/>
        </p:nvSpPr>
        <p:spPr>
          <a:xfrm>
            <a:off x="15453360" y="3657600"/>
            <a:ext cx="201168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Year 5</a:t>
            </a:r>
            <a:endParaRPr sz="2400"/>
          </a:p>
        </p:txBody>
      </p:sp>
      <p:sp>
        <p:nvSpPr>
          <p:cNvPr id="232" name="Google Shape;232;p7"/>
          <p:cNvSpPr/>
          <p:nvPr/>
        </p:nvSpPr>
        <p:spPr>
          <a:xfrm>
            <a:off x="822960" y="404164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822960" y="4206240"/>
            <a:ext cx="3200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Restaurants, booking sites, chains</a:t>
            </a:r>
            <a:endParaRPr sz="2400"/>
          </a:p>
        </p:txBody>
      </p:sp>
      <p:sp>
        <p:nvSpPr>
          <p:cNvPr id="234" name="Google Shape;234;p7"/>
          <p:cNvSpPr txBox="1"/>
          <p:nvPr/>
        </p:nvSpPr>
        <p:spPr>
          <a:xfrm>
            <a:off x="4206240" y="4206240"/>
            <a:ext cx="5029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Pay for ads up front and can't tell what worked. Chains guess what a neighborhood eats before signing a lease.</a:t>
            </a:r>
            <a:endParaRPr sz="2200"/>
          </a:p>
        </p:txBody>
      </p:sp>
      <p:sp>
        <p:nvSpPr>
          <p:cNvPr id="235" name="Google Shape;235;p7"/>
          <p:cNvSpPr txBox="1"/>
          <p:nvPr/>
        </p:nvSpPr>
        <p:spPr>
          <a:xfrm>
            <a:off x="9509760" y="4206240"/>
            <a:ext cx="566928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 $0.90 per new diner we send, once a receipt proves it. Booking sites pay per table. Chains: $6,000 a year per neighborhood</a:t>
            </a: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200"/>
          </a:p>
        </p:txBody>
      </p:sp>
      <p:sp>
        <p:nvSpPr>
          <p:cNvPr id="236" name="Google Shape;236;p7"/>
          <p:cNvSpPr txBox="1"/>
          <p:nvPr/>
        </p:nvSpPr>
        <p:spPr>
          <a:xfrm>
            <a:off x="15453360" y="4206240"/>
            <a:ext cx="201168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$288K</a:t>
            </a:r>
            <a:endParaRPr sz="2400"/>
          </a:p>
        </p:txBody>
      </p:sp>
      <p:sp>
        <p:nvSpPr>
          <p:cNvPr id="237" name="Google Shape;237;p7"/>
          <p:cNvSpPr/>
          <p:nvPr/>
        </p:nvSpPr>
        <p:spPr>
          <a:xfrm>
            <a:off x="822960" y="617220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822960" y="635508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</a:t>
            </a:r>
            <a:endParaRPr sz="2400"/>
          </a:p>
        </p:txBody>
      </p:sp>
      <p:sp>
        <p:nvSpPr>
          <p:cNvPr id="239" name="Google Shape;239;p7"/>
          <p:cNvSpPr txBox="1"/>
          <p:nvPr/>
        </p:nvSpPr>
        <p:spPr>
          <a:xfrm>
            <a:off x="4206240" y="6355080"/>
            <a:ext cx="5029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 app is free. About 3 in 1,000 pay for extras. What the $5 buys is our first Year 1 test.</a:t>
            </a:r>
            <a:endParaRPr sz="2200"/>
          </a:p>
        </p:txBody>
      </p:sp>
      <p:sp>
        <p:nvSpPr>
          <p:cNvPr id="240" name="Google Shape;240;p7"/>
          <p:cNvSpPr txBox="1"/>
          <p:nvPr/>
        </p:nvSpPr>
        <p:spPr>
          <a:xfrm>
            <a:off x="9509760" y="6355080"/>
            <a:ext cx="566928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optional $5 a month membership.</a:t>
            </a:r>
            <a:endParaRPr sz="2200"/>
          </a:p>
        </p:txBody>
      </p:sp>
      <p:sp>
        <p:nvSpPr>
          <p:cNvPr id="241" name="Google Shape;241;p7"/>
          <p:cNvSpPr txBox="1"/>
          <p:nvPr/>
        </p:nvSpPr>
        <p:spPr>
          <a:xfrm>
            <a:off x="15453360" y="6355080"/>
            <a:ext cx="201168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$67K</a:t>
            </a:r>
            <a:endParaRPr sz="2400"/>
          </a:p>
        </p:txBody>
      </p:sp>
      <p:sp>
        <p:nvSpPr>
          <p:cNvPr id="242" name="Google Shape;242;p7"/>
          <p:cNvSpPr/>
          <p:nvPr/>
        </p:nvSpPr>
        <p:spPr>
          <a:xfrm>
            <a:off x="822960" y="790956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822960" y="8138160"/>
            <a:ext cx="166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sides pay, $356K in Year 5. Paying never changes a score or a ranking.</a:t>
            </a:r>
            <a:endParaRPr sz="2400"/>
          </a:p>
        </p:txBody>
      </p:sp>
      <p:sp>
        <p:nvSpPr>
          <p:cNvPr id="244" name="Google Shape;244;p7"/>
          <p:cNvSpPr txBox="1"/>
          <p:nvPr/>
        </p:nvSpPr>
        <p:spPr>
          <a:xfrm>
            <a:off x="822960" y="8732520"/>
            <a:ext cx="166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Next: five owner calls, each offered a free 30-day pilot and a report of the diners we sent.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we learned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None of the apps before us made money early,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so we kept ours lean.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OpenTable Form S-1, 2009. TechCrunch, May 2019 (Resy). Sensor Tower in the Boston Globe, Nov 2025, and Wall Street Journal, May 2025 (Beli). Resy never reported a profit.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3657600" y="3657600"/>
            <a:ext cx="65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happened to them</a:t>
            </a:r>
            <a:endParaRPr sz="2400"/>
          </a:p>
        </p:txBody>
      </p:sp>
      <p:sp>
        <p:nvSpPr>
          <p:cNvPr id="255" name="Google Shape;255;p8"/>
          <p:cNvSpPr txBox="1"/>
          <p:nvPr/>
        </p:nvSpPr>
        <p:spPr>
          <a:xfrm>
            <a:off x="10607040" y="3657600"/>
            <a:ext cx="6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we did about it</a:t>
            </a:r>
            <a:endParaRPr sz="2400"/>
          </a:p>
        </p:txBody>
      </p:sp>
      <p:sp>
        <p:nvSpPr>
          <p:cNvPr id="256" name="Google Shape;256;p8"/>
          <p:cNvSpPr/>
          <p:nvPr/>
        </p:nvSpPr>
        <p:spPr>
          <a:xfrm>
            <a:off x="822960" y="413308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822960" y="4297680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OpenTable</a:t>
            </a:r>
            <a:endParaRPr sz="2400"/>
          </a:p>
        </p:txBody>
      </p:sp>
      <p:sp>
        <p:nvSpPr>
          <p:cNvPr id="258" name="Google Shape;258;p8"/>
          <p:cNvSpPr txBox="1"/>
          <p:nvPr/>
        </p:nvSpPr>
        <p:spPr>
          <a:xfrm>
            <a:off x="3657600" y="4297680"/>
            <a:ext cx="658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Nine years to a profit, $57M lost getting there.</a:t>
            </a:r>
            <a:endParaRPr sz="2400"/>
          </a:p>
        </p:txBody>
      </p:sp>
      <p:sp>
        <p:nvSpPr>
          <p:cNvPr id="259" name="Google Shape;259;p8"/>
          <p:cNvSpPr txBox="1"/>
          <p:nvPr/>
        </p:nvSpPr>
        <p:spPr>
          <a:xfrm>
            <a:off x="10607040" y="4297680"/>
            <a:ext cx="6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salaries. Co-op students before hires.</a:t>
            </a:r>
            <a:endParaRPr sz="2400"/>
          </a:p>
        </p:txBody>
      </p:sp>
      <p:sp>
        <p:nvSpPr>
          <p:cNvPr id="260" name="Google Shape;260;p8"/>
          <p:cNvSpPr/>
          <p:nvPr/>
        </p:nvSpPr>
        <p:spPr>
          <a:xfrm>
            <a:off x="822960" y="545896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822960" y="5623560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Resy</a:t>
            </a:r>
            <a:endParaRPr sz="2400"/>
          </a:p>
        </p:txBody>
      </p:sp>
      <p:sp>
        <p:nvSpPr>
          <p:cNvPr id="262" name="Google Shape;262;p8"/>
          <p:cNvSpPr txBox="1"/>
          <p:nvPr/>
        </p:nvSpPr>
        <p:spPr>
          <a:xfrm>
            <a:off x="3657600" y="5623560"/>
            <a:ext cx="65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Ran on $45M of investor money, then sold.</a:t>
            </a:r>
            <a:endParaRPr sz="2400"/>
          </a:p>
        </p:txBody>
      </p:sp>
      <p:sp>
        <p:nvSpPr>
          <p:cNvPr id="263" name="Google Shape;263;p8"/>
          <p:cNvSpPr txBox="1"/>
          <p:nvPr/>
        </p:nvSpPr>
        <p:spPr>
          <a:xfrm>
            <a:off x="10607040" y="5623560"/>
            <a:ext cx="6858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Costs low enough to need $240K, starting with grants.</a:t>
            </a:r>
            <a:endParaRPr sz="2400"/>
          </a:p>
        </p:txBody>
      </p:sp>
      <p:sp>
        <p:nvSpPr>
          <p:cNvPr id="264" name="Google Shape;264;p8"/>
          <p:cNvSpPr/>
          <p:nvPr/>
        </p:nvSpPr>
        <p:spPr>
          <a:xfrm>
            <a:off x="822960" y="678484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822960" y="6949440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Beli</a:t>
            </a:r>
            <a:endParaRPr sz="2400"/>
          </a:p>
        </p:txBody>
      </p:sp>
      <p:sp>
        <p:nvSpPr>
          <p:cNvPr id="266" name="Google Shape;266;p8"/>
          <p:cNvSpPr txBox="1"/>
          <p:nvPr/>
        </p:nvSpPr>
        <p:spPr>
          <a:xfrm>
            <a:off x="3657600" y="6949440"/>
            <a:ext cx="658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1.1M monthly users, mostly through friends, five people, almost no revenue.</a:t>
            </a:r>
            <a:endParaRPr sz="2400"/>
          </a:p>
        </p:txBody>
      </p:sp>
      <p:sp>
        <p:nvSpPr>
          <p:cNvPr id="267" name="Google Shape;267;p8"/>
          <p:cNvSpPr txBox="1"/>
          <p:nvPr/>
        </p:nvSpPr>
        <p:spPr>
          <a:xfrm>
            <a:off x="10607040" y="6949440"/>
            <a:ext cx="6858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quarter of its size, almost no ads, restaurants paying from Year 2.</a:t>
            </a:r>
            <a:endParaRPr sz="2400"/>
          </a:p>
        </p:txBody>
      </p:sp>
      <p:sp>
        <p:nvSpPr>
          <p:cNvPr id="268" name="Google Shape;268;p8"/>
          <p:cNvSpPr/>
          <p:nvPr/>
        </p:nvSpPr>
        <p:spPr>
          <a:xfrm>
            <a:off x="822960" y="811072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822960" y="845820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 trade-off: a smaller team, and it only works if restaurants sign up.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The numbers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822960" y="1234440"/>
            <a:ext cx="1508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We spend about $11K a quarter for two years.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Our lowest point is $192K, in Year 4.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$K. Years 1 and 2 by quarter, years 3 to 5 by year. From our Gate 2 model; assumptions and sources are in the workbook.</a:t>
            </a:r>
            <a:endParaRPr/>
          </a:p>
        </p:txBody>
      </p:sp>
      <p:graphicFrame>
        <p:nvGraphicFramePr>
          <p:cNvPr id="279" name="Google Shape;279;p9"/>
          <p:cNvGraphicFramePr/>
          <p:nvPr/>
        </p:nvGraphicFramePr>
        <p:xfrm>
          <a:off x="822960" y="3611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{97F22518-C55D-4401-A6EB-0ED8D26C8151}</a:tableStyleId>
              </a:tblPr>
              <a:tblGrid>
                <a:gridCol w="2420000"/>
                <a:gridCol w="1346859"/>
                <a:gridCol w="1346859"/>
                <a:gridCol w="1346859"/>
                <a:gridCol w="1346859"/>
                <a:gridCol w="1346859"/>
                <a:gridCol w="1346859"/>
                <a:gridCol w="1346859"/>
                <a:gridCol w="1346859"/>
                <a:gridCol w="1143000"/>
                <a:gridCol w="1143000"/>
                <a:gridCol w="114300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$K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Q1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Q2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Q3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Q4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Q5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Q7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Q8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Yr 3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Yr 4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F6B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Yr 5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Active users (K)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1.8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5.4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12.0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15.2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19.3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24.5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31.1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208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540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Revenue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EFE6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3.3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4.2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Spending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10.7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10.9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10.9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11.0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11.1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117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191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283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Profit or loss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(10.6)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(10.6)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(10.6)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(10.7)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(8.8)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(8.3)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(7.7)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(7.0)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(67)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(51)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72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EFE6C4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Cumulative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(11)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(21)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(32)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(43)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(51)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(60)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(67)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(74)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(141)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(192)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EFE6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70707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(120)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4F3EC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9"/>
          <p:cNvSpPr/>
          <p:nvPr/>
        </p:nvSpPr>
        <p:spPr>
          <a:xfrm>
            <a:off x="822960" y="4123944"/>
            <a:ext cx="16623792" cy="13716"/>
          </a:xfrm>
          <a:prstGeom prst="rect">
            <a:avLst/>
          </a:prstGeom>
          <a:solidFill>
            <a:srgbClr val="6F6B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877835" y="6995160"/>
            <a:ext cx="28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happens</a:t>
            </a:r>
            <a:endParaRPr sz="1800"/>
          </a:p>
        </p:txBody>
      </p:sp>
      <p:sp>
        <p:nvSpPr>
          <p:cNvPr id="282" name="Google Shape;282;p9"/>
          <p:cNvSpPr txBox="1"/>
          <p:nvPr/>
        </p:nvSpPr>
        <p:spPr>
          <a:xfrm>
            <a:off x="3242960" y="6995160"/>
            <a:ext cx="1273709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Build the app</a:t>
            </a:r>
            <a:endParaRPr sz="1600"/>
          </a:p>
        </p:txBody>
      </p:sp>
      <p:sp>
        <p:nvSpPr>
          <p:cNvPr id="283" name="Google Shape;283;p9"/>
          <p:cNvSpPr txBox="1"/>
          <p:nvPr/>
        </p:nvSpPr>
        <p:spPr>
          <a:xfrm>
            <a:off x="4589819" y="6995160"/>
            <a:ext cx="1273709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Launch in Boston</a:t>
            </a:r>
            <a:endParaRPr sz="1600"/>
          </a:p>
        </p:txBody>
      </p:sp>
      <p:sp>
        <p:nvSpPr>
          <p:cNvPr id="284" name="Google Shape;284;p9"/>
          <p:cNvSpPr txBox="1"/>
          <p:nvPr/>
        </p:nvSpPr>
        <p:spPr>
          <a:xfrm>
            <a:off x="5936678" y="6995160"/>
            <a:ext cx="1273709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Grow by referral</a:t>
            </a:r>
            <a:endParaRPr sz="1600"/>
          </a:p>
        </p:txBody>
      </p:sp>
      <p:sp>
        <p:nvSpPr>
          <p:cNvPr id="285" name="Google Shape;285;p9"/>
          <p:cNvSpPr txBox="1"/>
          <p:nvPr/>
        </p:nvSpPr>
        <p:spPr>
          <a:xfrm>
            <a:off x="7283537" y="6995160"/>
            <a:ext cx="1273709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12K users</a:t>
            </a:r>
            <a:endParaRPr sz="1600"/>
          </a:p>
        </p:txBody>
      </p:sp>
      <p:sp>
        <p:nvSpPr>
          <p:cNvPr id="286" name="Google Shape;286;p9"/>
          <p:cNvSpPr txBox="1"/>
          <p:nvPr/>
        </p:nvSpPr>
        <p:spPr>
          <a:xfrm>
            <a:off x="8630396" y="6995160"/>
            <a:ext cx="1273709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First revenue</a:t>
            </a:r>
            <a:endParaRPr sz="1600"/>
          </a:p>
        </p:txBody>
      </p:sp>
      <p:sp>
        <p:nvSpPr>
          <p:cNvPr id="287" name="Google Shape;287;p9"/>
          <p:cNvSpPr txBox="1"/>
          <p:nvPr/>
        </p:nvSpPr>
        <p:spPr>
          <a:xfrm>
            <a:off x="9977255" y="6995160"/>
            <a:ext cx="1273709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More restaurants</a:t>
            </a:r>
            <a:endParaRPr sz="1600"/>
          </a:p>
        </p:txBody>
      </p:sp>
      <p:sp>
        <p:nvSpPr>
          <p:cNvPr id="288" name="Google Shape;288;p9"/>
          <p:cNvSpPr txBox="1"/>
          <p:nvPr/>
        </p:nvSpPr>
        <p:spPr>
          <a:xfrm>
            <a:off x="11324114" y="6995160"/>
            <a:ext cx="1273709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Pitch chains</a:t>
            </a:r>
            <a:endParaRPr sz="1600"/>
          </a:p>
        </p:txBody>
      </p:sp>
      <p:sp>
        <p:nvSpPr>
          <p:cNvPr id="289" name="Google Shape;289;p9"/>
          <p:cNvSpPr txBox="1"/>
          <p:nvPr/>
        </p:nvSpPr>
        <p:spPr>
          <a:xfrm>
            <a:off x="12670973" y="6995160"/>
            <a:ext cx="1273709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Hire co-op for yr 3</a:t>
            </a:r>
            <a:endParaRPr sz="1600"/>
          </a:p>
        </p:txBody>
      </p:sp>
      <p:sp>
        <p:nvSpPr>
          <p:cNvPr id="290" name="Google Shape;290;p9"/>
          <p:cNvSpPr txBox="1"/>
          <p:nvPr/>
        </p:nvSpPr>
        <p:spPr>
          <a:xfrm>
            <a:off x="14017832" y="6995160"/>
            <a:ext cx="335585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Co-op students: 1, 2 and 3 in Years 3 to 5.</a:t>
            </a:r>
            <a:endParaRPr sz="1600"/>
          </a:p>
        </p:txBody>
      </p:sp>
      <p:sp>
        <p:nvSpPr>
          <p:cNvPr id="291" name="Google Shape;291;p9"/>
          <p:cNvSpPr txBox="1"/>
          <p:nvPr/>
        </p:nvSpPr>
        <p:spPr>
          <a:xfrm>
            <a:off x="822960" y="85039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Highlighted: first revenue, the $192K low, and first profit. That low plus a 25% cushion sets the $240K total. Each quarter of Years 1 and 2: $7,500 developer, $1,500 marketing, $1,500 legal and insurance, plus hosting. Nobody else is paid until the angel round funds Year 3.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How we’d fund it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sp>
        <p:nvSpPr>
          <p:cNvPr id="299" name="Google Shape;299;p10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We'd start on grants, as Beli did.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One angel round of about $166K takes us to profit.</a:t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Beli: Wikipedia (Harvard grants); CB Insights ($5.3M, Nov 2023); Boston Globe, Nov 2025 (users). IDEA Gap Fund: Northeastern Global News. Amounts are from our Gate 2 model.</a:t>
            </a: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5760720" y="3657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When</a:t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10058400" y="3657600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we'd show to get it</a:t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822960" y="4133088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822960" y="43434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Grants and competitions, about $74K</a:t>
            </a:r>
            <a:endParaRPr/>
          </a:p>
        </p:txBody>
      </p:sp>
      <p:sp>
        <p:nvSpPr>
          <p:cNvPr id="305" name="Google Shape;305;p10"/>
          <p:cNvSpPr txBox="1"/>
          <p:nvPr/>
        </p:nvSpPr>
        <p:spPr>
          <a:xfrm>
            <a:off x="5760720" y="43434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Years 1 and 2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10058400" y="4343400"/>
            <a:ext cx="7406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IDEA Gap Fund and Boston pitch competitions. If we fall short, or the round slips, we cover the gap ourselves.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822960" y="576072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822960" y="598932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angel round, about $166K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5760720" y="598932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End of Year 2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10058400" y="5989320"/>
            <a:ext cx="7406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31K Boston users, restaurants paying for four quarters, and receipt-proven visits.</a:t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22960" y="736092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822960" y="768096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$74K in grants plus $166K from angels: $240K in all. At $356K of Year 5 revenue we're too small for venture funds, so the angels' way out is a sale to a bigger platform or a card company, as Resy sold to American Express.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Appendix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sides pay, and every price starts from a real company’s number. </a:t>
            </a:r>
            <a:r>
              <a:rPr b="0" i="0" lang="en-US" sz="44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How many we sell is our guess.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822960" y="955548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OpenTable pricing via Eat App, 2026. TechCrunch, Aug 2024 (Placer.ai). Kakaku.com results, Nov 2025 (Tabelog).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822960" y="3657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Stream</a:t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4937760" y="36576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Year 5</a:t>
            </a:r>
            <a:endParaRPr/>
          </a:p>
        </p:txBody>
      </p:sp>
      <p:sp>
        <p:nvSpPr>
          <p:cNvPr id="323" name="Google Shape;323;p11"/>
          <p:cNvSpPr txBox="1"/>
          <p:nvPr/>
        </p:nvSpPr>
        <p:spPr>
          <a:xfrm>
            <a:off x="6949440" y="3657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6B34"/>
                </a:solidFill>
                <a:latin typeface="Poppins"/>
                <a:ea typeface="Poppins"/>
                <a:cs typeface="Poppins"/>
                <a:sym typeface="Poppins"/>
              </a:rPr>
              <a:t>What they pay for and why</a:t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822960" y="4151376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822960" y="43434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Businesses</a:t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4937760" y="43434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$288K</a:t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6949440" y="43434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Diners we send ($156K), tables booked ($54K) and area insights for chains ($78K). They pay for customers, not for ads. About $0.90 a diner sits under OpenTable’s $1.00 to $1.50, bookings are a quarter of Tabelog’s rate, and chains pay a quarter of Placer.ai’s.</a:t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822960" y="617220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822960" y="635508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4937760" y="63550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$67K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6949440" y="63550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 optional $5 a month membership: extras on top of a free app, such as taste match with friends. About 0.3% pay, the same share as Tabelog’s users.</a:t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822960" y="7772400"/>
            <a:ext cx="166420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/>
        </p:nvSpPr>
        <p:spPr>
          <a:xfrm>
            <a:off x="822960" y="301752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AA676"/>
                </a:solidFill>
                <a:latin typeface="Poppins"/>
                <a:ea typeface="Poppins"/>
                <a:cs typeface="Poppins"/>
                <a:sym typeface="Poppins"/>
              </a:rPr>
              <a:t>What it means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22960" y="3611880"/>
            <a:ext cx="14173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Restaurants start paying us in Year 2, </a:t>
            </a:r>
            <a:r>
              <a:rPr b="0" i="0" lang="en-US" sz="6000" u="none" cap="none" strike="noStrike">
                <a:solidFill>
                  <a:srgbClr val="AAA676"/>
                </a:solidFill>
                <a:latin typeface="Poppins"/>
                <a:ea typeface="Poppins"/>
                <a:cs typeface="Poppins"/>
                <a:sym typeface="Poppins"/>
              </a:rPr>
              <a:t>and Year 5 is our first profit.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A676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/>
        </p:nvSpPr>
        <p:spPr>
          <a:xfrm>
            <a:off x="82296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In summary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6093440" y="685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22960" y="1234440"/>
            <a:ext cx="1508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Boston students can’t trust the ratings. </a:t>
            </a:r>
            <a:r>
              <a:rPr b="0" i="0" lang="en-US" sz="44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We’re building the one app they can.</a:t>
            </a:r>
            <a:endParaRPr/>
          </a:p>
        </p:txBody>
      </p:sp>
      <p:sp>
        <p:nvSpPr>
          <p:cNvPr id="900" name="Google Shape;900;p2"/>
          <p:cNvSpPr txBox="1"/>
          <p:nvPr/>
        </p:nvSpPr>
        <p:spPr>
          <a:xfrm>
            <a:off x="822960" y="42062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Trust</a:t>
            </a:r>
            <a:endParaRPr/>
          </a:p>
        </p:txBody>
      </p:sp>
      <p:sp>
        <p:nvSpPr>
          <p:cNvPr id="901" name="Google Shape;901;p2"/>
          <p:cNvSpPr txBox="1"/>
          <p:nvPr/>
        </p:nvSpPr>
        <p:spPr>
          <a:xfrm>
            <a:off x="822960" y="480060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diners who proved they ate there count toward our score.</a:t>
            </a:r>
            <a:endParaRPr/>
          </a:p>
        </p:txBody>
      </p:sp>
      <p:sp>
        <p:nvSpPr>
          <p:cNvPr id="902" name="Google Shape;902;p2"/>
          <p:cNvSpPr txBox="1"/>
          <p:nvPr/>
        </p:nvSpPr>
        <p:spPr>
          <a:xfrm>
            <a:off x="6492240" y="42062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Money</a:t>
            </a:r>
            <a:endParaRPr/>
          </a:p>
        </p:txBody>
      </p:sp>
      <p:sp>
        <p:nvSpPr>
          <p:cNvPr id="903" name="Google Shape;903;p2"/>
          <p:cNvSpPr txBox="1"/>
          <p:nvPr/>
        </p:nvSpPr>
        <p:spPr>
          <a:xfrm>
            <a:off x="6492240" y="480060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Restaurants pay for the diners we send. Users never pay.</a:t>
            </a:r>
            <a:endParaRPr/>
          </a:p>
        </p:txBody>
      </p:sp>
      <p:sp>
        <p:nvSpPr>
          <p:cNvPr id="904" name="Google Shape;904;p2"/>
          <p:cNvSpPr txBox="1"/>
          <p:nvPr/>
        </p:nvSpPr>
        <p:spPr>
          <a:xfrm>
            <a:off x="12161520" y="42062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2D12"/>
                </a:solidFill>
                <a:latin typeface="Poppins"/>
                <a:ea typeface="Poppins"/>
                <a:cs typeface="Poppins"/>
                <a:sym typeface="Poppins"/>
              </a:rPr>
              <a:t>Path</a:t>
            </a:r>
            <a:endParaRPr/>
          </a:p>
        </p:txBody>
      </p:sp>
      <p:sp>
        <p:nvSpPr>
          <p:cNvPr id="905" name="Google Shape;905;p2"/>
          <p:cNvSpPr txBox="1"/>
          <p:nvPr/>
        </p:nvSpPr>
        <p:spPr>
          <a:xfrm>
            <a:off x="12161520" y="480060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Grants first, then one angel round. Profit in Year 5.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